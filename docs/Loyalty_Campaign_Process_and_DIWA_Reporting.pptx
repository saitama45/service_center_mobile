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95" d="100"/>
          <a:sy n="95" d="100"/>
        </p:scale>
        <p:origin x="16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984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separates current implemented behavior from the target architecture needed for a real POS and DIWA reporting connection. No server-side loyalty synchronization or physical POS integration is currently implemented in the Flutter repository.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Flutter application contains the full local loyalty engine, but no real POS integration and no working loyalty upload endpoint. DIWA is a generic report builder over allowlisted database tables, so it can report on loyalty only after central loyalty tables are populated and allowlisted.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key scope control. It prevents the current in-app POS simulator from being mistaken for a deployed cashier integration and prevents the local SQLite store from being mistaken for a DIWA-accessible database.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is remote-first but loyalty itself is local-first. The OTP implementation is a local placeholder rather than server-issued MFA. The UI reads progress and totals through Riverpod providers backed by LoyaltyDao.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simulator chooses an eligible product and hard-codes the store name “Maple St — Downtown.” A physical POS should derive product, store, terminal, cashier, receipt and sale values from the actual till transaction instead of trusting customer input.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local DAO validates campaign existence, active flag, expiry, duplicate token and card fullness. Product eligibility is selected in the UI but not revalidated in LoyaltyDao; the production API should perform this server-side against the POS receipt item.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redemption points are a ledger representation, not a monetary amount. Reports should label them as stamps consumed or reward redemption units unless a separate monetary reward value is added.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model strengths: client-generated UUIDs support offline creation; scan_token and reference are unique; stamp_cards preserve cycles. Current reporting gaps: no receipt number, sale id, store id, terminal id, cashier id, monetary amount, reason/rejection log, server received time, or central member master key.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production fields, not currently present in the Flutter schema. The strongest design is POS-authoritative earning with a centrally verified, single-use token. For offline POS operation, signed offline grants should be queued with terminal sequence numbers and reconciled centrally.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queue tracks only loyalty transaction status. In production, cards and reference data also need synchronization or should be read from the central service. Conflict rules should be explicit: duplicate request IDs are safe, campaign closure can reject late offline earns, and every rejection should be auditable.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source object: a reporting view such as dbo.vw_loyalty_activity that joins transaction facts to campaign, member, product, store, terminal and receipt dimensions with stable types. Alternatively, allowlist each normalized table and build the graph in DIWA. Views simplify governance and reduce accidental fan-out joins.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widget types listed are directly validated in ReportController. ReportQueryService caps both display and export at 50,000 rows and supports detail/summary paths, filters, grouping, sorting, subtotals and multiple statistical chart forms.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marked green can be computed from users, campaigns, stamp_cards, loyalty_transactions and products once those facts are centralized. Store performance is currently limited to free-text store_name. Reports marked amber need POS context, sale values, reward cost/value, rejection events, device/terminal IDs, or attribution logic.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stamp balance uses the ledger convention where redeem points are negative required_stamps. If rewards have different economic values, add reward_value and reward_cost fields rather than treating stamps consumed as currency. Distinct member calculations may require a dataset with user_id preserved as a safe grouping field.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DIWA already enforces allowlisted tables and granular report permissions. Central loyalty integration should add auditable rejection outcomes and POS identity fields. The mobile app stores only a SHA-256 hash of the session token in SQLite while the raw token is in secure storage; neither belongs in analytics.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begin with dashboards before the central event contract is reliable. The correct sequence is data contract and central persistence, physical POS, mobile reconciliation, then DIWA dataset/report rollout.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64592"/>
            <a:ext cx="5303520" cy="201168"/>
          </a:xfrm>
          <a:prstGeom prst="rect">
            <a:avLst/>
          </a:prstGeom>
          <a:noFill/>
          <a:ln/>
        </p:spPr>
        <p:txBody>
          <a:bodyPr wrap="square" lIns="0" tIns="0" rIns="0" bIns="0" rtlCol="0" anchor="ctr"/>
          <a:lstStyle/>
          <a:p>
            <a:pPr marL="0" indent="0">
              <a:buNone/>
            </a:pPr>
            <a:r>
              <a:rPr lang="en-US" sz="900" b="1" kern="0" spc="120" dirty="0">
                <a:solidFill>
                  <a:srgbClr val="8B6B5B"/>
                </a:solidFill>
                <a:latin typeface="Calibri" pitchFamily="34" charset="0"/>
                <a:ea typeface="Calibri" pitchFamily="34" charset="-122"/>
                <a:cs typeface="Calibri" pitchFamily="34" charset="-120"/>
              </a:rPr>
              <a:t>LOYALTY CAMPAIGN • PROCESS &amp; REPORTING</a:t>
            </a:r>
            <a:endParaRPr lang="en-US" sz="900" dirty="0"/>
          </a:p>
        </p:txBody>
      </p:sp>
      <p:sp>
        <p:nvSpPr>
          <p:cNvPr id="3" name="Text 1"/>
          <p:cNvSpPr/>
          <p:nvPr/>
        </p:nvSpPr>
        <p:spPr>
          <a:xfrm>
            <a:off x="7406640" y="6519672"/>
            <a:ext cx="4251960" cy="155448"/>
          </a:xfrm>
          <a:prstGeom prst="rect">
            <a:avLst/>
          </a:prstGeom>
          <a:noFill/>
          <a:ln/>
        </p:spPr>
        <p:txBody>
          <a:bodyPr wrap="square" lIns="0" tIns="0" rIns="0" bIns="0" rtlCol="0" anchor="ctr"/>
          <a:lstStyle/>
          <a:p>
            <a:pPr marL="0" indent="0" algn="r">
              <a:buNone/>
            </a:pPr>
            <a:r>
              <a:rPr lang="en-US" sz="800" dirty="0">
                <a:solidFill>
                  <a:srgbClr val="8A8A8A"/>
                </a:solidFill>
                <a:latin typeface="Calibri" pitchFamily="34" charset="0"/>
                <a:ea typeface="Calibri" pitchFamily="34" charset="-122"/>
                <a:cs typeface="Calibri" pitchFamily="34" charset="-120"/>
              </a:rPr>
              <a:t>Code-grounded architecture • Current state + target integration</a:t>
            </a:r>
            <a:endParaRPr lang="en-US" sz="800" dirty="0"/>
          </a:p>
        </p:txBody>
      </p:sp>
      <p:sp>
        <p:nvSpPr>
          <p:cNvPr id="25"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D16"/>
        </a:solidFill>
        <a:effectLst/>
      </p:bgPr>
    </p:bg>
    <p:spTree>
      <p:nvGrpSpPr>
        <p:cNvPr id="1" name=""/>
        <p:cNvGrpSpPr/>
        <p:nvPr/>
      </p:nvGrpSpPr>
      <p:grpSpPr>
        <a:xfrm>
          <a:off x="0" y="0"/>
          <a:ext cx="0" cy="0"/>
          <a:chOff x="0" y="0"/>
          <a:chExt cx="0" cy="0"/>
        </a:xfrm>
      </p:grpSpPr>
      <p:sp>
        <p:nvSpPr>
          <p:cNvPr id="2" name="Shape 0"/>
          <p:cNvSpPr/>
          <p:nvPr/>
        </p:nvSpPr>
        <p:spPr>
          <a:xfrm>
            <a:off x="7498080" y="-1005840"/>
            <a:ext cx="5577840" cy="5577840"/>
          </a:xfrm>
          <a:prstGeom prst="ellipse">
            <a:avLst/>
          </a:prstGeom>
          <a:solidFill>
            <a:srgbClr val="6B4B3E">
              <a:alpha val="75000"/>
            </a:srgbClr>
          </a:solidFill>
          <a:ln w="12700">
            <a:solidFill>
              <a:srgbClr val="6B4B3E">
                <a:alpha val="0"/>
              </a:srgbClr>
            </a:solidFill>
            <a:prstDash val="solid"/>
          </a:ln>
        </p:spPr>
      </p:sp>
      <p:sp>
        <p:nvSpPr>
          <p:cNvPr id="3" name="Shape 1"/>
          <p:cNvSpPr/>
          <p:nvPr/>
        </p:nvSpPr>
        <p:spPr>
          <a:xfrm>
            <a:off x="8503920" y="2011680"/>
            <a:ext cx="4297680" cy="4297680"/>
          </a:xfrm>
          <a:prstGeom prst="ellipse">
            <a:avLst/>
          </a:prstGeom>
          <a:solidFill>
            <a:srgbClr val="D89B2B">
              <a:alpha val="82000"/>
            </a:srgbClr>
          </a:solidFill>
          <a:ln w="12700">
            <a:solidFill>
              <a:srgbClr val="D89B2B">
                <a:alpha val="0"/>
              </a:srgbClr>
            </a:solidFill>
            <a:prstDash val="solid"/>
          </a:ln>
        </p:spPr>
      </p:sp>
      <p:sp>
        <p:nvSpPr>
          <p:cNvPr id="4" name="Text 2"/>
          <p:cNvSpPr/>
          <p:nvPr/>
        </p:nvSpPr>
        <p:spPr>
          <a:xfrm>
            <a:off x="640080" y="731520"/>
            <a:ext cx="6217920" cy="320040"/>
          </a:xfrm>
          <a:prstGeom prst="rect">
            <a:avLst/>
          </a:prstGeom>
          <a:noFill/>
          <a:ln/>
        </p:spPr>
        <p:txBody>
          <a:bodyPr wrap="square" lIns="0" tIns="0" rIns="0" bIns="0" rtlCol="0" anchor="ctr"/>
          <a:lstStyle/>
          <a:p>
            <a:pPr marL="0" indent="0">
              <a:buNone/>
            </a:pPr>
            <a:r>
              <a:rPr lang="en-US" sz="1300" b="1" kern="0" spc="230" dirty="0">
                <a:solidFill>
                  <a:srgbClr val="F5C451"/>
                </a:solidFill>
              </a:rPr>
              <a:t>LOYALTY CAMPAIGN</a:t>
            </a:r>
            <a:endParaRPr lang="en-US" sz="1300" dirty="0"/>
          </a:p>
        </p:txBody>
      </p:sp>
      <p:sp>
        <p:nvSpPr>
          <p:cNvPr id="5" name="Text 3"/>
          <p:cNvSpPr/>
          <p:nvPr/>
        </p:nvSpPr>
        <p:spPr>
          <a:xfrm>
            <a:off x="621792" y="1234440"/>
            <a:ext cx="6583680" cy="1417320"/>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Cambria" pitchFamily="34" charset="0"/>
                <a:ea typeface="Cambria" pitchFamily="34" charset="-122"/>
                <a:cs typeface="Cambria" pitchFamily="34" charset="-120"/>
              </a:rPr>
              <a:t>Application Process</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&amp; DIWA Reporting</a:t>
            </a:r>
            <a:endParaRPr lang="en-US" sz="3600" dirty="0"/>
          </a:p>
        </p:txBody>
      </p:sp>
      <p:sp>
        <p:nvSpPr>
          <p:cNvPr id="6" name="Text 4"/>
          <p:cNvSpPr/>
          <p:nvPr/>
        </p:nvSpPr>
        <p:spPr>
          <a:xfrm>
            <a:off x="658368" y="2788920"/>
            <a:ext cx="6126480" cy="640080"/>
          </a:xfrm>
          <a:prstGeom prst="rect">
            <a:avLst/>
          </a:prstGeom>
          <a:noFill/>
          <a:ln/>
        </p:spPr>
        <p:txBody>
          <a:bodyPr wrap="square" lIns="0" tIns="0" rIns="0" bIns="0" rtlCol="0" anchor="ctr">
            <a:normAutofit/>
          </a:bodyPr>
          <a:lstStyle/>
          <a:p>
            <a:pPr marL="0" indent="0">
              <a:buNone/>
            </a:pPr>
            <a:r>
              <a:rPr lang="en-US" sz="1700" dirty="0">
                <a:solidFill>
                  <a:srgbClr val="F5EDE5"/>
                </a:solidFill>
              </a:rPr>
              <a:t>Customer journey • Cashier/POS workflow • Data storage • Reporting architecture</a:t>
            </a:r>
            <a:endParaRPr lang="en-US" sz="1700" dirty="0"/>
          </a:p>
        </p:txBody>
      </p:sp>
      <p:sp>
        <p:nvSpPr>
          <p:cNvPr id="7" name="Shape 5"/>
          <p:cNvSpPr/>
          <p:nvPr/>
        </p:nvSpPr>
        <p:spPr>
          <a:xfrm>
            <a:off x="658368" y="3703320"/>
            <a:ext cx="2057400" cy="310896"/>
          </a:xfrm>
          <a:prstGeom prst="roundRect">
            <a:avLst>
              <a:gd name="adj" fmla="val 23529"/>
            </a:avLst>
          </a:prstGeom>
          <a:solidFill>
            <a:srgbClr val="F5C451"/>
          </a:solidFill>
          <a:ln w="12700">
            <a:solidFill>
              <a:srgbClr val="F5C451"/>
            </a:solidFill>
            <a:prstDash val="solid"/>
          </a:ln>
        </p:spPr>
      </p:sp>
      <p:sp>
        <p:nvSpPr>
          <p:cNvPr id="8" name="Text 6"/>
          <p:cNvSpPr/>
          <p:nvPr/>
        </p:nvSpPr>
        <p:spPr>
          <a:xfrm>
            <a:off x="731520" y="3767328"/>
            <a:ext cx="1911096" cy="146304"/>
          </a:xfrm>
          <a:prstGeom prst="rect">
            <a:avLst/>
          </a:prstGeom>
          <a:noFill/>
          <a:ln/>
        </p:spPr>
        <p:txBody>
          <a:bodyPr wrap="square" lIns="0" tIns="0" rIns="0" bIns="0" rtlCol="0" anchor="ctr">
            <a:normAutofit/>
          </a:bodyPr>
          <a:lstStyle/>
          <a:p>
            <a:pPr marL="0" indent="0" algn="ctr">
              <a:buNone/>
            </a:pPr>
            <a:r>
              <a:rPr lang="en-US" sz="950" b="1" dirty="0">
                <a:solidFill>
                  <a:srgbClr val="2B1D16"/>
                </a:solidFill>
              </a:rPr>
              <a:t>AS-IS: OFFLINE-FIRST</a:t>
            </a:r>
            <a:endParaRPr lang="en-US" sz="950" dirty="0"/>
          </a:p>
        </p:txBody>
      </p:sp>
      <p:sp>
        <p:nvSpPr>
          <p:cNvPr id="9" name="Shape 7"/>
          <p:cNvSpPr/>
          <p:nvPr/>
        </p:nvSpPr>
        <p:spPr>
          <a:xfrm>
            <a:off x="2852928" y="3703320"/>
            <a:ext cx="2514600" cy="310896"/>
          </a:xfrm>
          <a:prstGeom prst="roundRect">
            <a:avLst>
              <a:gd name="adj" fmla="val 23529"/>
            </a:avLst>
          </a:prstGeom>
          <a:solidFill>
            <a:srgbClr val="0F766E"/>
          </a:solidFill>
          <a:ln w="12700">
            <a:solidFill>
              <a:srgbClr val="0F766E"/>
            </a:solidFill>
            <a:prstDash val="solid"/>
          </a:ln>
        </p:spPr>
      </p:sp>
      <p:sp>
        <p:nvSpPr>
          <p:cNvPr id="10" name="Text 8"/>
          <p:cNvSpPr/>
          <p:nvPr/>
        </p:nvSpPr>
        <p:spPr>
          <a:xfrm>
            <a:off x="2926080" y="3767328"/>
            <a:ext cx="2368296"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TARGET: POS + CENTRAL API</a:t>
            </a:r>
            <a:endParaRPr lang="en-US" sz="950" dirty="0"/>
          </a:p>
        </p:txBody>
      </p:sp>
      <p:sp>
        <p:nvSpPr>
          <p:cNvPr id="11" name="Shape 9"/>
          <p:cNvSpPr/>
          <p:nvPr/>
        </p:nvSpPr>
        <p:spPr>
          <a:xfrm>
            <a:off x="5504688" y="3703320"/>
            <a:ext cx="1783080" cy="310896"/>
          </a:xfrm>
          <a:prstGeom prst="roundRect">
            <a:avLst>
              <a:gd name="adj" fmla="val 23529"/>
            </a:avLst>
          </a:prstGeom>
          <a:solidFill>
            <a:srgbClr val="6D28D9"/>
          </a:solidFill>
          <a:ln w="12700">
            <a:solidFill>
              <a:srgbClr val="6D28D9"/>
            </a:solidFill>
            <a:prstDash val="solid"/>
          </a:ln>
        </p:spPr>
      </p:sp>
      <p:sp>
        <p:nvSpPr>
          <p:cNvPr id="12" name="Text 10"/>
          <p:cNvSpPr/>
          <p:nvPr/>
        </p:nvSpPr>
        <p:spPr>
          <a:xfrm>
            <a:off x="5577840" y="3767328"/>
            <a:ext cx="1636776" cy="146304"/>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REPORTING: DIWA</a:t>
            </a:r>
            <a:endParaRPr lang="en-US" sz="950" dirty="0"/>
          </a:p>
        </p:txBody>
      </p:sp>
      <p:sp>
        <p:nvSpPr>
          <p:cNvPr id="13" name="Shape 11"/>
          <p:cNvSpPr/>
          <p:nvPr/>
        </p:nvSpPr>
        <p:spPr>
          <a:xfrm>
            <a:off x="7726680" y="1024128"/>
            <a:ext cx="3611880" cy="1078992"/>
          </a:xfrm>
          <a:prstGeom prst="roundRect">
            <a:avLst>
              <a:gd name="adj" fmla="val 6780"/>
            </a:avLst>
          </a:prstGeom>
          <a:solidFill>
            <a:srgbClr val="FFF8EF"/>
          </a:solidFill>
          <a:ln w="13970">
            <a:solidFill>
              <a:srgbClr val="F5C451"/>
            </a:solidFill>
            <a:prstDash val="solid"/>
          </a:ln>
        </p:spPr>
      </p:sp>
      <p:sp>
        <p:nvSpPr>
          <p:cNvPr id="14" name="Shape 12"/>
          <p:cNvSpPr/>
          <p:nvPr/>
        </p:nvSpPr>
        <p:spPr>
          <a:xfrm>
            <a:off x="7872984" y="1170432"/>
            <a:ext cx="310896" cy="310896"/>
          </a:xfrm>
          <a:prstGeom prst="ellipse">
            <a:avLst/>
          </a:prstGeom>
          <a:solidFill>
            <a:srgbClr val="D89B2B"/>
          </a:solidFill>
          <a:ln w="12700">
            <a:solidFill>
              <a:srgbClr val="D89B2B"/>
            </a:solidFill>
            <a:prstDash val="solid"/>
          </a:ln>
        </p:spPr>
      </p:sp>
      <p:sp>
        <p:nvSpPr>
          <p:cNvPr id="15" name="Text 13"/>
          <p:cNvSpPr/>
          <p:nvPr/>
        </p:nvSpPr>
        <p:spPr>
          <a:xfrm>
            <a:off x="7872984" y="1239012"/>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C</a:t>
            </a:r>
            <a:endParaRPr lang="en-US" sz="900" dirty="0"/>
          </a:p>
        </p:txBody>
      </p:sp>
      <p:sp>
        <p:nvSpPr>
          <p:cNvPr id="16" name="Text 14"/>
          <p:cNvSpPr/>
          <p:nvPr/>
        </p:nvSpPr>
        <p:spPr>
          <a:xfrm>
            <a:off x="8275320" y="1161288"/>
            <a:ext cx="291693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Customer mobile app</a:t>
            </a:r>
            <a:endParaRPr lang="en-US" sz="1500" dirty="0"/>
          </a:p>
        </p:txBody>
      </p:sp>
      <p:sp>
        <p:nvSpPr>
          <p:cNvPr id="17" name="Text 15"/>
          <p:cNvSpPr/>
          <p:nvPr/>
        </p:nvSpPr>
        <p:spPr>
          <a:xfrm>
            <a:off x="7891272" y="1517904"/>
            <a:ext cx="3282696" cy="457200"/>
          </a:xfrm>
          <a:prstGeom prst="rect">
            <a:avLst/>
          </a:prstGeom>
          <a:noFill/>
          <a:ln/>
        </p:spPr>
        <p:txBody>
          <a:bodyPr wrap="square" lIns="0" tIns="0" rIns="0" bIns="0" rtlCol="0" anchor="t">
            <a:normAutofit/>
          </a:bodyPr>
          <a:lstStyle/>
          <a:p>
            <a:pPr marL="0" indent="0">
              <a:buNone/>
            </a:pPr>
            <a:r>
              <a:rPr lang="en-US" sz="1050" dirty="0">
                <a:solidFill>
                  <a:srgbClr val="252525"/>
                </a:solidFill>
              </a:rPr>
              <a:t>30-second QR token • campaign progress • earn/redeem ledger</a:t>
            </a:r>
            <a:endParaRPr lang="en-US" sz="1050" dirty="0"/>
          </a:p>
        </p:txBody>
      </p:sp>
      <p:sp>
        <p:nvSpPr>
          <p:cNvPr id="18" name="Shape 16"/>
          <p:cNvSpPr/>
          <p:nvPr/>
        </p:nvSpPr>
        <p:spPr>
          <a:xfrm>
            <a:off x="7726680" y="2423160"/>
            <a:ext cx="3611880" cy="1078992"/>
          </a:xfrm>
          <a:prstGeom prst="roundRect">
            <a:avLst>
              <a:gd name="adj" fmla="val 6780"/>
            </a:avLst>
          </a:prstGeom>
          <a:solidFill>
            <a:srgbClr val="E8F7ED"/>
          </a:solidFill>
          <a:ln w="13970">
            <a:solidFill>
              <a:srgbClr val="0F766E"/>
            </a:solidFill>
            <a:prstDash val="solid"/>
          </a:ln>
        </p:spPr>
      </p:sp>
      <p:sp>
        <p:nvSpPr>
          <p:cNvPr id="19" name="Shape 17"/>
          <p:cNvSpPr/>
          <p:nvPr/>
        </p:nvSpPr>
        <p:spPr>
          <a:xfrm>
            <a:off x="7872984" y="2569464"/>
            <a:ext cx="310896" cy="310896"/>
          </a:xfrm>
          <a:prstGeom prst="ellipse">
            <a:avLst/>
          </a:prstGeom>
          <a:solidFill>
            <a:srgbClr val="0F766E"/>
          </a:solidFill>
          <a:ln w="12700">
            <a:solidFill>
              <a:srgbClr val="0F766E"/>
            </a:solidFill>
            <a:prstDash val="solid"/>
          </a:ln>
        </p:spPr>
      </p:sp>
      <p:sp>
        <p:nvSpPr>
          <p:cNvPr id="20" name="Text 18"/>
          <p:cNvSpPr/>
          <p:nvPr/>
        </p:nvSpPr>
        <p:spPr>
          <a:xfrm>
            <a:off x="7872984" y="26380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P</a:t>
            </a:r>
            <a:endParaRPr lang="en-US" sz="900" dirty="0"/>
          </a:p>
        </p:txBody>
      </p:sp>
      <p:sp>
        <p:nvSpPr>
          <p:cNvPr id="21" name="Text 19"/>
          <p:cNvSpPr/>
          <p:nvPr/>
        </p:nvSpPr>
        <p:spPr>
          <a:xfrm>
            <a:off x="8275320" y="2560320"/>
            <a:ext cx="291693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Cashier / POS</a:t>
            </a:r>
            <a:endParaRPr lang="en-US" sz="1500" dirty="0"/>
          </a:p>
        </p:txBody>
      </p:sp>
      <p:sp>
        <p:nvSpPr>
          <p:cNvPr id="22" name="Text 20"/>
          <p:cNvSpPr/>
          <p:nvPr/>
        </p:nvSpPr>
        <p:spPr>
          <a:xfrm>
            <a:off x="7891272" y="2916936"/>
            <a:ext cx="3282696" cy="457200"/>
          </a:xfrm>
          <a:prstGeom prst="rect">
            <a:avLst/>
          </a:prstGeom>
          <a:noFill/>
          <a:ln/>
        </p:spPr>
        <p:txBody>
          <a:bodyPr wrap="square" lIns="0" tIns="0" rIns="0" bIns="0" rtlCol="0" anchor="t">
            <a:normAutofit/>
          </a:bodyPr>
          <a:lstStyle/>
          <a:p>
            <a:pPr marL="0" indent="0">
              <a:buNone/>
            </a:pPr>
            <a:r>
              <a:rPr lang="en-US" sz="1050" dirty="0">
                <a:solidFill>
                  <a:srgbClr val="252525"/>
                </a:solidFill>
              </a:rPr>
              <a:t>Scans member token • validates sale item • posts earn or redemption</a:t>
            </a:r>
            <a:endParaRPr lang="en-US" sz="1050" dirty="0"/>
          </a:p>
        </p:txBody>
      </p:sp>
      <p:sp>
        <p:nvSpPr>
          <p:cNvPr id="23" name="Shape 21"/>
          <p:cNvSpPr/>
          <p:nvPr/>
        </p:nvSpPr>
        <p:spPr>
          <a:xfrm>
            <a:off x="7726680" y="3822192"/>
            <a:ext cx="3611880" cy="1078992"/>
          </a:xfrm>
          <a:prstGeom prst="roundRect">
            <a:avLst>
              <a:gd name="adj" fmla="val 6780"/>
            </a:avLst>
          </a:prstGeom>
          <a:solidFill>
            <a:srgbClr val="F0E9FF"/>
          </a:solidFill>
          <a:ln w="13970">
            <a:solidFill>
              <a:srgbClr val="6D28D9"/>
            </a:solidFill>
            <a:prstDash val="solid"/>
          </a:ln>
        </p:spPr>
      </p:sp>
      <p:sp>
        <p:nvSpPr>
          <p:cNvPr id="24" name="Shape 22"/>
          <p:cNvSpPr/>
          <p:nvPr/>
        </p:nvSpPr>
        <p:spPr>
          <a:xfrm>
            <a:off x="7872984" y="3968496"/>
            <a:ext cx="310896" cy="310896"/>
          </a:xfrm>
          <a:prstGeom prst="ellipse">
            <a:avLst/>
          </a:prstGeom>
          <a:solidFill>
            <a:srgbClr val="6D28D9"/>
          </a:solidFill>
          <a:ln w="12700">
            <a:solidFill>
              <a:srgbClr val="6D28D9"/>
            </a:solidFill>
            <a:prstDash val="solid"/>
          </a:ln>
        </p:spPr>
      </p:sp>
      <p:sp>
        <p:nvSpPr>
          <p:cNvPr id="25" name="Text 23"/>
          <p:cNvSpPr/>
          <p:nvPr/>
        </p:nvSpPr>
        <p:spPr>
          <a:xfrm>
            <a:off x="7872984" y="403707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D</a:t>
            </a:r>
            <a:endParaRPr lang="en-US" sz="900" dirty="0"/>
          </a:p>
        </p:txBody>
      </p:sp>
      <p:sp>
        <p:nvSpPr>
          <p:cNvPr id="26" name="Text 24"/>
          <p:cNvSpPr/>
          <p:nvPr/>
        </p:nvSpPr>
        <p:spPr>
          <a:xfrm>
            <a:off x="8275320" y="3959352"/>
            <a:ext cx="291693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DIWA analytics</a:t>
            </a:r>
            <a:endParaRPr lang="en-US" sz="1500" dirty="0"/>
          </a:p>
        </p:txBody>
      </p:sp>
      <p:sp>
        <p:nvSpPr>
          <p:cNvPr id="27" name="Text 25"/>
          <p:cNvSpPr/>
          <p:nvPr/>
        </p:nvSpPr>
        <p:spPr>
          <a:xfrm>
            <a:off x="7891272" y="4315968"/>
            <a:ext cx="3282696" cy="457200"/>
          </a:xfrm>
          <a:prstGeom prst="rect">
            <a:avLst/>
          </a:prstGeom>
          <a:noFill/>
          <a:ln/>
        </p:spPr>
        <p:txBody>
          <a:bodyPr wrap="square" lIns="0" tIns="0" rIns="0" bIns="0" rtlCol="0" anchor="t">
            <a:normAutofit/>
          </a:bodyPr>
          <a:lstStyle/>
          <a:p>
            <a:pPr marL="0" indent="0">
              <a:buNone/>
            </a:pPr>
            <a:r>
              <a:rPr lang="en-US" sz="1050" dirty="0">
                <a:solidFill>
                  <a:srgbClr val="252525"/>
                </a:solidFill>
              </a:rPr>
              <a:t>Allowlisted datasets • joins • visual reports • CSV export</a:t>
            </a:r>
            <a:endParaRPr lang="en-US" sz="1050" dirty="0"/>
          </a:p>
        </p:txBody>
      </p:sp>
      <p:sp>
        <p:nvSpPr>
          <p:cNvPr id="28" name="Text 26"/>
          <p:cNvSpPr/>
          <p:nvPr/>
        </p:nvSpPr>
        <p:spPr>
          <a:xfrm>
            <a:off x="658368" y="6062472"/>
            <a:ext cx="6675120" cy="228600"/>
          </a:xfrm>
          <a:prstGeom prst="rect">
            <a:avLst/>
          </a:prstGeom>
          <a:noFill/>
          <a:ln/>
        </p:spPr>
        <p:txBody>
          <a:bodyPr wrap="square" lIns="0" tIns="0" rIns="0" bIns="0" rtlCol="0" anchor="ctr"/>
          <a:lstStyle/>
          <a:p>
            <a:pPr marL="0" indent="0">
              <a:buNone/>
            </a:pPr>
            <a:r>
              <a:rPr lang="en-US" sz="1050" dirty="0">
                <a:solidFill>
                  <a:srgbClr val="C8B8AC"/>
                </a:solidFill>
              </a:rPr>
              <a:t>Prepared from the source code in loyalty_campaign and diwa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End-to-end system landscape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One loyalty event moves from a person and a sale to an auditable reporting fact.</a:t>
            </a:r>
            <a:endParaRPr lang="en-US" sz="1250" dirty="0"/>
          </a:p>
        </p:txBody>
      </p:sp>
      <p:sp>
        <p:nvSpPr>
          <p:cNvPr id="4" name="Shape 2"/>
          <p:cNvSpPr/>
          <p:nvPr/>
        </p:nvSpPr>
        <p:spPr>
          <a:xfrm>
            <a:off x="502920" y="1508760"/>
            <a:ext cx="1965960" cy="1143000"/>
          </a:xfrm>
          <a:prstGeom prst="roundRect">
            <a:avLst>
              <a:gd name="adj" fmla="val 6400"/>
            </a:avLst>
          </a:prstGeom>
          <a:solidFill>
            <a:srgbClr val="FFF8EF"/>
          </a:solidFill>
          <a:ln w="13970">
            <a:solidFill>
              <a:srgbClr val="D89B2B"/>
            </a:solidFill>
            <a:prstDash val="solid"/>
          </a:ln>
          <a:effectLst>
            <a:outerShdw blurRad="25400" dist="50800" dir="2700000" algn="bl" rotWithShape="0">
              <a:srgbClr val="000000">
                <a:alpha val="12000"/>
              </a:srgbClr>
            </a:outerShdw>
          </a:effectLst>
        </p:spPr>
      </p:sp>
      <p:sp>
        <p:nvSpPr>
          <p:cNvPr id="5" name="Shape 3"/>
          <p:cNvSpPr/>
          <p:nvPr/>
        </p:nvSpPr>
        <p:spPr>
          <a:xfrm>
            <a:off x="649224" y="1655064"/>
            <a:ext cx="310896" cy="310896"/>
          </a:xfrm>
          <a:prstGeom prst="ellipse">
            <a:avLst/>
          </a:prstGeom>
          <a:solidFill>
            <a:srgbClr val="D89B2B"/>
          </a:solidFill>
          <a:ln w="12700">
            <a:solidFill>
              <a:srgbClr val="D89B2B"/>
            </a:solidFill>
            <a:prstDash val="solid"/>
          </a:ln>
        </p:spPr>
      </p:sp>
      <p:sp>
        <p:nvSpPr>
          <p:cNvPr id="6" name="Text 4"/>
          <p:cNvSpPr/>
          <p:nvPr/>
        </p:nvSpPr>
        <p:spPr>
          <a:xfrm>
            <a:off x="64922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051560" y="1645920"/>
            <a:ext cx="127101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Customer</a:t>
            </a:r>
            <a:endParaRPr lang="en-US" sz="1500" dirty="0"/>
          </a:p>
        </p:txBody>
      </p:sp>
      <p:sp>
        <p:nvSpPr>
          <p:cNvPr id="8" name="Text 6"/>
          <p:cNvSpPr/>
          <p:nvPr/>
        </p:nvSpPr>
        <p:spPr>
          <a:xfrm>
            <a:off x="667512" y="2002536"/>
            <a:ext cx="1636776" cy="521208"/>
          </a:xfrm>
          <a:prstGeom prst="rect">
            <a:avLst/>
          </a:prstGeom>
          <a:noFill/>
          <a:ln/>
        </p:spPr>
        <p:txBody>
          <a:bodyPr wrap="square" lIns="0" tIns="0" rIns="0" bIns="0" rtlCol="0" anchor="t">
            <a:normAutofit/>
          </a:bodyPr>
          <a:lstStyle/>
          <a:p>
            <a:pPr marL="0" indent="0">
              <a:buNone/>
            </a:pPr>
            <a:r>
              <a:rPr lang="en-US" sz="1050" dirty="0">
                <a:solidFill>
                  <a:srgbClr val="252525"/>
                </a:solidFill>
              </a:rPr>
              <a:t>Signs in</a:t>
            </a:r>
            <a:endParaRPr lang="en-US" sz="1050" dirty="0"/>
          </a:p>
          <a:p>
            <a:pPr marL="0" indent="0">
              <a:buNone/>
            </a:pPr>
            <a:r>
              <a:rPr lang="en-US" sz="1050" dirty="0">
                <a:solidFill>
                  <a:srgbClr val="252525"/>
                </a:solidFill>
              </a:rPr>
              <a:t>chooses campaign</a:t>
            </a:r>
            <a:endParaRPr lang="en-US" sz="1050" dirty="0"/>
          </a:p>
          <a:p>
            <a:pPr marL="0" indent="0">
              <a:buNone/>
            </a:pPr>
            <a:r>
              <a:rPr lang="en-US" sz="1050" dirty="0">
                <a:solidFill>
                  <a:srgbClr val="252525"/>
                </a:solidFill>
              </a:rPr>
              <a:t>shows rotating QR</a:t>
            </a:r>
            <a:endParaRPr lang="en-US" sz="1050" dirty="0"/>
          </a:p>
        </p:txBody>
      </p:sp>
      <p:sp>
        <p:nvSpPr>
          <p:cNvPr id="9" name="Shape 7"/>
          <p:cNvSpPr/>
          <p:nvPr/>
        </p:nvSpPr>
        <p:spPr>
          <a:xfrm>
            <a:off x="2880360" y="1508760"/>
            <a:ext cx="1965960" cy="1143000"/>
          </a:xfrm>
          <a:prstGeom prst="roundRect">
            <a:avLst>
              <a:gd name="adj" fmla="val 6400"/>
            </a:avLst>
          </a:prstGeom>
          <a:solidFill>
            <a:srgbClr val="DDF4EF"/>
          </a:solidFill>
          <a:ln w="13970">
            <a:solidFill>
              <a:srgbClr val="0F766E"/>
            </a:solidFill>
            <a:prstDash val="solid"/>
          </a:ln>
          <a:effectLst>
            <a:outerShdw blurRad="25400" dist="50800" dir="2700000" algn="bl" rotWithShape="0">
              <a:srgbClr val="000000">
                <a:alpha val="12000"/>
              </a:srgbClr>
            </a:outerShdw>
          </a:effectLst>
        </p:spPr>
      </p:sp>
      <p:sp>
        <p:nvSpPr>
          <p:cNvPr id="10" name="Shape 8"/>
          <p:cNvSpPr/>
          <p:nvPr/>
        </p:nvSpPr>
        <p:spPr>
          <a:xfrm>
            <a:off x="3026664" y="1655064"/>
            <a:ext cx="310896" cy="310896"/>
          </a:xfrm>
          <a:prstGeom prst="ellipse">
            <a:avLst/>
          </a:prstGeom>
          <a:solidFill>
            <a:srgbClr val="0F766E"/>
          </a:solidFill>
          <a:ln w="12700">
            <a:solidFill>
              <a:srgbClr val="0F766E"/>
            </a:solidFill>
            <a:prstDash val="solid"/>
          </a:ln>
        </p:spPr>
      </p:sp>
      <p:sp>
        <p:nvSpPr>
          <p:cNvPr id="11" name="Text 9"/>
          <p:cNvSpPr/>
          <p:nvPr/>
        </p:nvSpPr>
        <p:spPr>
          <a:xfrm>
            <a:off x="302666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3429000" y="1645920"/>
            <a:ext cx="127101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Cashier / POS</a:t>
            </a:r>
            <a:endParaRPr lang="en-US" sz="1500" dirty="0"/>
          </a:p>
        </p:txBody>
      </p:sp>
      <p:sp>
        <p:nvSpPr>
          <p:cNvPr id="13" name="Text 11"/>
          <p:cNvSpPr/>
          <p:nvPr/>
        </p:nvSpPr>
        <p:spPr>
          <a:xfrm>
            <a:off x="3044952" y="2002536"/>
            <a:ext cx="1636776" cy="521208"/>
          </a:xfrm>
          <a:prstGeom prst="rect">
            <a:avLst/>
          </a:prstGeom>
          <a:noFill/>
          <a:ln/>
        </p:spPr>
        <p:txBody>
          <a:bodyPr wrap="square" lIns="0" tIns="0" rIns="0" bIns="0" rtlCol="0" anchor="t">
            <a:normAutofit/>
          </a:bodyPr>
          <a:lstStyle/>
          <a:p>
            <a:pPr marL="0" indent="0">
              <a:buNone/>
            </a:pPr>
            <a:r>
              <a:rPr lang="en-US" sz="1050" dirty="0">
                <a:solidFill>
                  <a:srgbClr val="252525"/>
                </a:solidFill>
              </a:rPr>
              <a:t>Scans QR</a:t>
            </a:r>
            <a:endParaRPr lang="en-US" sz="1050" dirty="0"/>
          </a:p>
          <a:p>
            <a:pPr marL="0" indent="0">
              <a:buNone/>
            </a:pPr>
            <a:r>
              <a:rPr lang="en-US" sz="1050" dirty="0">
                <a:solidFill>
                  <a:srgbClr val="252525"/>
                </a:solidFill>
              </a:rPr>
              <a:t>selects receipt item</a:t>
            </a:r>
            <a:endParaRPr lang="en-US" sz="1050" dirty="0"/>
          </a:p>
          <a:p>
            <a:pPr marL="0" indent="0">
              <a:buNone/>
            </a:pPr>
            <a:r>
              <a:rPr lang="en-US" sz="1050" dirty="0">
                <a:solidFill>
                  <a:srgbClr val="252525"/>
                </a:solidFill>
              </a:rPr>
              <a:t>submits action</a:t>
            </a:r>
            <a:endParaRPr lang="en-US" sz="1050" dirty="0"/>
          </a:p>
        </p:txBody>
      </p:sp>
      <p:sp>
        <p:nvSpPr>
          <p:cNvPr id="14" name="Shape 12"/>
          <p:cNvSpPr/>
          <p:nvPr/>
        </p:nvSpPr>
        <p:spPr>
          <a:xfrm>
            <a:off x="5257800" y="1508760"/>
            <a:ext cx="1965960" cy="1143000"/>
          </a:xfrm>
          <a:prstGeom prst="roundRect">
            <a:avLst>
              <a:gd name="adj" fmla="val 6400"/>
            </a:avLst>
          </a:prstGeom>
          <a:solidFill>
            <a:srgbClr val="E9F1FF"/>
          </a:solidFill>
          <a:ln w="13970">
            <a:solidFill>
              <a:srgbClr val="2563EB"/>
            </a:solidFill>
            <a:prstDash val="solid"/>
          </a:ln>
          <a:effectLst>
            <a:outerShdw blurRad="25400" dist="50800" dir="2700000" algn="bl" rotWithShape="0">
              <a:srgbClr val="000000">
                <a:alpha val="12000"/>
              </a:srgbClr>
            </a:outerShdw>
          </a:effectLst>
        </p:spPr>
      </p:sp>
      <p:sp>
        <p:nvSpPr>
          <p:cNvPr id="15" name="Shape 13"/>
          <p:cNvSpPr/>
          <p:nvPr/>
        </p:nvSpPr>
        <p:spPr>
          <a:xfrm>
            <a:off x="5404104" y="1655064"/>
            <a:ext cx="310896" cy="310896"/>
          </a:xfrm>
          <a:prstGeom prst="ellipse">
            <a:avLst/>
          </a:prstGeom>
          <a:solidFill>
            <a:srgbClr val="2563EB"/>
          </a:solidFill>
          <a:ln w="12700">
            <a:solidFill>
              <a:srgbClr val="2563EB"/>
            </a:solidFill>
            <a:prstDash val="solid"/>
          </a:ln>
        </p:spPr>
      </p:sp>
      <p:sp>
        <p:nvSpPr>
          <p:cNvPr id="16" name="Text 14"/>
          <p:cNvSpPr/>
          <p:nvPr/>
        </p:nvSpPr>
        <p:spPr>
          <a:xfrm>
            <a:off x="540410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5806440" y="1645920"/>
            <a:ext cx="127101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Loyalty API</a:t>
            </a:r>
            <a:endParaRPr lang="en-US" sz="1500" dirty="0"/>
          </a:p>
        </p:txBody>
      </p:sp>
      <p:sp>
        <p:nvSpPr>
          <p:cNvPr id="18" name="Text 16"/>
          <p:cNvSpPr/>
          <p:nvPr/>
        </p:nvSpPr>
        <p:spPr>
          <a:xfrm>
            <a:off x="5422392" y="2002536"/>
            <a:ext cx="1636776" cy="521208"/>
          </a:xfrm>
          <a:prstGeom prst="rect">
            <a:avLst/>
          </a:prstGeom>
          <a:noFill/>
          <a:ln/>
        </p:spPr>
        <p:txBody>
          <a:bodyPr wrap="square" lIns="0" tIns="0" rIns="0" bIns="0" rtlCol="0" anchor="t">
            <a:normAutofit/>
          </a:bodyPr>
          <a:lstStyle/>
          <a:p>
            <a:pPr marL="0" indent="0">
              <a:buNone/>
            </a:pPr>
            <a:r>
              <a:rPr lang="en-US" sz="1050" dirty="0">
                <a:solidFill>
                  <a:srgbClr val="252525"/>
                </a:solidFill>
              </a:rPr>
              <a:t>Authenticates POS</a:t>
            </a:r>
            <a:endParaRPr lang="en-US" sz="1050" dirty="0"/>
          </a:p>
          <a:p>
            <a:pPr marL="0" indent="0">
              <a:buNone/>
            </a:pPr>
            <a:r>
              <a:rPr lang="en-US" sz="1050" dirty="0">
                <a:solidFill>
                  <a:srgbClr val="252525"/>
                </a:solidFill>
              </a:rPr>
              <a:t>validates token/rules</a:t>
            </a:r>
            <a:endParaRPr lang="en-US" sz="1050" dirty="0"/>
          </a:p>
          <a:p>
            <a:pPr marL="0" indent="0">
              <a:buNone/>
            </a:pPr>
            <a:r>
              <a:rPr lang="en-US" sz="1050" dirty="0">
                <a:solidFill>
                  <a:srgbClr val="252525"/>
                </a:solidFill>
              </a:rPr>
              <a:t>ensures idempotency</a:t>
            </a:r>
            <a:endParaRPr lang="en-US" sz="1050" dirty="0"/>
          </a:p>
        </p:txBody>
      </p:sp>
      <p:sp>
        <p:nvSpPr>
          <p:cNvPr id="19" name="Shape 17"/>
          <p:cNvSpPr/>
          <p:nvPr/>
        </p:nvSpPr>
        <p:spPr>
          <a:xfrm>
            <a:off x="7635240" y="1508760"/>
            <a:ext cx="1965960" cy="1143000"/>
          </a:xfrm>
          <a:prstGeom prst="roundRect">
            <a:avLst>
              <a:gd name="adj" fmla="val 6400"/>
            </a:avLst>
          </a:prstGeom>
          <a:solidFill>
            <a:srgbClr val="F0E9FF"/>
          </a:solidFill>
          <a:ln w="13970">
            <a:solidFill>
              <a:srgbClr val="6D28D9"/>
            </a:solidFill>
            <a:prstDash val="solid"/>
          </a:ln>
          <a:effectLst>
            <a:outerShdw blurRad="25400" dist="50800" dir="2700000" algn="bl" rotWithShape="0">
              <a:srgbClr val="000000">
                <a:alpha val="12000"/>
              </a:srgbClr>
            </a:outerShdw>
          </a:effectLst>
        </p:spPr>
      </p:sp>
      <p:sp>
        <p:nvSpPr>
          <p:cNvPr id="20" name="Shape 18"/>
          <p:cNvSpPr/>
          <p:nvPr/>
        </p:nvSpPr>
        <p:spPr>
          <a:xfrm>
            <a:off x="7781544" y="1655064"/>
            <a:ext cx="310896" cy="310896"/>
          </a:xfrm>
          <a:prstGeom prst="ellipse">
            <a:avLst/>
          </a:prstGeom>
          <a:solidFill>
            <a:srgbClr val="6D28D9"/>
          </a:solidFill>
          <a:ln w="12700">
            <a:solidFill>
              <a:srgbClr val="6D28D9"/>
            </a:solidFill>
            <a:prstDash val="solid"/>
          </a:ln>
        </p:spPr>
      </p:sp>
      <p:sp>
        <p:nvSpPr>
          <p:cNvPr id="21" name="Text 19"/>
          <p:cNvSpPr/>
          <p:nvPr/>
        </p:nvSpPr>
        <p:spPr>
          <a:xfrm>
            <a:off x="778154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8183880" y="1645920"/>
            <a:ext cx="1271016" cy="256032"/>
          </a:xfrm>
          <a:prstGeom prst="rect">
            <a:avLst/>
          </a:prstGeom>
          <a:noFill/>
          <a:ln/>
        </p:spPr>
        <p:txBody>
          <a:bodyPr wrap="square" lIns="0" tIns="0" rIns="0" bIns="0" rtlCol="0" anchor="ctr">
            <a:normAutofit fontScale="92500"/>
          </a:bodyPr>
          <a:lstStyle/>
          <a:p>
            <a:pPr marL="0" indent="0">
              <a:buNone/>
            </a:pPr>
            <a:r>
              <a:rPr lang="en-US" sz="1500" b="1" dirty="0">
                <a:solidFill>
                  <a:srgbClr val="2B1D16"/>
                </a:solidFill>
              </a:rPr>
              <a:t>Central database</a:t>
            </a:r>
            <a:endParaRPr lang="en-US" sz="1500" dirty="0"/>
          </a:p>
        </p:txBody>
      </p:sp>
      <p:sp>
        <p:nvSpPr>
          <p:cNvPr id="23" name="Text 21"/>
          <p:cNvSpPr/>
          <p:nvPr/>
        </p:nvSpPr>
        <p:spPr>
          <a:xfrm>
            <a:off x="7799832" y="2002536"/>
            <a:ext cx="1636776" cy="521208"/>
          </a:xfrm>
          <a:prstGeom prst="rect">
            <a:avLst/>
          </a:prstGeom>
          <a:noFill/>
          <a:ln/>
        </p:spPr>
        <p:txBody>
          <a:bodyPr wrap="square" lIns="0" tIns="0" rIns="0" bIns="0" rtlCol="0" anchor="t">
            <a:normAutofit/>
          </a:bodyPr>
          <a:lstStyle/>
          <a:p>
            <a:pPr marL="0" indent="0">
              <a:buNone/>
            </a:pPr>
            <a:r>
              <a:rPr lang="en-US" sz="1050" dirty="0">
                <a:solidFill>
                  <a:srgbClr val="252525"/>
                </a:solidFill>
              </a:rPr>
              <a:t>Members, campaigns, cards, immutable transaction ledger</a:t>
            </a:r>
            <a:endParaRPr lang="en-US" sz="1050" dirty="0"/>
          </a:p>
        </p:txBody>
      </p:sp>
      <p:sp>
        <p:nvSpPr>
          <p:cNvPr id="24" name="Shape 22"/>
          <p:cNvSpPr/>
          <p:nvPr/>
        </p:nvSpPr>
        <p:spPr>
          <a:xfrm>
            <a:off x="10012680" y="1508760"/>
            <a:ext cx="1645920" cy="1143000"/>
          </a:xfrm>
          <a:prstGeom prst="roundRect">
            <a:avLst>
              <a:gd name="adj" fmla="val 6400"/>
            </a:avLst>
          </a:prstGeom>
          <a:solidFill>
            <a:srgbClr val="F3F4F6"/>
          </a:solidFill>
          <a:ln w="13970">
            <a:solidFill>
              <a:srgbClr val="334155"/>
            </a:solidFill>
            <a:prstDash val="solid"/>
          </a:ln>
          <a:effectLst>
            <a:outerShdw blurRad="25400" dist="50800" dir="2700000" algn="bl" rotWithShape="0">
              <a:srgbClr val="000000">
                <a:alpha val="12000"/>
              </a:srgbClr>
            </a:outerShdw>
          </a:effectLst>
        </p:spPr>
      </p:sp>
      <p:sp>
        <p:nvSpPr>
          <p:cNvPr id="25" name="Shape 23"/>
          <p:cNvSpPr/>
          <p:nvPr/>
        </p:nvSpPr>
        <p:spPr>
          <a:xfrm>
            <a:off x="10158984" y="1655064"/>
            <a:ext cx="310896" cy="310896"/>
          </a:xfrm>
          <a:prstGeom prst="ellipse">
            <a:avLst/>
          </a:prstGeom>
          <a:solidFill>
            <a:srgbClr val="334155"/>
          </a:solidFill>
          <a:ln w="12700">
            <a:solidFill>
              <a:srgbClr val="334155"/>
            </a:solidFill>
            <a:prstDash val="solid"/>
          </a:ln>
        </p:spPr>
      </p:sp>
      <p:sp>
        <p:nvSpPr>
          <p:cNvPr id="26" name="Text 24"/>
          <p:cNvSpPr/>
          <p:nvPr/>
        </p:nvSpPr>
        <p:spPr>
          <a:xfrm>
            <a:off x="1015898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7" name="Text 25"/>
          <p:cNvSpPr/>
          <p:nvPr/>
        </p:nvSpPr>
        <p:spPr>
          <a:xfrm>
            <a:off x="10561320" y="1645920"/>
            <a:ext cx="950976"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DIWA</a:t>
            </a:r>
            <a:endParaRPr lang="en-US" sz="1500" dirty="0"/>
          </a:p>
        </p:txBody>
      </p:sp>
      <p:sp>
        <p:nvSpPr>
          <p:cNvPr id="28" name="Text 26"/>
          <p:cNvSpPr/>
          <p:nvPr/>
        </p:nvSpPr>
        <p:spPr>
          <a:xfrm>
            <a:off x="10177272" y="2002536"/>
            <a:ext cx="1316736" cy="521208"/>
          </a:xfrm>
          <a:prstGeom prst="rect">
            <a:avLst/>
          </a:prstGeom>
          <a:noFill/>
          <a:ln/>
        </p:spPr>
        <p:txBody>
          <a:bodyPr wrap="square" lIns="0" tIns="0" rIns="0" bIns="0" rtlCol="0" anchor="t">
            <a:normAutofit/>
          </a:bodyPr>
          <a:lstStyle/>
          <a:p>
            <a:pPr marL="0" indent="0">
              <a:buNone/>
            </a:pPr>
            <a:r>
              <a:rPr lang="en-US" sz="1050" dirty="0">
                <a:solidFill>
                  <a:srgbClr val="252525"/>
                </a:solidFill>
              </a:rPr>
              <a:t>Datasets</a:t>
            </a:r>
            <a:endParaRPr lang="en-US" sz="1050" dirty="0"/>
          </a:p>
          <a:p>
            <a:pPr marL="0" indent="0">
              <a:buNone/>
            </a:pPr>
            <a:r>
              <a:rPr lang="en-US" sz="1050" dirty="0">
                <a:solidFill>
                  <a:srgbClr val="252525"/>
                </a:solidFill>
              </a:rPr>
              <a:t>widgets</a:t>
            </a:r>
            <a:endParaRPr lang="en-US" sz="1050" dirty="0"/>
          </a:p>
          <a:p>
            <a:pPr marL="0" indent="0">
              <a:buNone/>
            </a:pPr>
            <a:r>
              <a:rPr lang="en-US" sz="1050" dirty="0">
                <a:solidFill>
                  <a:srgbClr val="252525"/>
                </a:solidFill>
              </a:rPr>
              <a:t>CSV reports</a:t>
            </a:r>
            <a:endParaRPr lang="en-US" sz="1050" dirty="0"/>
          </a:p>
        </p:txBody>
      </p:sp>
      <p:sp>
        <p:nvSpPr>
          <p:cNvPr id="29" name="Shape 27"/>
          <p:cNvSpPr/>
          <p:nvPr/>
        </p:nvSpPr>
        <p:spPr>
          <a:xfrm>
            <a:off x="2468880" y="2075688"/>
            <a:ext cx="411480" cy="0"/>
          </a:xfrm>
          <a:prstGeom prst="line">
            <a:avLst/>
          </a:prstGeom>
          <a:noFill/>
          <a:ln w="22860">
            <a:solidFill>
              <a:srgbClr val="D89B2B"/>
            </a:solidFill>
            <a:prstDash val="solid"/>
            <a:headEnd type="none"/>
            <a:tailEnd type="triangle"/>
          </a:ln>
        </p:spPr>
      </p:sp>
      <p:sp>
        <p:nvSpPr>
          <p:cNvPr id="30" name="Shape 28"/>
          <p:cNvSpPr/>
          <p:nvPr/>
        </p:nvSpPr>
        <p:spPr>
          <a:xfrm>
            <a:off x="4846320" y="2075688"/>
            <a:ext cx="411480" cy="0"/>
          </a:xfrm>
          <a:prstGeom prst="line">
            <a:avLst/>
          </a:prstGeom>
          <a:noFill/>
          <a:ln w="22860">
            <a:solidFill>
              <a:srgbClr val="0F766E"/>
            </a:solidFill>
            <a:prstDash val="solid"/>
            <a:headEnd type="none"/>
            <a:tailEnd type="triangle"/>
          </a:ln>
        </p:spPr>
      </p:sp>
      <p:sp>
        <p:nvSpPr>
          <p:cNvPr id="31" name="Shape 29"/>
          <p:cNvSpPr/>
          <p:nvPr/>
        </p:nvSpPr>
        <p:spPr>
          <a:xfrm>
            <a:off x="7223760" y="2075688"/>
            <a:ext cx="411480" cy="0"/>
          </a:xfrm>
          <a:prstGeom prst="line">
            <a:avLst/>
          </a:prstGeom>
          <a:noFill/>
          <a:ln w="22860">
            <a:solidFill>
              <a:srgbClr val="2563EB"/>
            </a:solidFill>
            <a:prstDash val="solid"/>
            <a:headEnd type="none"/>
            <a:tailEnd type="triangle"/>
          </a:ln>
        </p:spPr>
      </p:sp>
      <p:sp>
        <p:nvSpPr>
          <p:cNvPr id="32" name="Shape 30"/>
          <p:cNvSpPr/>
          <p:nvPr/>
        </p:nvSpPr>
        <p:spPr>
          <a:xfrm>
            <a:off x="9601200" y="2075688"/>
            <a:ext cx="411480" cy="0"/>
          </a:xfrm>
          <a:prstGeom prst="line">
            <a:avLst/>
          </a:prstGeom>
          <a:noFill/>
          <a:ln w="22860">
            <a:solidFill>
              <a:srgbClr val="6D28D9"/>
            </a:solidFill>
            <a:prstDash val="solid"/>
            <a:headEnd type="none"/>
            <a:tailEnd type="triangle"/>
          </a:ln>
        </p:spPr>
      </p:sp>
      <p:sp>
        <p:nvSpPr>
          <p:cNvPr id="33" name="Shape 31"/>
          <p:cNvSpPr/>
          <p:nvPr/>
        </p:nvSpPr>
        <p:spPr>
          <a:xfrm>
            <a:off x="502920" y="3063240"/>
            <a:ext cx="11155680" cy="2331720"/>
          </a:xfrm>
          <a:prstGeom prst="roundRect">
            <a:avLst>
              <a:gd name="adj" fmla="val 3137"/>
            </a:avLst>
          </a:prstGeom>
          <a:solidFill>
            <a:srgbClr val="FBFBFB"/>
          </a:solidFill>
          <a:ln w="12700">
            <a:solidFill>
              <a:srgbClr val="D1D5DB"/>
            </a:solidFill>
            <a:prstDash val="solid"/>
          </a:ln>
        </p:spPr>
      </p:sp>
      <p:sp>
        <p:nvSpPr>
          <p:cNvPr id="34" name="Text 32"/>
          <p:cNvSpPr/>
          <p:nvPr/>
        </p:nvSpPr>
        <p:spPr>
          <a:xfrm>
            <a:off x="777240" y="3337560"/>
            <a:ext cx="2788920" cy="228600"/>
          </a:xfrm>
          <a:prstGeom prst="rect">
            <a:avLst/>
          </a:prstGeom>
          <a:noFill/>
          <a:ln/>
        </p:spPr>
        <p:txBody>
          <a:bodyPr wrap="square" lIns="0" tIns="0" rIns="0" bIns="0" rtlCol="0" anchor="ctr"/>
          <a:lstStyle/>
          <a:p>
            <a:pPr marL="0" indent="0">
              <a:buNone/>
            </a:pPr>
            <a:r>
              <a:rPr lang="en-US" sz="1200" b="1" dirty="0">
                <a:solidFill>
                  <a:srgbClr val="B42318"/>
                </a:solidFill>
              </a:rPr>
              <a:t>CURRENT IMPLEMENTATION BOUNDARY</a:t>
            </a:r>
            <a:endParaRPr lang="en-US" sz="1200" dirty="0"/>
          </a:p>
        </p:txBody>
      </p:sp>
      <p:sp>
        <p:nvSpPr>
          <p:cNvPr id="35" name="Text 33"/>
          <p:cNvSpPr/>
          <p:nvPr/>
        </p:nvSpPr>
        <p:spPr>
          <a:xfrm>
            <a:off x="6446520" y="3337560"/>
            <a:ext cx="2834640" cy="228600"/>
          </a:xfrm>
          <a:prstGeom prst="rect">
            <a:avLst/>
          </a:prstGeom>
          <a:noFill/>
          <a:ln/>
        </p:spPr>
        <p:txBody>
          <a:bodyPr wrap="square" lIns="0" tIns="0" rIns="0" bIns="0" rtlCol="0" anchor="ctr"/>
          <a:lstStyle/>
          <a:p>
            <a:pPr marL="0" indent="0">
              <a:buNone/>
            </a:pPr>
            <a:r>
              <a:rPr lang="en-US" sz="1200" b="1" dirty="0">
                <a:solidFill>
                  <a:srgbClr val="0F766E"/>
                </a:solidFill>
              </a:rPr>
              <a:t>TARGET PRODUCTION BOUNDARY</a:t>
            </a:r>
            <a:endParaRPr lang="en-US" sz="1200" dirty="0"/>
          </a:p>
        </p:txBody>
      </p:sp>
      <p:sp>
        <p:nvSpPr>
          <p:cNvPr id="36" name="Shape 34"/>
          <p:cNvSpPr/>
          <p:nvPr/>
        </p:nvSpPr>
        <p:spPr>
          <a:xfrm>
            <a:off x="777240" y="3703320"/>
            <a:ext cx="2468880" cy="1143000"/>
          </a:xfrm>
          <a:prstGeom prst="roundRect">
            <a:avLst>
              <a:gd name="adj" fmla="val 6400"/>
            </a:avLst>
          </a:prstGeom>
          <a:solidFill>
            <a:srgbClr val="FDE8E7"/>
          </a:solidFill>
          <a:ln w="13970">
            <a:solidFill>
              <a:srgbClr val="B42318"/>
            </a:solidFill>
            <a:prstDash val="solid"/>
          </a:ln>
        </p:spPr>
      </p:sp>
      <p:sp>
        <p:nvSpPr>
          <p:cNvPr id="37" name="Text 35"/>
          <p:cNvSpPr/>
          <p:nvPr/>
        </p:nvSpPr>
        <p:spPr>
          <a:xfrm>
            <a:off x="941832" y="3840480"/>
            <a:ext cx="2157984"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Flutter app + Drift SQLite</a:t>
            </a:r>
            <a:endParaRPr lang="en-US" sz="1500" dirty="0"/>
          </a:p>
        </p:txBody>
      </p:sp>
      <p:sp>
        <p:nvSpPr>
          <p:cNvPr id="38" name="Text 36"/>
          <p:cNvSpPr/>
          <p:nvPr/>
        </p:nvSpPr>
        <p:spPr>
          <a:xfrm>
            <a:off x="941832" y="4197096"/>
            <a:ext cx="2139696" cy="521208"/>
          </a:xfrm>
          <a:prstGeom prst="rect">
            <a:avLst/>
          </a:prstGeom>
          <a:noFill/>
          <a:ln/>
        </p:spPr>
        <p:txBody>
          <a:bodyPr wrap="square" lIns="0" tIns="0" rIns="0" bIns="0" rtlCol="0" anchor="t">
            <a:normAutofit/>
          </a:bodyPr>
          <a:lstStyle/>
          <a:p>
            <a:pPr marL="0" indent="0">
              <a:buNone/>
            </a:pPr>
            <a:r>
              <a:rPr lang="en-US" sz="1000" dirty="0">
                <a:solidFill>
                  <a:srgbClr val="252525"/>
                </a:solidFill>
              </a:rPr>
              <a:t>Customer flow and loyalty rules run locally. The “POS” is a simulation inside the scan screen.</a:t>
            </a:r>
            <a:endParaRPr lang="en-US" sz="1000" dirty="0"/>
          </a:p>
        </p:txBody>
      </p:sp>
      <p:sp>
        <p:nvSpPr>
          <p:cNvPr id="39" name="Shape 37"/>
          <p:cNvSpPr/>
          <p:nvPr/>
        </p:nvSpPr>
        <p:spPr>
          <a:xfrm>
            <a:off x="3520440" y="3703320"/>
            <a:ext cx="2331720" cy="1143000"/>
          </a:xfrm>
          <a:prstGeom prst="roundRect">
            <a:avLst>
              <a:gd name="adj" fmla="val 6400"/>
            </a:avLst>
          </a:prstGeom>
          <a:solidFill>
            <a:srgbClr val="FDE8E7"/>
          </a:solidFill>
          <a:ln w="13970">
            <a:solidFill>
              <a:srgbClr val="B42318"/>
            </a:solidFill>
            <a:prstDash val="solid"/>
          </a:ln>
        </p:spPr>
      </p:sp>
      <p:sp>
        <p:nvSpPr>
          <p:cNvPr id="40" name="Text 38"/>
          <p:cNvSpPr/>
          <p:nvPr/>
        </p:nvSpPr>
        <p:spPr>
          <a:xfrm>
            <a:off x="3685032" y="3840480"/>
            <a:ext cx="2020824"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Sync queue</a:t>
            </a:r>
            <a:endParaRPr lang="en-US" sz="1500" dirty="0"/>
          </a:p>
        </p:txBody>
      </p:sp>
      <p:sp>
        <p:nvSpPr>
          <p:cNvPr id="41" name="Text 39"/>
          <p:cNvSpPr/>
          <p:nvPr/>
        </p:nvSpPr>
        <p:spPr>
          <a:xfrm>
            <a:off x="3685032" y="4197096"/>
            <a:ext cx="2002536" cy="521208"/>
          </a:xfrm>
          <a:prstGeom prst="rect">
            <a:avLst/>
          </a:prstGeom>
          <a:noFill/>
          <a:ln/>
        </p:spPr>
        <p:txBody>
          <a:bodyPr wrap="square" lIns="0" tIns="0" rIns="0" bIns="0" rtlCol="0" anchor="t">
            <a:normAutofit/>
          </a:bodyPr>
          <a:lstStyle/>
          <a:p>
            <a:pPr marL="0" indent="0">
              <a:buNone/>
            </a:pPr>
            <a:r>
              <a:rPr lang="en-US" sz="1000" dirty="0">
                <a:solidFill>
                  <a:srgbClr val="252525"/>
                </a:solidFill>
              </a:rPr>
              <a:t>Rows receive pending/synced/syncing/failed status, but upload is deliberately a no-op.</a:t>
            </a:r>
            <a:endParaRPr lang="en-US" sz="1000" dirty="0"/>
          </a:p>
        </p:txBody>
      </p:sp>
      <p:sp>
        <p:nvSpPr>
          <p:cNvPr id="42" name="Shape 40"/>
          <p:cNvSpPr/>
          <p:nvPr/>
        </p:nvSpPr>
        <p:spPr>
          <a:xfrm>
            <a:off x="6446520" y="3703320"/>
            <a:ext cx="2331720" cy="1143000"/>
          </a:xfrm>
          <a:prstGeom prst="roundRect">
            <a:avLst>
              <a:gd name="adj" fmla="val 6400"/>
            </a:avLst>
          </a:prstGeom>
          <a:solidFill>
            <a:srgbClr val="DDF4EF"/>
          </a:solidFill>
          <a:ln w="13970">
            <a:solidFill>
              <a:srgbClr val="0F766E"/>
            </a:solidFill>
            <a:prstDash val="solid"/>
          </a:ln>
        </p:spPr>
      </p:sp>
      <p:sp>
        <p:nvSpPr>
          <p:cNvPr id="43" name="Text 41"/>
          <p:cNvSpPr/>
          <p:nvPr/>
        </p:nvSpPr>
        <p:spPr>
          <a:xfrm>
            <a:off x="6611112" y="3840480"/>
            <a:ext cx="2020824"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Central loyalty service</a:t>
            </a:r>
            <a:endParaRPr lang="en-US" sz="1500" dirty="0"/>
          </a:p>
        </p:txBody>
      </p:sp>
      <p:sp>
        <p:nvSpPr>
          <p:cNvPr id="44" name="Text 42"/>
          <p:cNvSpPr/>
          <p:nvPr/>
        </p:nvSpPr>
        <p:spPr>
          <a:xfrm>
            <a:off x="6611112" y="4197096"/>
            <a:ext cx="2002536" cy="521208"/>
          </a:xfrm>
          <a:prstGeom prst="rect">
            <a:avLst/>
          </a:prstGeom>
          <a:noFill/>
          <a:ln/>
        </p:spPr>
        <p:txBody>
          <a:bodyPr wrap="square" lIns="0" tIns="0" rIns="0" bIns="0" rtlCol="0" anchor="t">
            <a:normAutofit/>
          </a:bodyPr>
          <a:lstStyle/>
          <a:p>
            <a:pPr marL="0" indent="0">
              <a:buNone/>
            </a:pPr>
            <a:r>
              <a:rPr lang="en-US" sz="1000" dirty="0">
                <a:solidFill>
                  <a:srgbClr val="252525"/>
                </a:solidFill>
              </a:rPr>
              <a:t>Required before multiple devices, physical POS terminals, and DIWA can share one source of truth.</a:t>
            </a:r>
            <a:endParaRPr lang="en-US" sz="1000" dirty="0"/>
          </a:p>
        </p:txBody>
      </p:sp>
      <p:sp>
        <p:nvSpPr>
          <p:cNvPr id="45" name="Shape 43"/>
          <p:cNvSpPr/>
          <p:nvPr/>
        </p:nvSpPr>
        <p:spPr>
          <a:xfrm>
            <a:off x="9052560" y="3703320"/>
            <a:ext cx="2331720" cy="1143000"/>
          </a:xfrm>
          <a:prstGeom prst="roundRect">
            <a:avLst>
              <a:gd name="adj" fmla="val 6400"/>
            </a:avLst>
          </a:prstGeom>
          <a:solidFill>
            <a:srgbClr val="F0E9FF"/>
          </a:solidFill>
          <a:ln w="13970">
            <a:solidFill>
              <a:srgbClr val="6D28D9"/>
            </a:solidFill>
            <a:prstDash val="solid"/>
          </a:ln>
        </p:spPr>
      </p:sp>
      <p:sp>
        <p:nvSpPr>
          <p:cNvPr id="46" name="Text 44"/>
          <p:cNvSpPr/>
          <p:nvPr/>
        </p:nvSpPr>
        <p:spPr>
          <a:xfrm>
            <a:off x="9217152" y="3840480"/>
            <a:ext cx="2020824"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DIWA report layer</a:t>
            </a:r>
            <a:endParaRPr lang="en-US" sz="1500" dirty="0"/>
          </a:p>
        </p:txBody>
      </p:sp>
      <p:sp>
        <p:nvSpPr>
          <p:cNvPr id="47" name="Text 45"/>
          <p:cNvSpPr/>
          <p:nvPr/>
        </p:nvSpPr>
        <p:spPr>
          <a:xfrm>
            <a:off x="9217152" y="4197096"/>
            <a:ext cx="2002536" cy="521208"/>
          </a:xfrm>
          <a:prstGeom prst="rect">
            <a:avLst/>
          </a:prstGeom>
          <a:noFill/>
          <a:ln/>
        </p:spPr>
        <p:txBody>
          <a:bodyPr wrap="square" lIns="0" tIns="0" rIns="0" bIns="0" rtlCol="0" anchor="t">
            <a:normAutofit/>
          </a:bodyPr>
          <a:lstStyle/>
          <a:p>
            <a:pPr marL="0" indent="0">
              <a:buNone/>
            </a:pPr>
            <a:r>
              <a:rPr lang="en-US" sz="1000" dirty="0">
                <a:solidFill>
                  <a:srgbClr val="252525"/>
                </a:solidFill>
              </a:rPr>
              <a:t>Already supports allowlisted SQL tables, joins, aggregations, charts, permissions, freshness, and export.</a:t>
            </a:r>
            <a:endParaRPr lang="en-US" sz="1000" dirty="0"/>
          </a:p>
        </p:txBody>
      </p:sp>
      <p:sp>
        <p:nvSpPr>
          <p:cNvPr id="48" name="Text 46"/>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loyalty_campaign/CLAUDE.md L35–44, L92–98, L125–139; diwa/config/reports.php L7–47</a:t>
            </a:r>
            <a:endParaRPr lang="en-US" sz="750" dirty="0"/>
          </a:p>
        </p:txBody>
      </p:sp>
      <p:sp>
        <p:nvSpPr>
          <p:cNvPr id="49"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What exists today—and what must be added</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diagram uses green for implemented, amber for simulated/partial, and red for missing integration.</a:t>
            </a:r>
            <a:endParaRPr lang="en-US" sz="1250" dirty="0"/>
          </a:p>
        </p:txBody>
      </p:sp>
      <p:sp>
        <p:nvSpPr>
          <p:cNvPr id="4" name="Shape 2"/>
          <p:cNvSpPr/>
          <p:nvPr/>
        </p:nvSpPr>
        <p:spPr>
          <a:xfrm>
            <a:off x="640080" y="1371600"/>
            <a:ext cx="10927080" cy="4526280"/>
          </a:xfrm>
          <a:prstGeom prst="roundRect">
            <a:avLst>
              <a:gd name="adj" fmla="val 1616"/>
            </a:avLst>
          </a:prstGeom>
          <a:solidFill>
            <a:srgbClr val="FBFBFB"/>
          </a:solidFill>
          <a:ln w="12700">
            <a:solidFill>
              <a:srgbClr val="D1D5DB"/>
            </a:solidFill>
            <a:prstDash val="solid"/>
          </a:ln>
        </p:spPr>
      </p:sp>
      <p:sp>
        <p:nvSpPr>
          <p:cNvPr id="5" name="Text 3"/>
          <p:cNvSpPr/>
          <p:nvPr/>
        </p:nvSpPr>
        <p:spPr>
          <a:xfrm>
            <a:off x="868680" y="1600200"/>
            <a:ext cx="2057400" cy="219456"/>
          </a:xfrm>
          <a:prstGeom prst="rect">
            <a:avLst/>
          </a:prstGeom>
          <a:noFill/>
          <a:ln/>
        </p:spPr>
        <p:txBody>
          <a:bodyPr wrap="square" lIns="0" tIns="0" rIns="0" bIns="0" rtlCol="0" anchor="ctr"/>
          <a:lstStyle/>
          <a:p>
            <a:pPr marL="0" indent="0">
              <a:buNone/>
            </a:pPr>
            <a:r>
              <a:rPr lang="en-US" sz="1100" b="1" dirty="0">
                <a:solidFill>
                  <a:srgbClr val="6B7280"/>
                </a:solidFill>
              </a:rPr>
              <a:t>Capability</a:t>
            </a:r>
            <a:endParaRPr lang="en-US" sz="1100" dirty="0"/>
          </a:p>
        </p:txBody>
      </p:sp>
      <p:sp>
        <p:nvSpPr>
          <p:cNvPr id="6" name="Text 4"/>
          <p:cNvSpPr/>
          <p:nvPr/>
        </p:nvSpPr>
        <p:spPr>
          <a:xfrm>
            <a:off x="3017520" y="1600200"/>
            <a:ext cx="1417320" cy="219456"/>
          </a:xfrm>
          <a:prstGeom prst="rect">
            <a:avLst/>
          </a:prstGeom>
          <a:noFill/>
          <a:ln/>
        </p:spPr>
        <p:txBody>
          <a:bodyPr wrap="square" lIns="0" tIns="0" rIns="0" bIns="0" rtlCol="0" anchor="ctr"/>
          <a:lstStyle/>
          <a:p>
            <a:pPr marL="0" indent="0">
              <a:buNone/>
            </a:pPr>
            <a:r>
              <a:rPr lang="en-US" sz="1100" b="1" dirty="0">
                <a:solidFill>
                  <a:srgbClr val="6B7280"/>
                </a:solidFill>
              </a:rPr>
              <a:t>Status</a:t>
            </a:r>
            <a:endParaRPr lang="en-US" sz="1100" dirty="0"/>
          </a:p>
        </p:txBody>
      </p:sp>
      <p:sp>
        <p:nvSpPr>
          <p:cNvPr id="7" name="Text 5"/>
          <p:cNvSpPr/>
          <p:nvPr/>
        </p:nvSpPr>
        <p:spPr>
          <a:xfrm>
            <a:off x="4572000" y="1600200"/>
            <a:ext cx="6355080" cy="219456"/>
          </a:xfrm>
          <a:prstGeom prst="rect">
            <a:avLst/>
          </a:prstGeom>
          <a:noFill/>
          <a:ln/>
        </p:spPr>
        <p:txBody>
          <a:bodyPr wrap="square" lIns="0" tIns="0" rIns="0" bIns="0" rtlCol="0" anchor="ctr"/>
          <a:lstStyle/>
          <a:p>
            <a:pPr marL="0" indent="0">
              <a:buNone/>
            </a:pPr>
            <a:r>
              <a:rPr lang="en-US" sz="1100" b="1" dirty="0">
                <a:solidFill>
                  <a:srgbClr val="6B7280"/>
                </a:solidFill>
              </a:rPr>
              <a:t>Code-grounded meaning</a:t>
            </a:r>
            <a:endParaRPr lang="en-US" sz="1100" dirty="0"/>
          </a:p>
        </p:txBody>
      </p:sp>
      <p:sp>
        <p:nvSpPr>
          <p:cNvPr id="8" name="Shape 6"/>
          <p:cNvSpPr/>
          <p:nvPr/>
        </p:nvSpPr>
        <p:spPr>
          <a:xfrm>
            <a:off x="786384" y="1837944"/>
            <a:ext cx="10625328" cy="420624"/>
          </a:xfrm>
          <a:prstGeom prst="rect">
            <a:avLst/>
          </a:prstGeom>
          <a:solidFill>
            <a:srgbClr val="FFFFFF"/>
          </a:solidFill>
          <a:ln w="12700">
            <a:solidFill>
              <a:srgbClr val="FFFFFF"/>
            </a:solidFill>
            <a:prstDash val="solid"/>
          </a:ln>
        </p:spPr>
      </p:sp>
      <p:sp>
        <p:nvSpPr>
          <p:cNvPr id="9" name="Text 7"/>
          <p:cNvSpPr/>
          <p:nvPr/>
        </p:nvSpPr>
        <p:spPr>
          <a:xfrm>
            <a:off x="877824" y="1901952"/>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Customer login</a:t>
            </a:r>
            <a:endParaRPr lang="en-US" sz="1050" dirty="0"/>
          </a:p>
        </p:txBody>
      </p:sp>
      <p:sp>
        <p:nvSpPr>
          <p:cNvPr id="10" name="Shape 8"/>
          <p:cNvSpPr/>
          <p:nvPr/>
        </p:nvSpPr>
        <p:spPr>
          <a:xfrm>
            <a:off x="2971800" y="1828800"/>
            <a:ext cx="1508760" cy="310896"/>
          </a:xfrm>
          <a:prstGeom prst="roundRect">
            <a:avLst>
              <a:gd name="adj" fmla="val 23529"/>
            </a:avLst>
          </a:prstGeom>
          <a:solidFill>
            <a:srgbClr val="E8F7ED"/>
          </a:solidFill>
          <a:ln w="12700">
            <a:solidFill>
              <a:srgbClr val="E8F7ED"/>
            </a:solidFill>
            <a:prstDash val="solid"/>
          </a:ln>
        </p:spPr>
      </p:sp>
      <p:sp>
        <p:nvSpPr>
          <p:cNvPr id="11" name="Text 9"/>
          <p:cNvSpPr/>
          <p:nvPr/>
        </p:nvSpPr>
        <p:spPr>
          <a:xfrm>
            <a:off x="3044952" y="1892808"/>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IMPLEMENTED</a:t>
            </a:r>
            <a:endParaRPr lang="en-US" sz="950" dirty="0"/>
          </a:p>
        </p:txBody>
      </p:sp>
      <p:sp>
        <p:nvSpPr>
          <p:cNvPr id="12" name="Text 10"/>
          <p:cNvSpPr/>
          <p:nvPr/>
        </p:nvSpPr>
        <p:spPr>
          <a:xfrm>
            <a:off x="4617720" y="1892808"/>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POST /api/login with offline fallback; OTP/biometric are device-local post-login steps</a:t>
            </a:r>
            <a:endParaRPr lang="en-US" sz="950" dirty="0"/>
          </a:p>
        </p:txBody>
      </p:sp>
      <p:sp>
        <p:nvSpPr>
          <p:cNvPr id="13" name="Text 11"/>
          <p:cNvSpPr/>
          <p:nvPr/>
        </p:nvSpPr>
        <p:spPr>
          <a:xfrm>
            <a:off x="877824" y="2368296"/>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Campaign catalogue</a:t>
            </a:r>
            <a:endParaRPr lang="en-US" sz="1050" dirty="0"/>
          </a:p>
        </p:txBody>
      </p:sp>
      <p:sp>
        <p:nvSpPr>
          <p:cNvPr id="14" name="Shape 12"/>
          <p:cNvSpPr/>
          <p:nvPr/>
        </p:nvSpPr>
        <p:spPr>
          <a:xfrm>
            <a:off x="2971800" y="2295144"/>
            <a:ext cx="1508760" cy="310896"/>
          </a:xfrm>
          <a:prstGeom prst="roundRect">
            <a:avLst>
              <a:gd name="adj" fmla="val 23529"/>
            </a:avLst>
          </a:prstGeom>
          <a:solidFill>
            <a:srgbClr val="E8F7ED"/>
          </a:solidFill>
          <a:ln w="12700">
            <a:solidFill>
              <a:srgbClr val="E8F7ED"/>
            </a:solidFill>
            <a:prstDash val="solid"/>
          </a:ln>
        </p:spPr>
      </p:sp>
      <p:sp>
        <p:nvSpPr>
          <p:cNvPr id="15" name="Text 13"/>
          <p:cNvSpPr/>
          <p:nvPr/>
        </p:nvSpPr>
        <p:spPr>
          <a:xfrm>
            <a:off x="3044952" y="2359152"/>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IMPLEMENTED</a:t>
            </a:r>
            <a:endParaRPr lang="en-US" sz="950" dirty="0"/>
          </a:p>
        </p:txBody>
      </p:sp>
      <p:sp>
        <p:nvSpPr>
          <p:cNvPr id="16" name="Text 14"/>
          <p:cNvSpPr/>
          <p:nvPr/>
        </p:nvSpPr>
        <p:spPr>
          <a:xfrm>
            <a:off x="4617720" y="2359152"/>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Active campaigns, tags, expiry, eligible product codes, progress and terms</a:t>
            </a:r>
            <a:endParaRPr lang="en-US" sz="950" dirty="0"/>
          </a:p>
        </p:txBody>
      </p:sp>
      <p:sp>
        <p:nvSpPr>
          <p:cNvPr id="17" name="Shape 15"/>
          <p:cNvSpPr/>
          <p:nvPr/>
        </p:nvSpPr>
        <p:spPr>
          <a:xfrm>
            <a:off x="786384" y="2770632"/>
            <a:ext cx="10625328" cy="420624"/>
          </a:xfrm>
          <a:prstGeom prst="rect">
            <a:avLst/>
          </a:prstGeom>
          <a:solidFill>
            <a:srgbClr val="FFFFFF"/>
          </a:solidFill>
          <a:ln w="12700">
            <a:solidFill>
              <a:srgbClr val="FFFFFF"/>
            </a:solidFill>
            <a:prstDash val="solid"/>
          </a:ln>
        </p:spPr>
      </p:sp>
      <p:sp>
        <p:nvSpPr>
          <p:cNvPr id="18" name="Text 16"/>
          <p:cNvSpPr/>
          <p:nvPr/>
        </p:nvSpPr>
        <p:spPr>
          <a:xfrm>
            <a:off x="877824" y="2834640"/>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QR token</a:t>
            </a:r>
            <a:endParaRPr lang="en-US" sz="1050" dirty="0"/>
          </a:p>
        </p:txBody>
      </p:sp>
      <p:sp>
        <p:nvSpPr>
          <p:cNvPr id="19" name="Shape 17"/>
          <p:cNvSpPr/>
          <p:nvPr/>
        </p:nvSpPr>
        <p:spPr>
          <a:xfrm>
            <a:off x="2971800" y="2761488"/>
            <a:ext cx="1508760" cy="310896"/>
          </a:xfrm>
          <a:prstGeom prst="roundRect">
            <a:avLst>
              <a:gd name="adj" fmla="val 23529"/>
            </a:avLst>
          </a:prstGeom>
          <a:solidFill>
            <a:srgbClr val="E8F7ED"/>
          </a:solidFill>
          <a:ln w="12700">
            <a:solidFill>
              <a:srgbClr val="E8F7ED"/>
            </a:solidFill>
            <a:prstDash val="solid"/>
          </a:ln>
        </p:spPr>
      </p:sp>
      <p:sp>
        <p:nvSpPr>
          <p:cNvPr id="20" name="Text 18"/>
          <p:cNvSpPr/>
          <p:nvPr/>
        </p:nvSpPr>
        <p:spPr>
          <a:xfrm>
            <a:off x="3044952" y="2825496"/>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IMPLEMENTED</a:t>
            </a:r>
            <a:endParaRPr lang="en-US" sz="950" dirty="0"/>
          </a:p>
        </p:txBody>
      </p:sp>
      <p:sp>
        <p:nvSpPr>
          <p:cNvPr id="21" name="Text 19"/>
          <p:cNvSpPr/>
          <p:nvPr/>
        </p:nvSpPr>
        <p:spPr>
          <a:xfrm>
            <a:off x="4617720" y="2825496"/>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SC-&lt;member&gt;-&lt;random&gt;; rotates every 30 seconds</a:t>
            </a:r>
            <a:endParaRPr lang="en-US" sz="950" dirty="0"/>
          </a:p>
        </p:txBody>
      </p:sp>
      <p:sp>
        <p:nvSpPr>
          <p:cNvPr id="22" name="Text 20"/>
          <p:cNvSpPr/>
          <p:nvPr/>
        </p:nvSpPr>
        <p:spPr>
          <a:xfrm>
            <a:off x="877824" y="3300984"/>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POS scan</a:t>
            </a:r>
            <a:endParaRPr lang="en-US" sz="1050" dirty="0"/>
          </a:p>
        </p:txBody>
      </p:sp>
      <p:sp>
        <p:nvSpPr>
          <p:cNvPr id="23" name="Shape 21"/>
          <p:cNvSpPr/>
          <p:nvPr/>
        </p:nvSpPr>
        <p:spPr>
          <a:xfrm>
            <a:off x="2971800" y="3227832"/>
            <a:ext cx="1508760" cy="310896"/>
          </a:xfrm>
          <a:prstGeom prst="roundRect">
            <a:avLst>
              <a:gd name="adj" fmla="val 23529"/>
            </a:avLst>
          </a:prstGeom>
          <a:solidFill>
            <a:srgbClr val="FFF8EF"/>
          </a:solidFill>
          <a:ln w="12700">
            <a:solidFill>
              <a:srgbClr val="FFF8EF"/>
            </a:solidFill>
            <a:prstDash val="solid"/>
          </a:ln>
        </p:spPr>
      </p:sp>
      <p:sp>
        <p:nvSpPr>
          <p:cNvPr id="24" name="Text 22"/>
          <p:cNvSpPr/>
          <p:nvPr/>
        </p:nvSpPr>
        <p:spPr>
          <a:xfrm>
            <a:off x="3044952" y="3291840"/>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D89B2B"/>
                </a:solidFill>
              </a:rPr>
              <a:t>SIMULATED</a:t>
            </a:r>
            <a:endParaRPr lang="en-US" sz="950" dirty="0"/>
          </a:p>
        </p:txBody>
      </p:sp>
      <p:sp>
        <p:nvSpPr>
          <p:cNvPr id="25" name="Text 23"/>
          <p:cNvSpPr/>
          <p:nvPr/>
        </p:nvSpPr>
        <p:spPr>
          <a:xfrm>
            <a:off x="4617720" y="3291840"/>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Same Flutter screen chooses campaign/product and calls earnStamp locally</a:t>
            </a:r>
            <a:endParaRPr lang="en-US" sz="950" dirty="0"/>
          </a:p>
        </p:txBody>
      </p:sp>
      <p:sp>
        <p:nvSpPr>
          <p:cNvPr id="26" name="Shape 24"/>
          <p:cNvSpPr/>
          <p:nvPr/>
        </p:nvSpPr>
        <p:spPr>
          <a:xfrm>
            <a:off x="786384" y="3703320"/>
            <a:ext cx="10625328" cy="420624"/>
          </a:xfrm>
          <a:prstGeom prst="rect">
            <a:avLst/>
          </a:prstGeom>
          <a:solidFill>
            <a:srgbClr val="FFFFFF"/>
          </a:solidFill>
          <a:ln w="12700">
            <a:solidFill>
              <a:srgbClr val="FFFFFF"/>
            </a:solidFill>
            <a:prstDash val="solid"/>
          </a:ln>
        </p:spPr>
      </p:sp>
      <p:sp>
        <p:nvSpPr>
          <p:cNvPr id="27" name="Text 25"/>
          <p:cNvSpPr/>
          <p:nvPr/>
        </p:nvSpPr>
        <p:spPr>
          <a:xfrm>
            <a:off x="877824" y="3767328"/>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Earn/redeem rules</a:t>
            </a:r>
            <a:endParaRPr lang="en-US" sz="1050" dirty="0"/>
          </a:p>
        </p:txBody>
      </p:sp>
      <p:sp>
        <p:nvSpPr>
          <p:cNvPr id="28" name="Shape 26"/>
          <p:cNvSpPr/>
          <p:nvPr/>
        </p:nvSpPr>
        <p:spPr>
          <a:xfrm>
            <a:off x="2971800" y="3694176"/>
            <a:ext cx="1508760" cy="310896"/>
          </a:xfrm>
          <a:prstGeom prst="roundRect">
            <a:avLst>
              <a:gd name="adj" fmla="val 23529"/>
            </a:avLst>
          </a:prstGeom>
          <a:solidFill>
            <a:srgbClr val="E8F7ED"/>
          </a:solidFill>
          <a:ln w="12700">
            <a:solidFill>
              <a:srgbClr val="E8F7ED"/>
            </a:solidFill>
            <a:prstDash val="solid"/>
          </a:ln>
        </p:spPr>
      </p:sp>
      <p:sp>
        <p:nvSpPr>
          <p:cNvPr id="29" name="Text 27"/>
          <p:cNvSpPr/>
          <p:nvPr/>
        </p:nvSpPr>
        <p:spPr>
          <a:xfrm>
            <a:off x="3044952" y="3758184"/>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IMPLEMENTED</a:t>
            </a:r>
            <a:endParaRPr lang="en-US" sz="950" dirty="0"/>
          </a:p>
        </p:txBody>
      </p:sp>
      <p:sp>
        <p:nvSpPr>
          <p:cNvPr id="30" name="Text 28"/>
          <p:cNvSpPr/>
          <p:nvPr/>
        </p:nvSpPr>
        <p:spPr>
          <a:xfrm>
            <a:off x="4617720" y="3758184"/>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Drift transaction validates campaign/card/token and writes ledger</a:t>
            </a:r>
            <a:endParaRPr lang="en-US" sz="950" dirty="0"/>
          </a:p>
        </p:txBody>
      </p:sp>
      <p:sp>
        <p:nvSpPr>
          <p:cNvPr id="31" name="Text 29"/>
          <p:cNvSpPr/>
          <p:nvPr/>
        </p:nvSpPr>
        <p:spPr>
          <a:xfrm>
            <a:off x="877824" y="4233672"/>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Cloud upload</a:t>
            </a:r>
            <a:endParaRPr lang="en-US" sz="1050" dirty="0"/>
          </a:p>
        </p:txBody>
      </p:sp>
      <p:sp>
        <p:nvSpPr>
          <p:cNvPr id="32" name="Shape 30"/>
          <p:cNvSpPr/>
          <p:nvPr/>
        </p:nvSpPr>
        <p:spPr>
          <a:xfrm>
            <a:off x="2971800" y="4160520"/>
            <a:ext cx="1508760" cy="310896"/>
          </a:xfrm>
          <a:prstGeom prst="roundRect">
            <a:avLst>
              <a:gd name="adj" fmla="val 23529"/>
            </a:avLst>
          </a:prstGeom>
          <a:solidFill>
            <a:srgbClr val="FDE8E7"/>
          </a:solidFill>
          <a:ln w="12700">
            <a:solidFill>
              <a:srgbClr val="FDE8E7"/>
            </a:solidFill>
            <a:prstDash val="solid"/>
          </a:ln>
        </p:spPr>
      </p:sp>
      <p:sp>
        <p:nvSpPr>
          <p:cNvPr id="33" name="Text 31"/>
          <p:cNvSpPr/>
          <p:nvPr/>
        </p:nvSpPr>
        <p:spPr>
          <a:xfrm>
            <a:off x="3044952" y="4224528"/>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B42318"/>
                </a:solidFill>
              </a:rPr>
              <a:t>NOT WIRED</a:t>
            </a:r>
            <a:endParaRPr lang="en-US" sz="950" dirty="0"/>
          </a:p>
        </p:txBody>
      </p:sp>
      <p:sp>
        <p:nvSpPr>
          <p:cNvPr id="34" name="Text 32"/>
          <p:cNvSpPr/>
          <p:nvPr/>
        </p:nvSpPr>
        <p:spPr>
          <a:xfrm>
            <a:off x="4617720" y="4224528"/>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SyncManager only counts pending rows; loyalty API endpoints do not exist</a:t>
            </a:r>
            <a:endParaRPr lang="en-US" sz="950" dirty="0"/>
          </a:p>
        </p:txBody>
      </p:sp>
      <p:sp>
        <p:nvSpPr>
          <p:cNvPr id="35" name="Shape 33"/>
          <p:cNvSpPr/>
          <p:nvPr/>
        </p:nvSpPr>
        <p:spPr>
          <a:xfrm>
            <a:off x="786384" y="4636008"/>
            <a:ext cx="10625328" cy="420624"/>
          </a:xfrm>
          <a:prstGeom prst="rect">
            <a:avLst/>
          </a:prstGeom>
          <a:solidFill>
            <a:srgbClr val="FFFFFF"/>
          </a:solidFill>
          <a:ln w="12700">
            <a:solidFill>
              <a:srgbClr val="FFFFFF"/>
            </a:solidFill>
            <a:prstDash val="solid"/>
          </a:ln>
        </p:spPr>
      </p:sp>
      <p:sp>
        <p:nvSpPr>
          <p:cNvPr id="36" name="Text 34"/>
          <p:cNvSpPr/>
          <p:nvPr/>
        </p:nvSpPr>
        <p:spPr>
          <a:xfrm>
            <a:off x="877824" y="4700016"/>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Azure SQL</a:t>
            </a:r>
            <a:endParaRPr lang="en-US" sz="1050" dirty="0"/>
          </a:p>
        </p:txBody>
      </p:sp>
      <p:sp>
        <p:nvSpPr>
          <p:cNvPr id="37" name="Shape 35"/>
          <p:cNvSpPr/>
          <p:nvPr/>
        </p:nvSpPr>
        <p:spPr>
          <a:xfrm>
            <a:off x="2971800" y="4626864"/>
            <a:ext cx="1508760" cy="310896"/>
          </a:xfrm>
          <a:prstGeom prst="roundRect">
            <a:avLst>
              <a:gd name="adj" fmla="val 23529"/>
            </a:avLst>
          </a:prstGeom>
          <a:solidFill>
            <a:srgbClr val="FDE8E7"/>
          </a:solidFill>
          <a:ln w="12700">
            <a:solidFill>
              <a:srgbClr val="FDE8E7"/>
            </a:solidFill>
            <a:prstDash val="solid"/>
          </a:ln>
        </p:spPr>
      </p:sp>
      <p:sp>
        <p:nvSpPr>
          <p:cNvPr id="38" name="Text 36"/>
          <p:cNvSpPr/>
          <p:nvPr/>
        </p:nvSpPr>
        <p:spPr>
          <a:xfrm>
            <a:off x="3044952" y="4690872"/>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B42318"/>
                </a:solidFill>
              </a:rPr>
              <a:t>NOT WIRED</a:t>
            </a:r>
            <a:endParaRPr lang="en-US" sz="950" dirty="0"/>
          </a:p>
        </p:txBody>
      </p:sp>
      <p:sp>
        <p:nvSpPr>
          <p:cNvPr id="39" name="Text 37"/>
          <p:cNvSpPr/>
          <p:nvPr/>
        </p:nvSpPr>
        <p:spPr>
          <a:xfrm>
            <a:off x="4617720" y="4690872"/>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Datasource is a Phase 1 stub; migration mirrors RBAC only</a:t>
            </a:r>
            <a:endParaRPr lang="en-US" sz="950" dirty="0"/>
          </a:p>
        </p:txBody>
      </p:sp>
      <p:sp>
        <p:nvSpPr>
          <p:cNvPr id="40" name="Text 38"/>
          <p:cNvSpPr/>
          <p:nvPr/>
        </p:nvSpPr>
        <p:spPr>
          <a:xfrm>
            <a:off x="877824" y="5166360"/>
            <a:ext cx="2011680" cy="182880"/>
          </a:xfrm>
          <a:prstGeom prst="rect">
            <a:avLst/>
          </a:prstGeom>
          <a:noFill/>
          <a:ln/>
        </p:spPr>
        <p:txBody>
          <a:bodyPr wrap="square" lIns="0" tIns="0" rIns="0" bIns="0" rtlCol="0" anchor="ctr">
            <a:normAutofit/>
          </a:bodyPr>
          <a:lstStyle/>
          <a:p>
            <a:pPr marL="0" indent="0">
              <a:buNone/>
            </a:pPr>
            <a:r>
              <a:rPr lang="en-US" sz="1050" b="1" dirty="0">
                <a:solidFill>
                  <a:srgbClr val="252525"/>
                </a:solidFill>
              </a:rPr>
              <a:t>DIWA loyalty dataset</a:t>
            </a:r>
            <a:endParaRPr lang="en-US" sz="1050" dirty="0"/>
          </a:p>
        </p:txBody>
      </p:sp>
      <p:sp>
        <p:nvSpPr>
          <p:cNvPr id="41" name="Shape 39"/>
          <p:cNvSpPr/>
          <p:nvPr/>
        </p:nvSpPr>
        <p:spPr>
          <a:xfrm>
            <a:off x="2971800" y="5093208"/>
            <a:ext cx="1508760" cy="310896"/>
          </a:xfrm>
          <a:prstGeom prst="roundRect">
            <a:avLst>
              <a:gd name="adj" fmla="val 23529"/>
            </a:avLst>
          </a:prstGeom>
          <a:solidFill>
            <a:srgbClr val="FDE8E7"/>
          </a:solidFill>
          <a:ln w="12700">
            <a:solidFill>
              <a:srgbClr val="FDE8E7"/>
            </a:solidFill>
            <a:prstDash val="solid"/>
          </a:ln>
        </p:spPr>
      </p:sp>
      <p:sp>
        <p:nvSpPr>
          <p:cNvPr id="42" name="Text 40"/>
          <p:cNvSpPr/>
          <p:nvPr/>
        </p:nvSpPr>
        <p:spPr>
          <a:xfrm>
            <a:off x="3044952" y="5157216"/>
            <a:ext cx="1362456" cy="146304"/>
          </a:xfrm>
          <a:prstGeom prst="rect">
            <a:avLst/>
          </a:prstGeom>
          <a:noFill/>
          <a:ln/>
        </p:spPr>
        <p:txBody>
          <a:bodyPr wrap="square" lIns="0" tIns="0" rIns="0" bIns="0" rtlCol="0" anchor="ctr">
            <a:normAutofit/>
          </a:bodyPr>
          <a:lstStyle/>
          <a:p>
            <a:pPr marL="0" indent="0" algn="ctr">
              <a:buNone/>
            </a:pPr>
            <a:r>
              <a:rPr lang="en-US" sz="950" b="1" dirty="0">
                <a:solidFill>
                  <a:srgbClr val="B42318"/>
                </a:solidFill>
              </a:rPr>
              <a:t>NOT CONFIGURED</a:t>
            </a:r>
            <a:endParaRPr lang="en-US" sz="950" dirty="0"/>
          </a:p>
        </p:txBody>
      </p:sp>
      <p:sp>
        <p:nvSpPr>
          <p:cNvPr id="43" name="Text 41"/>
          <p:cNvSpPr/>
          <p:nvPr/>
        </p:nvSpPr>
        <p:spPr>
          <a:xfrm>
            <a:off x="4617720" y="5157216"/>
            <a:ext cx="6446520" cy="256032"/>
          </a:xfrm>
          <a:prstGeom prst="rect">
            <a:avLst/>
          </a:prstGeom>
          <a:noFill/>
          <a:ln/>
        </p:spPr>
        <p:txBody>
          <a:bodyPr wrap="square" lIns="0" tIns="0" rIns="0" bIns="0" rtlCol="0" anchor="ctr">
            <a:normAutofit/>
          </a:bodyPr>
          <a:lstStyle/>
          <a:p>
            <a:pPr marL="0" indent="0">
              <a:buNone/>
            </a:pPr>
            <a:r>
              <a:rPr lang="en-US" sz="950" dirty="0">
                <a:solidFill>
                  <a:srgbClr val="252525"/>
                </a:solidFill>
              </a:rPr>
              <a:t>Default allowlist contains sales transaction tables—not loyalty tables</a:t>
            </a:r>
            <a:endParaRPr lang="en-US" sz="950" dirty="0"/>
          </a:p>
        </p:txBody>
      </p:sp>
      <p:sp>
        <p:nvSpPr>
          <p:cNvPr id="44" name="Text 42"/>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loyalty_campaign/docs/knowledge/Data-Flows.md; SupabaseSyncDatasource; SyncManager; diwa/ReportAllowedTableSeeder.php</a:t>
            </a:r>
            <a:endParaRPr lang="en-US" sz="750" dirty="0"/>
          </a:p>
        </p:txBody>
      </p:sp>
      <p:sp>
        <p:nvSpPr>
          <p:cNvPr id="45"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Customer journey: start → discover → earn → redeem</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member experience is already implemented locally in the Flutter application.</a:t>
            </a:r>
            <a:endParaRPr lang="en-US" sz="1250" dirty="0"/>
          </a:p>
        </p:txBody>
      </p:sp>
      <p:sp>
        <p:nvSpPr>
          <p:cNvPr id="4" name="Shape 2"/>
          <p:cNvSpPr/>
          <p:nvPr/>
        </p:nvSpPr>
        <p:spPr>
          <a:xfrm>
            <a:off x="640080" y="1417320"/>
            <a:ext cx="347472" cy="347472"/>
          </a:xfrm>
          <a:prstGeom prst="ellipse">
            <a:avLst/>
          </a:prstGeom>
          <a:solidFill>
            <a:srgbClr val="D89B2B"/>
          </a:solidFill>
          <a:ln w="12700">
            <a:solidFill>
              <a:srgbClr val="D89B2B"/>
            </a:solidFill>
            <a:prstDash val="solid"/>
          </a:ln>
        </p:spPr>
      </p:sp>
      <p:sp>
        <p:nvSpPr>
          <p:cNvPr id="5" name="Text 3"/>
          <p:cNvSpPr/>
          <p:nvPr/>
        </p:nvSpPr>
        <p:spPr>
          <a:xfrm>
            <a:off x="64008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6" name="Shape 4"/>
          <p:cNvSpPr/>
          <p:nvPr/>
        </p:nvSpPr>
        <p:spPr>
          <a:xfrm>
            <a:off x="1078992" y="1344168"/>
            <a:ext cx="2148840" cy="1325880"/>
          </a:xfrm>
          <a:prstGeom prst="roundRect">
            <a:avLst>
              <a:gd name="adj" fmla="val 5517"/>
            </a:avLst>
          </a:prstGeom>
          <a:solidFill>
            <a:srgbClr val="FFF8EF"/>
          </a:solidFill>
          <a:ln w="13970">
            <a:solidFill>
              <a:srgbClr val="D89B2B"/>
            </a:solidFill>
            <a:prstDash val="solid"/>
          </a:ln>
        </p:spPr>
      </p:sp>
      <p:sp>
        <p:nvSpPr>
          <p:cNvPr id="7" name="Text 5"/>
          <p:cNvSpPr/>
          <p:nvPr/>
        </p:nvSpPr>
        <p:spPr>
          <a:xfrm>
            <a:off x="1243584" y="14813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Sign in</a:t>
            </a:r>
            <a:endParaRPr lang="en-US" sz="1300" dirty="0"/>
          </a:p>
        </p:txBody>
      </p:sp>
      <p:sp>
        <p:nvSpPr>
          <p:cNvPr id="8" name="Text 6"/>
          <p:cNvSpPr/>
          <p:nvPr/>
        </p:nvSpPr>
        <p:spPr>
          <a:xfrm>
            <a:off x="1243584" y="18379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Remote-first login; cached bcrypt fallback when network is unavailable.</a:t>
            </a:r>
            <a:endParaRPr lang="en-US" sz="950" dirty="0"/>
          </a:p>
        </p:txBody>
      </p:sp>
      <p:sp>
        <p:nvSpPr>
          <p:cNvPr id="9" name="Shape 7"/>
          <p:cNvSpPr/>
          <p:nvPr/>
        </p:nvSpPr>
        <p:spPr>
          <a:xfrm>
            <a:off x="3227832" y="1984248"/>
            <a:ext cx="182880" cy="0"/>
          </a:xfrm>
          <a:prstGeom prst="line">
            <a:avLst/>
          </a:prstGeom>
          <a:noFill/>
          <a:ln w="22860">
            <a:solidFill>
              <a:srgbClr val="D89B2B"/>
            </a:solidFill>
            <a:prstDash val="solid"/>
            <a:headEnd type="none"/>
            <a:tailEnd type="triangle"/>
          </a:ln>
        </p:spPr>
      </p:sp>
      <p:sp>
        <p:nvSpPr>
          <p:cNvPr id="10" name="Shape 8"/>
          <p:cNvSpPr/>
          <p:nvPr/>
        </p:nvSpPr>
        <p:spPr>
          <a:xfrm>
            <a:off x="3429000" y="1417320"/>
            <a:ext cx="347472" cy="347472"/>
          </a:xfrm>
          <a:prstGeom prst="ellipse">
            <a:avLst/>
          </a:prstGeom>
          <a:solidFill>
            <a:srgbClr val="D89B2B"/>
          </a:solidFill>
          <a:ln w="12700">
            <a:solidFill>
              <a:srgbClr val="D89B2B"/>
            </a:solidFill>
            <a:prstDash val="solid"/>
          </a:ln>
        </p:spPr>
      </p:sp>
      <p:sp>
        <p:nvSpPr>
          <p:cNvPr id="11" name="Text 9"/>
          <p:cNvSpPr/>
          <p:nvPr/>
        </p:nvSpPr>
        <p:spPr>
          <a:xfrm>
            <a:off x="342900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2" name="Shape 10"/>
          <p:cNvSpPr/>
          <p:nvPr/>
        </p:nvSpPr>
        <p:spPr>
          <a:xfrm>
            <a:off x="3867912" y="1344168"/>
            <a:ext cx="2148840" cy="1325880"/>
          </a:xfrm>
          <a:prstGeom prst="roundRect">
            <a:avLst>
              <a:gd name="adj" fmla="val 5517"/>
            </a:avLst>
          </a:prstGeom>
          <a:solidFill>
            <a:srgbClr val="FFF8EF"/>
          </a:solidFill>
          <a:ln w="13970">
            <a:solidFill>
              <a:srgbClr val="D89B2B"/>
            </a:solidFill>
            <a:prstDash val="solid"/>
          </a:ln>
        </p:spPr>
      </p:sp>
      <p:sp>
        <p:nvSpPr>
          <p:cNvPr id="13" name="Text 11"/>
          <p:cNvSpPr/>
          <p:nvPr/>
        </p:nvSpPr>
        <p:spPr>
          <a:xfrm>
            <a:off x="4032504" y="14813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Verify</a:t>
            </a:r>
            <a:endParaRPr lang="en-US" sz="1300" dirty="0"/>
          </a:p>
        </p:txBody>
      </p:sp>
      <p:sp>
        <p:nvSpPr>
          <p:cNvPr id="14" name="Text 12"/>
          <p:cNvSpPr/>
          <p:nvPr/>
        </p:nvSpPr>
        <p:spPr>
          <a:xfrm>
            <a:off x="4032504" y="18379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OTP screen then optional biometric prompt; router blocks app until complete.</a:t>
            </a:r>
            <a:endParaRPr lang="en-US" sz="950" dirty="0"/>
          </a:p>
        </p:txBody>
      </p:sp>
      <p:sp>
        <p:nvSpPr>
          <p:cNvPr id="15" name="Shape 13"/>
          <p:cNvSpPr/>
          <p:nvPr/>
        </p:nvSpPr>
        <p:spPr>
          <a:xfrm>
            <a:off x="6016752" y="1984248"/>
            <a:ext cx="182880" cy="0"/>
          </a:xfrm>
          <a:prstGeom prst="line">
            <a:avLst/>
          </a:prstGeom>
          <a:noFill/>
          <a:ln w="22860">
            <a:solidFill>
              <a:srgbClr val="D89B2B"/>
            </a:solidFill>
            <a:prstDash val="solid"/>
            <a:headEnd type="none"/>
            <a:tailEnd type="triangle"/>
          </a:ln>
        </p:spPr>
      </p:sp>
      <p:sp>
        <p:nvSpPr>
          <p:cNvPr id="16" name="Shape 14"/>
          <p:cNvSpPr/>
          <p:nvPr/>
        </p:nvSpPr>
        <p:spPr>
          <a:xfrm>
            <a:off x="6217920" y="1417320"/>
            <a:ext cx="347472" cy="347472"/>
          </a:xfrm>
          <a:prstGeom prst="ellipse">
            <a:avLst/>
          </a:prstGeom>
          <a:solidFill>
            <a:srgbClr val="D89B2B"/>
          </a:solidFill>
          <a:ln w="12700">
            <a:solidFill>
              <a:srgbClr val="D89B2B"/>
            </a:solidFill>
            <a:prstDash val="solid"/>
          </a:ln>
        </p:spPr>
      </p:sp>
      <p:sp>
        <p:nvSpPr>
          <p:cNvPr id="17" name="Text 15"/>
          <p:cNvSpPr/>
          <p:nvPr/>
        </p:nvSpPr>
        <p:spPr>
          <a:xfrm>
            <a:off x="621792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8" name="Shape 16"/>
          <p:cNvSpPr/>
          <p:nvPr/>
        </p:nvSpPr>
        <p:spPr>
          <a:xfrm>
            <a:off x="6656832" y="1344168"/>
            <a:ext cx="2148840" cy="1325880"/>
          </a:xfrm>
          <a:prstGeom prst="roundRect">
            <a:avLst>
              <a:gd name="adj" fmla="val 5517"/>
            </a:avLst>
          </a:prstGeom>
          <a:solidFill>
            <a:srgbClr val="FFF8EF"/>
          </a:solidFill>
          <a:ln w="13970">
            <a:solidFill>
              <a:srgbClr val="D89B2B"/>
            </a:solidFill>
            <a:prstDash val="solid"/>
          </a:ln>
        </p:spPr>
      </p:sp>
      <p:sp>
        <p:nvSpPr>
          <p:cNvPr id="19" name="Text 17"/>
          <p:cNvSpPr/>
          <p:nvPr/>
        </p:nvSpPr>
        <p:spPr>
          <a:xfrm>
            <a:off x="6821424" y="14813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Discover</a:t>
            </a:r>
            <a:endParaRPr lang="en-US" sz="1300" dirty="0"/>
          </a:p>
        </p:txBody>
      </p:sp>
      <p:sp>
        <p:nvSpPr>
          <p:cNvPr id="20" name="Text 18"/>
          <p:cNvSpPr/>
          <p:nvPr/>
        </p:nvSpPr>
        <p:spPr>
          <a:xfrm>
            <a:off x="6821424" y="18379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View active campaigns, tags, terms, reward, expiry and current stamp progress.</a:t>
            </a:r>
            <a:endParaRPr lang="en-US" sz="950" dirty="0"/>
          </a:p>
        </p:txBody>
      </p:sp>
      <p:sp>
        <p:nvSpPr>
          <p:cNvPr id="21" name="Shape 19"/>
          <p:cNvSpPr/>
          <p:nvPr/>
        </p:nvSpPr>
        <p:spPr>
          <a:xfrm>
            <a:off x="8805672" y="1984248"/>
            <a:ext cx="182880" cy="0"/>
          </a:xfrm>
          <a:prstGeom prst="line">
            <a:avLst/>
          </a:prstGeom>
          <a:noFill/>
          <a:ln w="22860">
            <a:solidFill>
              <a:srgbClr val="D89B2B"/>
            </a:solidFill>
            <a:prstDash val="solid"/>
            <a:headEnd type="none"/>
            <a:tailEnd type="triangle"/>
          </a:ln>
        </p:spPr>
      </p:sp>
      <p:sp>
        <p:nvSpPr>
          <p:cNvPr id="22" name="Shape 20"/>
          <p:cNvSpPr/>
          <p:nvPr/>
        </p:nvSpPr>
        <p:spPr>
          <a:xfrm>
            <a:off x="9006840" y="1417320"/>
            <a:ext cx="347472" cy="347472"/>
          </a:xfrm>
          <a:prstGeom prst="ellipse">
            <a:avLst/>
          </a:prstGeom>
          <a:solidFill>
            <a:srgbClr val="D89B2B"/>
          </a:solidFill>
          <a:ln w="12700">
            <a:solidFill>
              <a:srgbClr val="D89B2B"/>
            </a:solidFill>
            <a:prstDash val="solid"/>
          </a:ln>
        </p:spPr>
      </p:sp>
      <p:sp>
        <p:nvSpPr>
          <p:cNvPr id="23" name="Text 21"/>
          <p:cNvSpPr/>
          <p:nvPr/>
        </p:nvSpPr>
        <p:spPr>
          <a:xfrm>
            <a:off x="900684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4" name="Shape 22"/>
          <p:cNvSpPr/>
          <p:nvPr/>
        </p:nvSpPr>
        <p:spPr>
          <a:xfrm>
            <a:off x="9445752" y="1344168"/>
            <a:ext cx="2148840" cy="1325880"/>
          </a:xfrm>
          <a:prstGeom prst="roundRect">
            <a:avLst>
              <a:gd name="adj" fmla="val 5517"/>
            </a:avLst>
          </a:prstGeom>
          <a:solidFill>
            <a:srgbClr val="DDF4EF"/>
          </a:solidFill>
          <a:ln w="13970">
            <a:solidFill>
              <a:srgbClr val="0F766E"/>
            </a:solidFill>
            <a:prstDash val="solid"/>
          </a:ln>
        </p:spPr>
      </p:sp>
      <p:sp>
        <p:nvSpPr>
          <p:cNvPr id="25" name="Text 23"/>
          <p:cNvSpPr/>
          <p:nvPr/>
        </p:nvSpPr>
        <p:spPr>
          <a:xfrm>
            <a:off x="9610344" y="14813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Show QR</a:t>
            </a:r>
            <a:endParaRPr lang="en-US" sz="1300" dirty="0"/>
          </a:p>
        </p:txBody>
      </p:sp>
      <p:sp>
        <p:nvSpPr>
          <p:cNvPr id="26" name="Text 24"/>
          <p:cNvSpPr/>
          <p:nvPr/>
        </p:nvSpPr>
        <p:spPr>
          <a:xfrm>
            <a:off x="9610344" y="18379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Open “Scan to Earn”; token rotates every 30 seconds and is member-namespaced.</a:t>
            </a:r>
            <a:endParaRPr lang="en-US" sz="950" dirty="0"/>
          </a:p>
        </p:txBody>
      </p:sp>
      <p:sp>
        <p:nvSpPr>
          <p:cNvPr id="27" name="Shape 25"/>
          <p:cNvSpPr/>
          <p:nvPr/>
        </p:nvSpPr>
        <p:spPr>
          <a:xfrm>
            <a:off x="640080" y="3474720"/>
            <a:ext cx="347472" cy="347472"/>
          </a:xfrm>
          <a:prstGeom prst="ellipse">
            <a:avLst/>
          </a:prstGeom>
          <a:solidFill>
            <a:srgbClr val="D89B2B"/>
          </a:solidFill>
          <a:ln w="12700">
            <a:solidFill>
              <a:srgbClr val="D89B2B"/>
            </a:solidFill>
            <a:prstDash val="solid"/>
          </a:ln>
        </p:spPr>
      </p:sp>
      <p:sp>
        <p:nvSpPr>
          <p:cNvPr id="28" name="Text 26"/>
          <p:cNvSpPr/>
          <p:nvPr/>
        </p:nvSpPr>
        <p:spPr>
          <a:xfrm>
            <a:off x="640080" y="35524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29" name="Shape 27"/>
          <p:cNvSpPr/>
          <p:nvPr/>
        </p:nvSpPr>
        <p:spPr>
          <a:xfrm>
            <a:off x="1078992" y="3401568"/>
            <a:ext cx="2148840" cy="1325880"/>
          </a:xfrm>
          <a:prstGeom prst="roundRect">
            <a:avLst>
              <a:gd name="adj" fmla="val 5517"/>
            </a:avLst>
          </a:prstGeom>
          <a:solidFill>
            <a:srgbClr val="DDF4EF"/>
          </a:solidFill>
          <a:ln w="13970">
            <a:solidFill>
              <a:srgbClr val="0F766E"/>
            </a:solidFill>
            <a:prstDash val="solid"/>
          </a:ln>
        </p:spPr>
      </p:sp>
      <p:sp>
        <p:nvSpPr>
          <p:cNvPr id="30" name="Text 28"/>
          <p:cNvSpPr/>
          <p:nvPr/>
        </p:nvSpPr>
        <p:spPr>
          <a:xfrm>
            <a:off x="1243584" y="35387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Receive stamp</a:t>
            </a:r>
            <a:endParaRPr lang="en-US" sz="1300" dirty="0"/>
          </a:p>
        </p:txBody>
      </p:sp>
      <p:sp>
        <p:nvSpPr>
          <p:cNvPr id="31" name="Text 29"/>
          <p:cNvSpPr/>
          <p:nvPr/>
        </p:nvSpPr>
        <p:spPr>
          <a:xfrm>
            <a:off x="1243584" y="38953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After an eligible sale, one stamp is committed and the app refreshes progress/history.</a:t>
            </a:r>
            <a:endParaRPr lang="en-US" sz="950" dirty="0"/>
          </a:p>
        </p:txBody>
      </p:sp>
      <p:sp>
        <p:nvSpPr>
          <p:cNvPr id="32" name="Shape 30"/>
          <p:cNvSpPr/>
          <p:nvPr/>
        </p:nvSpPr>
        <p:spPr>
          <a:xfrm>
            <a:off x="3227832" y="4041648"/>
            <a:ext cx="182880" cy="0"/>
          </a:xfrm>
          <a:prstGeom prst="line">
            <a:avLst/>
          </a:prstGeom>
          <a:noFill/>
          <a:ln w="22860">
            <a:solidFill>
              <a:srgbClr val="0F766E"/>
            </a:solidFill>
            <a:prstDash val="solid"/>
            <a:headEnd type="none"/>
            <a:tailEnd type="triangle"/>
          </a:ln>
        </p:spPr>
      </p:sp>
      <p:sp>
        <p:nvSpPr>
          <p:cNvPr id="33" name="Shape 31"/>
          <p:cNvSpPr/>
          <p:nvPr/>
        </p:nvSpPr>
        <p:spPr>
          <a:xfrm>
            <a:off x="3429000" y="3474720"/>
            <a:ext cx="347472" cy="347472"/>
          </a:xfrm>
          <a:prstGeom prst="ellipse">
            <a:avLst/>
          </a:prstGeom>
          <a:solidFill>
            <a:srgbClr val="D89B2B"/>
          </a:solidFill>
          <a:ln w="12700">
            <a:solidFill>
              <a:srgbClr val="D89B2B"/>
            </a:solidFill>
            <a:prstDash val="solid"/>
          </a:ln>
        </p:spPr>
      </p:sp>
      <p:sp>
        <p:nvSpPr>
          <p:cNvPr id="34" name="Text 32"/>
          <p:cNvSpPr/>
          <p:nvPr/>
        </p:nvSpPr>
        <p:spPr>
          <a:xfrm>
            <a:off x="3429000" y="35524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35" name="Shape 33"/>
          <p:cNvSpPr/>
          <p:nvPr/>
        </p:nvSpPr>
        <p:spPr>
          <a:xfrm>
            <a:off x="3867912" y="3401568"/>
            <a:ext cx="2148840" cy="1325880"/>
          </a:xfrm>
          <a:prstGeom prst="roundRect">
            <a:avLst>
              <a:gd name="adj" fmla="val 5517"/>
            </a:avLst>
          </a:prstGeom>
          <a:solidFill>
            <a:srgbClr val="DDF4EF"/>
          </a:solidFill>
          <a:ln w="13970">
            <a:solidFill>
              <a:srgbClr val="0F766E"/>
            </a:solidFill>
            <a:prstDash val="solid"/>
          </a:ln>
        </p:spPr>
      </p:sp>
      <p:sp>
        <p:nvSpPr>
          <p:cNvPr id="36" name="Text 34"/>
          <p:cNvSpPr/>
          <p:nvPr/>
        </p:nvSpPr>
        <p:spPr>
          <a:xfrm>
            <a:off x="4032504" y="35387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Unlock reward</a:t>
            </a:r>
            <a:endParaRPr lang="en-US" sz="1300" dirty="0"/>
          </a:p>
        </p:txBody>
      </p:sp>
      <p:sp>
        <p:nvSpPr>
          <p:cNvPr id="37" name="Text 35"/>
          <p:cNvSpPr/>
          <p:nvPr/>
        </p:nvSpPr>
        <p:spPr>
          <a:xfrm>
            <a:off x="4032504" y="38953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When stamps reach required_stamps, completed_at is set and card becomes redeemable.</a:t>
            </a:r>
            <a:endParaRPr lang="en-US" sz="950" dirty="0"/>
          </a:p>
        </p:txBody>
      </p:sp>
      <p:sp>
        <p:nvSpPr>
          <p:cNvPr id="38" name="Shape 36"/>
          <p:cNvSpPr/>
          <p:nvPr/>
        </p:nvSpPr>
        <p:spPr>
          <a:xfrm>
            <a:off x="6016752" y="4041648"/>
            <a:ext cx="182880" cy="0"/>
          </a:xfrm>
          <a:prstGeom prst="line">
            <a:avLst/>
          </a:prstGeom>
          <a:noFill/>
          <a:ln w="22860">
            <a:solidFill>
              <a:srgbClr val="0F766E"/>
            </a:solidFill>
            <a:prstDash val="solid"/>
            <a:headEnd type="none"/>
            <a:tailEnd type="triangle"/>
          </a:ln>
        </p:spPr>
      </p:sp>
      <p:sp>
        <p:nvSpPr>
          <p:cNvPr id="39" name="Shape 37"/>
          <p:cNvSpPr/>
          <p:nvPr/>
        </p:nvSpPr>
        <p:spPr>
          <a:xfrm>
            <a:off x="6217920" y="3474720"/>
            <a:ext cx="347472" cy="347472"/>
          </a:xfrm>
          <a:prstGeom prst="ellipse">
            <a:avLst/>
          </a:prstGeom>
          <a:solidFill>
            <a:srgbClr val="D89B2B"/>
          </a:solidFill>
          <a:ln w="12700">
            <a:solidFill>
              <a:srgbClr val="D89B2B"/>
            </a:solidFill>
            <a:prstDash val="solid"/>
          </a:ln>
        </p:spPr>
      </p:sp>
      <p:sp>
        <p:nvSpPr>
          <p:cNvPr id="40" name="Text 38"/>
          <p:cNvSpPr/>
          <p:nvPr/>
        </p:nvSpPr>
        <p:spPr>
          <a:xfrm>
            <a:off x="6217920" y="35524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7</a:t>
            </a:r>
            <a:endParaRPr lang="en-US" sz="1050" dirty="0"/>
          </a:p>
        </p:txBody>
      </p:sp>
      <p:sp>
        <p:nvSpPr>
          <p:cNvPr id="41" name="Shape 39"/>
          <p:cNvSpPr/>
          <p:nvPr/>
        </p:nvSpPr>
        <p:spPr>
          <a:xfrm>
            <a:off x="6656832" y="3401568"/>
            <a:ext cx="2148840" cy="1325880"/>
          </a:xfrm>
          <a:prstGeom prst="roundRect">
            <a:avLst>
              <a:gd name="adj" fmla="val 5517"/>
            </a:avLst>
          </a:prstGeom>
          <a:solidFill>
            <a:srgbClr val="F0E9FF"/>
          </a:solidFill>
          <a:ln w="13970">
            <a:solidFill>
              <a:srgbClr val="6D28D9"/>
            </a:solidFill>
            <a:prstDash val="solid"/>
          </a:ln>
        </p:spPr>
      </p:sp>
      <p:sp>
        <p:nvSpPr>
          <p:cNvPr id="42" name="Text 40"/>
          <p:cNvSpPr/>
          <p:nvPr/>
        </p:nvSpPr>
        <p:spPr>
          <a:xfrm>
            <a:off x="6821424" y="3538728"/>
            <a:ext cx="183794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Redeem</a:t>
            </a:r>
            <a:endParaRPr lang="en-US" sz="1300" dirty="0"/>
          </a:p>
        </p:txBody>
      </p:sp>
      <p:sp>
        <p:nvSpPr>
          <p:cNvPr id="43" name="Text 41"/>
          <p:cNvSpPr/>
          <p:nvPr/>
        </p:nvSpPr>
        <p:spPr>
          <a:xfrm>
            <a:off x="6821424" y="3895344"/>
            <a:ext cx="1819656" cy="704088"/>
          </a:xfrm>
          <a:prstGeom prst="rect">
            <a:avLst/>
          </a:prstGeom>
          <a:noFill/>
          <a:ln/>
        </p:spPr>
        <p:txBody>
          <a:bodyPr wrap="square" lIns="0" tIns="0" rIns="0" bIns="0" rtlCol="0" anchor="t">
            <a:normAutofit/>
          </a:bodyPr>
          <a:lstStyle/>
          <a:p>
            <a:pPr marL="0" indent="0">
              <a:buNone/>
            </a:pPr>
            <a:r>
              <a:rPr lang="en-US" sz="950" dirty="0">
                <a:solidFill>
                  <a:srgbClr val="252525"/>
                </a:solidFill>
              </a:rPr>
              <a:t>Confirm reward; card is marked redeemed, negative ledger row recorded, next cycle opens.</a:t>
            </a:r>
            <a:endParaRPr lang="en-US" sz="950" dirty="0"/>
          </a:p>
        </p:txBody>
      </p:sp>
      <p:sp>
        <p:nvSpPr>
          <p:cNvPr id="44" name="Shape 42"/>
          <p:cNvSpPr/>
          <p:nvPr/>
        </p:nvSpPr>
        <p:spPr>
          <a:xfrm>
            <a:off x="749808" y="5440680"/>
            <a:ext cx="10652760" cy="548640"/>
          </a:xfrm>
          <a:prstGeom prst="roundRect">
            <a:avLst>
              <a:gd name="adj" fmla="val 10000"/>
            </a:avLst>
          </a:prstGeom>
          <a:solidFill>
            <a:srgbClr val="F3F4F6"/>
          </a:solidFill>
          <a:ln w="12700">
            <a:solidFill>
              <a:srgbClr val="D1D5DB"/>
            </a:solidFill>
            <a:prstDash val="solid"/>
          </a:ln>
        </p:spPr>
      </p:sp>
      <p:sp>
        <p:nvSpPr>
          <p:cNvPr id="45" name="Text 43"/>
          <p:cNvSpPr/>
          <p:nvPr/>
        </p:nvSpPr>
        <p:spPr>
          <a:xfrm>
            <a:off x="960120" y="5596128"/>
            <a:ext cx="1600200" cy="164592"/>
          </a:xfrm>
          <a:prstGeom prst="rect">
            <a:avLst/>
          </a:prstGeom>
          <a:noFill/>
          <a:ln/>
        </p:spPr>
        <p:txBody>
          <a:bodyPr wrap="square" lIns="0" tIns="0" rIns="0" bIns="0" rtlCol="0" anchor="ctr"/>
          <a:lstStyle/>
          <a:p>
            <a:pPr marL="0" indent="0">
              <a:buNone/>
            </a:pPr>
            <a:r>
              <a:rPr lang="en-US" sz="1050" b="1" dirty="0">
                <a:solidFill>
                  <a:srgbClr val="2B1D16"/>
                </a:solidFill>
              </a:rPr>
              <a:t>Customer-visible outputs</a:t>
            </a:r>
            <a:endParaRPr lang="en-US" sz="1050" dirty="0"/>
          </a:p>
        </p:txBody>
      </p:sp>
      <p:sp>
        <p:nvSpPr>
          <p:cNvPr id="46" name="Text 44"/>
          <p:cNvSpPr/>
          <p:nvPr/>
        </p:nvSpPr>
        <p:spPr>
          <a:xfrm>
            <a:off x="2606040" y="5577840"/>
            <a:ext cx="8458200" cy="210312"/>
          </a:xfrm>
          <a:prstGeom prst="rect">
            <a:avLst/>
          </a:prstGeom>
          <a:noFill/>
          <a:ln/>
        </p:spPr>
        <p:txBody>
          <a:bodyPr wrap="square" lIns="0" tIns="0" rIns="0" bIns="0" rtlCol="0" anchor="ctr">
            <a:normAutofit/>
          </a:bodyPr>
          <a:lstStyle/>
          <a:p>
            <a:pPr marL="0" indent="0">
              <a:buNone/>
            </a:pPr>
            <a:r>
              <a:rPr lang="en-US" sz="1050" dirty="0">
                <a:solidFill>
                  <a:srgbClr val="252525"/>
                </a:solidFill>
              </a:rPr>
              <a:t>Home hero • campaign progress • lifetime stamps • earned/redeemed/balance summary • newest-first transaction history</a:t>
            </a:r>
            <a:endParaRPr lang="en-US" sz="1050" dirty="0"/>
          </a:p>
        </p:txBody>
      </p:sp>
      <p:sp>
        <p:nvSpPr>
          <p:cNvPr id="47" name="Text 45"/>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Data-Flows.md L20–104; loyalty_provider.dart L17–53, L136–193; campaigns_screen.dart L117–142</a:t>
            </a:r>
            <a:endParaRPr lang="en-US" sz="750" dirty="0"/>
          </a:p>
        </p:txBody>
      </p:sp>
      <p:sp>
        <p:nvSpPr>
          <p:cNvPr id="48"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Earn a stamp: customer ↔ cashier/POS ↔ loyalty engine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Current code executes the cashier step inside the app; the target POS uses the same business contract through an API.</a:t>
            </a:r>
            <a:endParaRPr lang="en-US" sz="1250" dirty="0"/>
          </a:p>
        </p:txBody>
      </p:sp>
      <p:sp>
        <p:nvSpPr>
          <p:cNvPr id="4" name="Shape 2"/>
          <p:cNvSpPr/>
          <p:nvPr/>
        </p:nvSpPr>
        <p:spPr>
          <a:xfrm>
            <a:off x="530352" y="1353312"/>
            <a:ext cx="11109960" cy="896112"/>
          </a:xfrm>
          <a:prstGeom prst="roundRect">
            <a:avLst>
              <a:gd name="adj" fmla="val 4082"/>
            </a:avLst>
          </a:prstGeom>
          <a:solidFill>
            <a:srgbClr val="FFF8EF"/>
          </a:solidFill>
          <a:ln w="10160">
            <a:solidFill>
              <a:srgbClr val="D89B2B"/>
            </a:solidFill>
            <a:prstDash val="solid"/>
          </a:ln>
        </p:spPr>
      </p:sp>
      <p:sp>
        <p:nvSpPr>
          <p:cNvPr id="5" name="Text 3"/>
          <p:cNvSpPr/>
          <p:nvPr/>
        </p:nvSpPr>
        <p:spPr>
          <a:xfrm>
            <a:off x="713232" y="1664208"/>
            <a:ext cx="1143000" cy="164592"/>
          </a:xfrm>
          <a:prstGeom prst="rect">
            <a:avLst/>
          </a:prstGeom>
          <a:noFill/>
          <a:ln/>
        </p:spPr>
        <p:txBody>
          <a:bodyPr wrap="square" lIns="0" tIns="0" rIns="0" bIns="0" rtlCol="0" anchor="ctr">
            <a:normAutofit/>
          </a:bodyPr>
          <a:lstStyle/>
          <a:p>
            <a:pPr marL="0" indent="0">
              <a:buNone/>
            </a:pPr>
            <a:r>
              <a:rPr lang="en-US" sz="1000" b="1" dirty="0">
                <a:solidFill>
                  <a:srgbClr val="D89B2B"/>
                </a:solidFill>
              </a:rPr>
              <a:t>CUSTOMER</a:t>
            </a:r>
            <a:endParaRPr lang="en-US" sz="1000" dirty="0"/>
          </a:p>
        </p:txBody>
      </p:sp>
      <p:sp>
        <p:nvSpPr>
          <p:cNvPr id="6" name="Shape 4"/>
          <p:cNvSpPr/>
          <p:nvPr/>
        </p:nvSpPr>
        <p:spPr>
          <a:xfrm>
            <a:off x="530352" y="2468880"/>
            <a:ext cx="11109960" cy="896112"/>
          </a:xfrm>
          <a:prstGeom prst="roundRect">
            <a:avLst>
              <a:gd name="adj" fmla="val 4082"/>
            </a:avLst>
          </a:prstGeom>
          <a:solidFill>
            <a:srgbClr val="DDF4EF"/>
          </a:solidFill>
          <a:ln w="10160">
            <a:solidFill>
              <a:srgbClr val="0F766E"/>
            </a:solidFill>
            <a:prstDash val="solid"/>
          </a:ln>
        </p:spPr>
      </p:sp>
      <p:sp>
        <p:nvSpPr>
          <p:cNvPr id="7" name="Text 5"/>
          <p:cNvSpPr/>
          <p:nvPr/>
        </p:nvSpPr>
        <p:spPr>
          <a:xfrm>
            <a:off x="713232" y="2779776"/>
            <a:ext cx="1143000" cy="164592"/>
          </a:xfrm>
          <a:prstGeom prst="rect">
            <a:avLst/>
          </a:prstGeom>
          <a:noFill/>
          <a:ln/>
        </p:spPr>
        <p:txBody>
          <a:bodyPr wrap="square" lIns="0" tIns="0" rIns="0" bIns="0" rtlCol="0" anchor="ctr">
            <a:normAutofit/>
          </a:bodyPr>
          <a:lstStyle/>
          <a:p>
            <a:pPr marL="0" indent="0">
              <a:buNone/>
            </a:pPr>
            <a:r>
              <a:rPr lang="en-US" sz="1000" b="1" dirty="0">
                <a:solidFill>
                  <a:srgbClr val="0F766E"/>
                </a:solidFill>
              </a:rPr>
              <a:t>CASHIER / POS</a:t>
            </a:r>
            <a:endParaRPr lang="en-US" sz="1000" dirty="0"/>
          </a:p>
        </p:txBody>
      </p:sp>
      <p:sp>
        <p:nvSpPr>
          <p:cNvPr id="8" name="Shape 6"/>
          <p:cNvSpPr/>
          <p:nvPr/>
        </p:nvSpPr>
        <p:spPr>
          <a:xfrm>
            <a:off x="530352" y="3584448"/>
            <a:ext cx="11109960" cy="896112"/>
          </a:xfrm>
          <a:prstGeom prst="roundRect">
            <a:avLst>
              <a:gd name="adj" fmla="val 4082"/>
            </a:avLst>
          </a:prstGeom>
          <a:solidFill>
            <a:srgbClr val="E9F1FF"/>
          </a:solidFill>
          <a:ln w="10160">
            <a:solidFill>
              <a:srgbClr val="2563EB"/>
            </a:solidFill>
            <a:prstDash val="solid"/>
          </a:ln>
        </p:spPr>
      </p:sp>
      <p:sp>
        <p:nvSpPr>
          <p:cNvPr id="9" name="Text 7"/>
          <p:cNvSpPr/>
          <p:nvPr/>
        </p:nvSpPr>
        <p:spPr>
          <a:xfrm>
            <a:off x="713232" y="3895344"/>
            <a:ext cx="1143000" cy="164592"/>
          </a:xfrm>
          <a:prstGeom prst="rect">
            <a:avLst/>
          </a:prstGeom>
          <a:noFill/>
          <a:ln/>
        </p:spPr>
        <p:txBody>
          <a:bodyPr wrap="square" lIns="0" tIns="0" rIns="0" bIns="0" rtlCol="0" anchor="ctr">
            <a:normAutofit/>
          </a:bodyPr>
          <a:lstStyle/>
          <a:p>
            <a:pPr marL="0" indent="0">
              <a:buNone/>
            </a:pPr>
            <a:r>
              <a:rPr lang="en-US" sz="1000" b="1" dirty="0">
                <a:solidFill>
                  <a:srgbClr val="2563EB"/>
                </a:solidFill>
              </a:rPr>
              <a:t>LOYALTY SERVICE</a:t>
            </a:r>
            <a:endParaRPr lang="en-US" sz="1000" dirty="0"/>
          </a:p>
        </p:txBody>
      </p:sp>
      <p:sp>
        <p:nvSpPr>
          <p:cNvPr id="10" name="Shape 8"/>
          <p:cNvSpPr/>
          <p:nvPr/>
        </p:nvSpPr>
        <p:spPr>
          <a:xfrm>
            <a:off x="530352" y="4700016"/>
            <a:ext cx="11109960" cy="896112"/>
          </a:xfrm>
          <a:prstGeom prst="roundRect">
            <a:avLst>
              <a:gd name="adj" fmla="val 4082"/>
            </a:avLst>
          </a:prstGeom>
          <a:solidFill>
            <a:srgbClr val="F0E9FF"/>
          </a:solidFill>
          <a:ln w="10160">
            <a:solidFill>
              <a:srgbClr val="6D28D9"/>
            </a:solidFill>
            <a:prstDash val="solid"/>
          </a:ln>
        </p:spPr>
      </p:sp>
      <p:sp>
        <p:nvSpPr>
          <p:cNvPr id="11" name="Text 9"/>
          <p:cNvSpPr/>
          <p:nvPr/>
        </p:nvSpPr>
        <p:spPr>
          <a:xfrm>
            <a:off x="713232" y="5010912"/>
            <a:ext cx="1143000" cy="164592"/>
          </a:xfrm>
          <a:prstGeom prst="rect">
            <a:avLst/>
          </a:prstGeom>
          <a:noFill/>
          <a:ln/>
        </p:spPr>
        <p:txBody>
          <a:bodyPr wrap="square" lIns="0" tIns="0" rIns="0" bIns="0" rtlCol="0" anchor="ctr">
            <a:normAutofit/>
          </a:bodyPr>
          <a:lstStyle/>
          <a:p>
            <a:pPr marL="0" indent="0">
              <a:buNone/>
            </a:pPr>
            <a:r>
              <a:rPr lang="en-US" sz="1000" b="1" dirty="0">
                <a:solidFill>
                  <a:srgbClr val="6D28D9"/>
                </a:solidFill>
              </a:rPr>
              <a:t>DATA STORE</a:t>
            </a:r>
            <a:endParaRPr lang="en-US" sz="1000" dirty="0"/>
          </a:p>
        </p:txBody>
      </p:sp>
      <p:sp>
        <p:nvSpPr>
          <p:cNvPr id="12" name="Shape 10"/>
          <p:cNvSpPr/>
          <p:nvPr/>
        </p:nvSpPr>
        <p:spPr>
          <a:xfrm>
            <a:off x="2011680" y="1554480"/>
            <a:ext cx="1508760" cy="502920"/>
          </a:xfrm>
          <a:prstGeom prst="roundRect">
            <a:avLst>
              <a:gd name="adj" fmla="val 14545"/>
            </a:avLst>
          </a:prstGeom>
          <a:solidFill>
            <a:srgbClr val="FFFFFF"/>
          </a:solidFill>
          <a:ln w="13970">
            <a:solidFill>
              <a:srgbClr val="D89B2B"/>
            </a:solidFill>
            <a:prstDash val="solid"/>
          </a:ln>
        </p:spPr>
      </p:sp>
      <p:sp>
        <p:nvSpPr>
          <p:cNvPr id="13" name="Text 11"/>
          <p:cNvSpPr/>
          <p:nvPr/>
        </p:nvSpPr>
        <p:spPr>
          <a:xfrm>
            <a:off x="2176272" y="1691640"/>
            <a:ext cx="119786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1  Show live QR</a:t>
            </a:r>
            <a:endParaRPr lang="en-US" sz="1020" dirty="0"/>
          </a:p>
        </p:txBody>
      </p:sp>
      <p:sp>
        <p:nvSpPr>
          <p:cNvPr id="14" name="Shape 12"/>
          <p:cNvSpPr/>
          <p:nvPr/>
        </p:nvSpPr>
        <p:spPr>
          <a:xfrm>
            <a:off x="4023360" y="1554480"/>
            <a:ext cx="1554480" cy="502920"/>
          </a:xfrm>
          <a:prstGeom prst="roundRect">
            <a:avLst>
              <a:gd name="adj" fmla="val 14545"/>
            </a:avLst>
          </a:prstGeom>
          <a:solidFill>
            <a:srgbClr val="FFFFFF"/>
          </a:solidFill>
          <a:ln w="13970">
            <a:solidFill>
              <a:srgbClr val="D89B2B"/>
            </a:solidFill>
            <a:prstDash val="solid"/>
          </a:ln>
        </p:spPr>
      </p:sp>
      <p:sp>
        <p:nvSpPr>
          <p:cNvPr id="15" name="Text 13"/>
          <p:cNvSpPr/>
          <p:nvPr/>
        </p:nvSpPr>
        <p:spPr>
          <a:xfrm>
            <a:off x="4187952" y="1691640"/>
            <a:ext cx="124358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2  Await result</a:t>
            </a:r>
            <a:endParaRPr lang="en-US" sz="1020" dirty="0"/>
          </a:p>
        </p:txBody>
      </p:sp>
      <p:sp>
        <p:nvSpPr>
          <p:cNvPr id="16" name="Shape 14"/>
          <p:cNvSpPr/>
          <p:nvPr/>
        </p:nvSpPr>
        <p:spPr>
          <a:xfrm>
            <a:off x="9098280" y="1554480"/>
            <a:ext cx="1828800" cy="502920"/>
          </a:xfrm>
          <a:prstGeom prst="roundRect">
            <a:avLst>
              <a:gd name="adj" fmla="val 14545"/>
            </a:avLst>
          </a:prstGeom>
          <a:solidFill>
            <a:srgbClr val="FFFFFF"/>
          </a:solidFill>
          <a:ln w="13970">
            <a:solidFill>
              <a:srgbClr val="D89B2B"/>
            </a:solidFill>
            <a:prstDash val="solid"/>
          </a:ln>
        </p:spPr>
      </p:sp>
      <p:sp>
        <p:nvSpPr>
          <p:cNvPr id="17" name="Text 15"/>
          <p:cNvSpPr/>
          <p:nvPr/>
        </p:nvSpPr>
        <p:spPr>
          <a:xfrm>
            <a:off x="9262872" y="1691640"/>
            <a:ext cx="15179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9  Success + progress</a:t>
            </a:r>
            <a:endParaRPr lang="en-US" sz="1020" dirty="0"/>
          </a:p>
        </p:txBody>
      </p:sp>
      <p:sp>
        <p:nvSpPr>
          <p:cNvPr id="18" name="Shape 16"/>
          <p:cNvSpPr/>
          <p:nvPr/>
        </p:nvSpPr>
        <p:spPr>
          <a:xfrm>
            <a:off x="2423160" y="2670048"/>
            <a:ext cx="1645920" cy="502920"/>
          </a:xfrm>
          <a:prstGeom prst="roundRect">
            <a:avLst>
              <a:gd name="adj" fmla="val 14545"/>
            </a:avLst>
          </a:prstGeom>
          <a:solidFill>
            <a:srgbClr val="FFFFFF"/>
          </a:solidFill>
          <a:ln w="13970">
            <a:solidFill>
              <a:srgbClr val="0F766E"/>
            </a:solidFill>
            <a:prstDash val="solid"/>
          </a:ln>
        </p:spPr>
      </p:sp>
      <p:sp>
        <p:nvSpPr>
          <p:cNvPr id="19" name="Text 17"/>
          <p:cNvSpPr/>
          <p:nvPr/>
        </p:nvSpPr>
        <p:spPr>
          <a:xfrm>
            <a:off x="2587752" y="2807208"/>
            <a:ext cx="133502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3  Scan token</a:t>
            </a:r>
            <a:endParaRPr lang="en-US" sz="1020" dirty="0"/>
          </a:p>
        </p:txBody>
      </p:sp>
      <p:sp>
        <p:nvSpPr>
          <p:cNvPr id="20" name="Shape 18"/>
          <p:cNvSpPr/>
          <p:nvPr/>
        </p:nvSpPr>
        <p:spPr>
          <a:xfrm>
            <a:off x="4709160" y="2670048"/>
            <a:ext cx="2057400" cy="502920"/>
          </a:xfrm>
          <a:prstGeom prst="roundRect">
            <a:avLst>
              <a:gd name="adj" fmla="val 14545"/>
            </a:avLst>
          </a:prstGeom>
          <a:solidFill>
            <a:srgbClr val="FFFFFF"/>
          </a:solidFill>
          <a:ln w="13970">
            <a:solidFill>
              <a:srgbClr val="0F766E"/>
            </a:solidFill>
            <a:prstDash val="solid"/>
          </a:ln>
        </p:spPr>
      </p:sp>
      <p:sp>
        <p:nvSpPr>
          <p:cNvPr id="21" name="Text 19"/>
          <p:cNvSpPr/>
          <p:nvPr/>
        </p:nvSpPr>
        <p:spPr>
          <a:xfrm>
            <a:off x="4873752" y="2807208"/>
            <a:ext cx="17465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4  Select receipt item</a:t>
            </a:r>
            <a:endParaRPr lang="en-US" sz="1020" dirty="0"/>
          </a:p>
        </p:txBody>
      </p:sp>
      <p:sp>
        <p:nvSpPr>
          <p:cNvPr id="22" name="Shape 20"/>
          <p:cNvSpPr/>
          <p:nvPr/>
        </p:nvSpPr>
        <p:spPr>
          <a:xfrm>
            <a:off x="7452360" y="2670048"/>
            <a:ext cx="2057400" cy="502920"/>
          </a:xfrm>
          <a:prstGeom prst="roundRect">
            <a:avLst>
              <a:gd name="adj" fmla="val 14545"/>
            </a:avLst>
          </a:prstGeom>
          <a:solidFill>
            <a:srgbClr val="FFFFFF"/>
          </a:solidFill>
          <a:ln w="13970">
            <a:solidFill>
              <a:srgbClr val="0F766E"/>
            </a:solidFill>
            <a:prstDash val="solid"/>
          </a:ln>
        </p:spPr>
      </p:sp>
      <p:sp>
        <p:nvSpPr>
          <p:cNvPr id="23" name="Text 21"/>
          <p:cNvSpPr/>
          <p:nvPr/>
        </p:nvSpPr>
        <p:spPr>
          <a:xfrm>
            <a:off x="7616952" y="2807208"/>
            <a:ext cx="17465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5  Submit earn request</a:t>
            </a:r>
            <a:endParaRPr lang="en-US" sz="1020" dirty="0"/>
          </a:p>
        </p:txBody>
      </p:sp>
      <p:sp>
        <p:nvSpPr>
          <p:cNvPr id="24" name="Shape 22"/>
          <p:cNvSpPr/>
          <p:nvPr/>
        </p:nvSpPr>
        <p:spPr>
          <a:xfrm>
            <a:off x="3200400" y="3785616"/>
            <a:ext cx="2057400" cy="502920"/>
          </a:xfrm>
          <a:prstGeom prst="roundRect">
            <a:avLst>
              <a:gd name="adj" fmla="val 14545"/>
            </a:avLst>
          </a:prstGeom>
          <a:solidFill>
            <a:srgbClr val="FFFFFF"/>
          </a:solidFill>
          <a:ln w="13970">
            <a:solidFill>
              <a:srgbClr val="2563EB"/>
            </a:solidFill>
            <a:prstDash val="solid"/>
          </a:ln>
        </p:spPr>
      </p:sp>
      <p:sp>
        <p:nvSpPr>
          <p:cNvPr id="25" name="Text 23"/>
          <p:cNvSpPr/>
          <p:nvPr/>
        </p:nvSpPr>
        <p:spPr>
          <a:xfrm>
            <a:off x="3364992" y="3922776"/>
            <a:ext cx="17465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6  Validate campaign / token</a:t>
            </a:r>
            <a:endParaRPr lang="en-US" sz="1020" dirty="0"/>
          </a:p>
        </p:txBody>
      </p:sp>
      <p:sp>
        <p:nvSpPr>
          <p:cNvPr id="26" name="Shape 24"/>
          <p:cNvSpPr/>
          <p:nvPr/>
        </p:nvSpPr>
        <p:spPr>
          <a:xfrm>
            <a:off x="5715000" y="3785616"/>
            <a:ext cx="1920240" cy="502920"/>
          </a:xfrm>
          <a:prstGeom prst="roundRect">
            <a:avLst>
              <a:gd name="adj" fmla="val 14545"/>
            </a:avLst>
          </a:prstGeom>
          <a:solidFill>
            <a:srgbClr val="FFFFFF"/>
          </a:solidFill>
          <a:ln w="13970">
            <a:solidFill>
              <a:srgbClr val="2563EB"/>
            </a:solidFill>
            <a:prstDash val="solid"/>
          </a:ln>
        </p:spPr>
      </p:sp>
      <p:sp>
        <p:nvSpPr>
          <p:cNvPr id="27" name="Text 25"/>
          <p:cNvSpPr/>
          <p:nvPr/>
        </p:nvSpPr>
        <p:spPr>
          <a:xfrm>
            <a:off x="5879592" y="3922776"/>
            <a:ext cx="160934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7  Open card + increment</a:t>
            </a:r>
            <a:endParaRPr lang="en-US" sz="1020" dirty="0"/>
          </a:p>
        </p:txBody>
      </p:sp>
      <p:sp>
        <p:nvSpPr>
          <p:cNvPr id="28" name="Shape 26"/>
          <p:cNvSpPr/>
          <p:nvPr/>
        </p:nvSpPr>
        <p:spPr>
          <a:xfrm>
            <a:off x="8183880" y="3785616"/>
            <a:ext cx="1828800" cy="502920"/>
          </a:xfrm>
          <a:prstGeom prst="roundRect">
            <a:avLst>
              <a:gd name="adj" fmla="val 14545"/>
            </a:avLst>
          </a:prstGeom>
          <a:solidFill>
            <a:srgbClr val="FFFFFF"/>
          </a:solidFill>
          <a:ln w="13970">
            <a:solidFill>
              <a:srgbClr val="2563EB"/>
            </a:solidFill>
            <a:prstDash val="solid"/>
          </a:ln>
        </p:spPr>
      </p:sp>
      <p:sp>
        <p:nvSpPr>
          <p:cNvPr id="29" name="Text 27"/>
          <p:cNvSpPr/>
          <p:nvPr/>
        </p:nvSpPr>
        <p:spPr>
          <a:xfrm>
            <a:off x="8348472" y="3922776"/>
            <a:ext cx="15179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8  Return outcome</a:t>
            </a:r>
            <a:endParaRPr lang="en-US" sz="1020" dirty="0"/>
          </a:p>
        </p:txBody>
      </p:sp>
      <p:sp>
        <p:nvSpPr>
          <p:cNvPr id="30" name="Shape 28"/>
          <p:cNvSpPr/>
          <p:nvPr/>
        </p:nvSpPr>
        <p:spPr>
          <a:xfrm>
            <a:off x="4617720" y="4901184"/>
            <a:ext cx="2743200" cy="502920"/>
          </a:xfrm>
          <a:prstGeom prst="roundRect">
            <a:avLst>
              <a:gd name="adj" fmla="val 14545"/>
            </a:avLst>
          </a:prstGeom>
          <a:solidFill>
            <a:srgbClr val="FFFFFF"/>
          </a:solidFill>
          <a:ln w="13970">
            <a:solidFill>
              <a:srgbClr val="6D28D9"/>
            </a:solidFill>
            <a:prstDash val="solid"/>
          </a:ln>
        </p:spPr>
      </p:sp>
      <p:sp>
        <p:nvSpPr>
          <p:cNvPr id="31" name="Text 29"/>
          <p:cNvSpPr/>
          <p:nvPr/>
        </p:nvSpPr>
        <p:spPr>
          <a:xfrm>
            <a:off x="4782312" y="5038344"/>
            <a:ext cx="2432304" cy="256032"/>
          </a:xfrm>
          <a:prstGeom prst="rect">
            <a:avLst/>
          </a:prstGeom>
          <a:noFill/>
          <a:ln/>
        </p:spPr>
        <p:txBody>
          <a:bodyPr wrap="square" lIns="0" tIns="0" rIns="0" bIns="0" rtlCol="0" anchor="ctr">
            <a:normAutofit/>
          </a:bodyPr>
          <a:lstStyle/>
          <a:p>
            <a:pPr marL="0" indent="0">
              <a:buNone/>
            </a:pPr>
            <a:r>
              <a:rPr lang="en-US" sz="1020" b="1" dirty="0">
                <a:solidFill>
                  <a:srgbClr val="2B1D16"/>
                </a:solidFill>
              </a:rPr>
              <a:t>Atomic write: card + earn ledger</a:t>
            </a:r>
            <a:endParaRPr lang="en-US" sz="1020" dirty="0"/>
          </a:p>
        </p:txBody>
      </p:sp>
      <p:sp>
        <p:nvSpPr>
          <p:cNvPr id="32" name="Shape 30"/>
          <p:cNvSpPr/>
          <p:nvPr/>
        </p:nvSpPr>
        <p:spPr>
          <a:xfrm>
            <a:off x="3520440" y="1810512"/>
            <a:ext cx="502920" cy="0"/>
          </a:xfrm>
          <a:prstGeom prst="line">
            <a:avLst/>
          </a:prstGeom>
          <a:noFill/>
          <a:ln w="22860">
            <a:solidFill>
              <a:srgbClr val="D89B2B"/>
            </a:solidFill>
            <a:prstDash val="solid"/>
            <a:headEnd type="none"/>
            <a:tailEnd type="triangle"/>
          </a:ln>
        </p:spPr>
      </p:sp>
      <p:sp>
        <p:nvSpPr>
          <p:cNvPr id="33" name="Shape 31"/>
          <p:cNvSpPr/>
          <p:nvPr/>
        </p:nvSpPr>
        <p:spPr>
          <a:xfrm>
            <a:off x="3657600" y="2240280"/>
            <a:ext cx="0" cy="429768"/>
          </a:xfrm>
          <a:prstGeom prst="line">
            <a:avLst/>
          </a:prstGeom>
          <a:noFill/>
          <a:ln w="22860">
            <a:solidFill>
              <a:srgbClr val="0F766E"/>
            </a:solidFill>
            <a:prstDash val="solid"/>
            <a:headEnd type="none"/>
            <a:tailEnd type="triangle"/>
          </a:ln>
        </p:spPr>
      </p:sp>
      <p:sp>
        <p:nvSpPr>
          <p:cNvPr id="34" name="Shape 32"/>
          <p:cNvSpPr/>
          <p:nvPr/>
        </p:nvSpPr>
        <p:spPr>
          <a:xfrm>
            <a:off x="4069080" y="2926080"/>
            <a:ext cx="640080" cy="0"/>
          </a:xfrm>
          <a:prstGeom prst="line">
            <a:avLst/>
          </a:prstGeom>
          <a:noFill/>
          <a:ln w="22860">
            <a:solidFill>
              <a:srgbClr val="0F766E"/>
            </a:solidFill>
            <a:prstDash val="solid"/>
            <a:headEnd type="none"/>
            <a:tailEnd type="triangle"/>
          </a:ln>
        </p:spPr>
      </p:sp>
      <p:sp>
        <p:nvSpPr>
          <p:cNvPr id="35" name="Shape 33"/>
          <p:cNvSpPr/>
          <p:nvPr/>
        </p:nvSpPr>
        <p:spPr>
          <a:xfrm>
            <a:off x="6766560" y="2926080"/>
            <a:ext cx="685800" cy="0"/>
          </a:xfrm>
          <a:prstGeom prst="line">
            <a:avLst/>
          </a:prstGeom>
          <a:noFill/>
          <a:ln w="22860">
            <a:solidFill>
              <a:srgbClr val="0F766E"/>
            </a:solidFill>
            <a:prstDash val="solid"/>
            <a:headEnd type="none"/>
            <a:tailEnd type="triangle"/>
          </a:ln>
        </p:spPr>
      </p:sp>
      <p:sp>
        <p:nvSpPr>
          <p:cNvPr id="36" name="Shape 34"/>
          <p:cNvSpPr/>
          <p:nvPr/>
        </p:nvSpPr>
        <p:spPr>
          <a:xfrm>
            <a:off x="8458200" y="3172968"/>
            <a:ext cx="0" cy="612648"/>
          </a:xfrm>
          <a:prstGeom prst="line">
            <a:avLst/>
          </a:prstGeom>
          <a:noFill/>
          <a:ln w="22860">
            <a:solidFill>
              <a:srgbClr val="2563EB"/>
            </a:solidFill>
            <a:prstDash val="solid"/>
            <a:headEnd type="none"/>
            <a:tailEnd type="triangle"/>
          </a:ln>
        </p:spPr>
      </p:sp>
      <p:sp>
        <p:nvSpPr>
          <p:cNvPr id="37" name="Shape 35"/>
          <p:cNvSpPr/>
          <p:nvPr/>
        </p:nvSpPr>
        <p:spPr>
          <a:xfrm>
            <a:off x="5257800" y="4041648"/>
            <a:ext cx="457200" cy="0"/>
          </a:xfrm>
          <a:prstGeom prst="line">
            <a:avLst/>
          </a:prstGeom>
          <a:noFill/>
          <a:ln w="22860">
            <a:solidFill>
              <a:srgbClr val="2563EB"/>
            </a:solidFill>
            <a:prstDash val="solid"/>
            <a:headEnd type="none"/>
            <a:tailEnd type="triangle"/>
          </a:ln>
        </p:spPr>
      </p:sp>
      <p:sp>
        <p:nvSpPr>
          <p:cNvPr id="38" name="Shape 36"/>
          <p:cNvSpPr/>
          <p:nvPr/>
        </p:nvSpPr>
        <p:spPr>
          <a:xfrm>
            <a:off x="6675120" y="4297680"/>
            <a:ext cx="0" cy="603504"/>
          </a:xfrm>
          <a:prstGeom prst="line">
            <a:avLst/>
          </a:prstGeom>
          <a:noFill/>
          <a:ln w="22860">
            <a:solidFill>
              <a:srgbClr val="6D28D9"/>
            </a:solidFill>
            <a:prstDash val="solid"/>
            <a:headEnd type="none"/>
            <a:tailEnd type="triangle"/>
          </a:ln>
        </p:spPr>
      </p:sp>
      <p:sp>
        <p:nvSpPr>
          <p:cNvPr id="39" name="Shape 37"/>
          <p:cNvSpPr/>
          <p:nvPr/>
        </p:nvSpPr>
        <p:spPr>
          <a:xfrm>
            <a:off x="7635240" y="4041648"/>
            <a:ext cx="548640" cy="0"/>
          </a:xfrm>
          <a:prstGeom prst="line">
            <a:avLst/>
          </a:prstGeom>
          <a:noFill/>
          <a:ln w="22860">
            <a:solidFill>
              <a:srgbClr val="2563EB"/>
            </a:solidFill>
            <a:prstDash val="solid"/>
            <a:headEnd type="none"/>
            <a:tailEnd type="triangle"/>
          </a:ln>
        </p:spPr>
      </p:sp>
      <p:sp>
        <p:nvSpPr>
          <p:cNvPr id="40" name="Shape 38"/>
          <p:cNvSpPr/>
          <p:nvPr/>
        </p:nvSpPr>
        <p:spPr>
          <a:xfrm>
            <a:off x="10012680" y="3785616"/>
            <a:ext cx="0" cy="0"/>
          </a:xfrm>
          <a:prstGeom prst="line">
            <a:avLst/>
          </a:prstGeom>
          <a:noFill/>
          <a:ln w="22860">
            <a:solidFill>
              <a:srgbClr val="2563EB"/>
            </a:solidFill>
            <a:prstDash val="solid"/>
            <a:headEnd type="none"/>
            <a:tailEnd type="triangle"/>
          </a:ln>
        </p:spPr>
      </p:sp>
      <p:sp>
        <p:nvSpPr>
          <p:cNvPr id="41" name="Text 39"/>
          <p:cNvSpPr/>
          <p:nvPr/>
        </p:nvSpPr>
        <p:spPr>
          <a:xfrm>
            <a:off x="685800" y="5989320"/>
            <a:ext cx="5257800" cy="201168"/>
          </a:xfrm>
          <a:prstGeom prst="rect">
            <a:avLst/>
          </a:prstGeom>
          <a:noFill/>
          <a:ln/>
        </p:spPr>
        <p:txBody>
          <a:bodyPr wrap="square" lIns="0" tIns="0" rIns="0" bIns="0" rtlCol="0" anchor="ctr">
            <a:normAutofit/>
          </a:bodyPr>
          <a:lstStyle/>
          <a:p>
            <a:pPr marL="0" indent="0">
              <a:buNone/>
            </a:pPr>
            <a:r>
              <a:rPr lang="en-US" sz="1000" b="1" dirty="0">
                <a:solidFill>
                  <a:srgbClr val="B42318"/>
                </a:solidFill>
              </a:rPr>
              <a:t>CURRENT: “Simulate POS scan” calls LoyaltyActions.earnStamp directly on-device.</a:t>
            </a:r>
            <a:endParaRPr lang="en-US" sz="1000" dirty="0"/>
          </a:p>
        </p:txBody>
      </p:sp>
      <p:sp>
        <p:nvSpPr>
          <p:cNvPr id="42" name="Text 40"/>
          <p:cNvSpPr/>
          <p:nvPr/>
        </p:nvSpPr>
        <p:spPr>
          <a:xfrm>
            <a:off x="6172200" y="5989320"/>
            <a:ext cx="5257800" cy="201168"/>
          </a:xfrm>
          <a:prstGeom prst="rect">
            <a:avLst/>
          </a:prstGeom>
          <a:noFill/>
          <a:ln/>
        </p:spPr>
        <p:txBody>
          <a:bodyPr wrap="square" lIns="0" tIns="0" rIns="0" bIns="0" rtlCol="0" anchor="ctr">
            <a:normAutofit/>
          </a:bodyPr>
          <a:lstStyle/>
          <a:p>
            <a:pPr marL="0" indent="0">
              <a:buNone/>
            </a:pPr>
            <a:r>
              <a:rPr lang="en-US" sz="1000" b="1" dirty="0">
                <a:solidFill>
                  <a:srgbClr val="0F766E"/>
                </a:solidFill>
              </a:rPr>
              <a:t>TARGET: POS calls authenticated central API; mobile app receives refreshed balance.</a:t>
            </a:r>
            <a:endParaRPr lang="en-US" sz="1000" dirty="0"/>
          </a:p>
        </p:txBody>
      </p:sp>
      <p:sp>
        <p:nvSpPr>
          <p:cNvPr id="43" name="Text 41"/>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scan_screen.dart L16–21, L170–277; LoyaltyDao.earnStamp L137–214</a:t>
            </a:r>
            <a:endParaRPr lang="en-US" sz="750" dirty="0"/>
          </a:p>
        </p:txBody>
      </p:sp>
      <p:sp>
        <p:nvSpPr>
          <p:cNvPr id="44"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Earn decision tree and atomic database write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A stamp is granted only after all gates pass; replay prevention is enforced by a unique database key.</a:t>
            </a:r>
            <a:endParaRPr lang="en-US" sz="1250" dirty="0"/>
          </a:p>
        </p:txBody>
      </p:sp>
      <p:sp>
        <p:nvSpPr>
          <p:cNvPr id="4" name="Shape 2"/>
          <p:cNvSpPr/>
          <p:nvPr/>
        </p:nvSpPr>
        <p:spPr>
          <a:xfrm>
            <a:off x="658368" y="1353312"/>
            <a:ext cx="347472" cy="347472"/>
          </a:xfrm>
          <a:prstGeom prst="ellipse">
            <a:avLst/>
          </a:prstGeom>
          <a:solidFill>
            <a:srgbClr val="2563EB"/>
          </a:solidFill>
          <a:ln w="12700">
            <a:solidFill>
              <a:srgbClr val="2563EB"/>
            </a:solidFill>
            <a:prstDash val="solid"/>
          </a:ln>
        </p:spPr>
      </p:sp>
      <p:sp>
        <p:nvSpPr>
          <p:cNvPr id="5" name="Text 3"/>
          <p:cNvSpPr/>
          <p:nvPr/>
        </p:nvSpPr>
        <p:spPr>
          <a:xfrm>
            <a:off x="658368" y="1431036"/>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6" name="Shape 4"/>
          <p:cNvSpPr/>
          <p:nvPr/>
        </p:nvSpPr>
        <p:spPr>
          <a:xfrm>
            <a:off x="1097280" y="1307592"/>
            <a:ext cx="2880360" cy="502920"/>
          </a:xfrm>
          <a:prstGeom prst="roundRect">
            <a:avLst>
              <a:gd name="adj" fmla="val 14545"/>
            </a:avLst>
          </a:prstGeom>
          <a:solidFill>
            <a:srgbClr val="E9F1FF"/>
          </a:solidFill>
          <a:ln w="13970">
            <a:solidFill>
              <a:srgbClr val="2563EB"/>
            </a:solidFill>
            <a:prstDash val="solid"/>
          </a:ln>
        </p:spPr>
      </p:sp>
      <p:sp>
        <p:nvSpPr>
          <p:cNvPr id="7" name="Text 5"/>
          <p:cNvSpPr/>
          <p:nvPr/>
        </p:nvSpPr>
        <p:spPr>
          <a:xfrm>
            <a:off x="1261872" y="1444752"/>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Campaign exists?</a:t>
            </a:r>
            <a:endParaRPr lang="en-US" sz="1100" dirty="0"/>
          </a:p>
        </p:txBody>
      </p:sp>
      <p:sp>
        <p:nvSpPr>
          <p:cNvPr id="8" name="Shape 6"/>
          <p:cNvSpPr/>
          <p:nvPr/>
        </p:nvSpPr>
        <p:spPr>
          <a:xfrm>
            <a:off x="3977640" y="1554480"/>
            <a:ext cx="429768" cy="0"/>
          </a:xfrm>
          <a:prstGeom prst="line">
            <a:avLst/>
          </a:prstGeom>
          <a:noFill/>
          <a:ln w="22860">
            <a:solidFill>
              <a:srgbClr val="2563EB"/>
            </a:solidFill>
            <a:prstDash val="solid"/>
            <a:headEnd type="none"/>
            <a:tailEnd type="triangle"/>
          </a:ln>
        </p:spPr>
      </p:sp>
      <p:sp>
        <p:nvSpPr>
          <p:cNvPr id="9" name="Shape 7"/>
          <p:cNvSpPr/>
          <p:nvPr/>
        </p:nvSpPr>
        <p:spPr>
          <a:xfrm>
            <a:off x="4434840" y="1307592"/>
            <a:ext cx="2331720" cy="502920"/>
          </a:xfrm>
          <a:prstGeom prst="roundRect">
            <a:avLst>
              <a:gd name="adj" fmla="val 14545"/>
            </a:avLst>
          </a:prstGeom>
          <a:solidFill>
            <a:srgbClr val="FDE8E7"/>
          </a:solidFill>
          <a:ln w="13970">
            <a:solidFill>
              <a:srgbClr val="B42318"/>
            </a:solidFill>
            <a:prstDash val="solid"/>
          </a:ln>
        </p:spPr>
      </p:sp>
      <p:sp>
        <p:nvSpPr>
          <p:cNvPr id="10" name="Text 8"/>
          <p:cNvSpPr/>
          <p:nvPr/>
        </p:nvSpPr>
        <p:spPr>
          <a:xfrm>
            <a:off x="4599432" y="1444752"/>
            <a:ext cx="2020824" cy="256032"/>
          </a:xfrm>
          <a:prstGeom prst="rect">
            <a:avLst/>
          </a:prstGeom>
          <a:noFill/>
          <a:ln/>
        </p:spPr>
        <p:txBody>
          <a:bodyPr wrap="square" lIns="0" tIns="0" rIns="0" bIns="0" rtlCol="0" anchor="ctr">
            <a:normAutofit/>
          </a:bodyPr>
          <a:lstStyle/>
          <a:p>
            <a:pPr marL="0" indent="0">
              <a:buNone/>
            </a:pPr>
            <a:r>
              <a:rPr lang="en-US" sz="950" b="1" dirty="0">
                <a:solidFill>
                  <a:srgbClr val="2B1D16"/>
                </a:solidFill>
              </a:rPr>
              <a:t>No → no longer available</a:t>
            </a:r>
            <a:endParaRPr lang="en-US" sz="950" dirty="0"/>
          </a:p>
        </p:txBody>
      </p:sp>
      <p:sp>
        <p:nvSpPr>
          <p:cNvPr id="11" name="Shape 9"/>
          <p:cNvSpPr/>
          <p:nvPr/>
        </p:nvSpPr>
        <p:spPr>
          <a:xfrm>
            <a:off x="658368" y="2066544"/>
            <a:ext cx="347472" cy="347472"/>
          </a:xfrm>
          <a:prstGeom prst="ellipse">
            <a:avLst/>
          </a:prstGeom>
          <a:solidFill>
            <a:srgbClr val="2563EB"/>
          </a:solidFill>
          <a:ln w="12700">
            <a:solidFill>
              <a:srgbClr val="2563EB"/>
            </a:solidFill>
            <a:prstDash val="solid"/>
          </a:ln>
        </p:spPr>
      </p:sp>
      <p:sp>
        <p:nvSpPr>
          <p:cNvPr id="12" name="Text 10"/>
          <p:cNvSpPr/>
          <p:nvPr/>
        </p:nvSpPr>
        <p:spPr>
          <a:xfrm>
            <a:off x="658368" y="2144268"/>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3" name="Shape 11"/>
          <p:cNvSpPr/>
          <p:nvPr/>
        </p:nvSpPr>
        <p:spPr>
          <a:xfrm>
            <a:off x="1097280" y="2020824"/>
            <a:ext cx="2880360" cy="502920"/>
          </a:xfrm>
          <a:prstGeom prst="roundRect">
            <a:avLst>
              <a:gd name="adj" fmla="val 14545"/>
            </a:avLst>
          </a:prstGeom>
          <a:solidFill>
            <a:srgbClr val="E9F1FF"/>
          </a:solidFill>
          <a:ln w="13970">
            <a:solidFill>
              <a:srgbClr val="2563EB"/>
            </a:solidFill>
            <a:prstDash val="solid"/>
          </a:ln>
        </p:spPr>
      </p:sp>
      <p:sp>
        <p:nvSpPr>
          <p:cNvPr id="14" name="Text 12"/>
          <p:cNvSpPr/>
          <p:nvPr/>
        </p:nvSpPr>
        <p:spPr>
          <a:xfrm>
            <a:off x="1261872" y="2157984"/>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Active now?</a:t>
            </a:r>
            <a:endParaRPr lang="en-US" sz="1100" dirty="0"/>
          </a:p>
        </p:txBody>
      </p:sp>
      <p:sp>
        <p:nvSpPr>
          <p:cNvPr id="15" name="Shape 13"/>
          <p:cNvSpPr/>
          <p:nvPr/>
        </p:nvSpPr>
        <p:spPr>
          <a:xfrm>
            <a:off x="3977640" y="2267712"/>
            <a:ext cx="429768" cy="0"/>
          </a:xfrm>
          <a:prstGeom prst="line">
            <a:avLst/>
          </a:prstGeom>
          <a:noFill/>
          <a:ln w="22860">
            <a:solidFill>
              <a:srgbClr val="2563EB"/>
            </a:solidFill>
            <a:prstDash val="solid"/>
            <a:headEnd type="none"/>
            <a:tailEnd type="triangle"/>
          </a:ln>
        </p:spPr>
      </p:sp>
      <p:sp>
        <p:nvSpPr>
          <p:cNvPr id="16" name="Shape 14"/>
          <p:cNvSpPr/>
          <p:nvPr/>
        </p:nvSpPr>
        <p:spPr>
          <a:xfrm>
            <a:off x="4434840" y="2020824"/>
            <a:ext cx="2331720" cy="502920"/>
          </a:xfrm>
          <a:prstGeom prst="roundRect">
            <a:avLst>
              <a:gd name="adj" fmla="val 14545"/>
            </a:avLst>
          </a:prstGeom>
          <a:solidFill>
            <a:srgbClr val="FDE8E7"/>
          </a:solidFill>
          <a:ln w="13970">
            <a:solidFill>
              <a:srgbClr val="B42318"/>
            </a:solidFill>
            <a:prstDash val="solid"/>
          </a:ln>
        </p:spPr>
      </p:sp>
      <p:sp>
        <p:nvSpPr>
          <p:cNvPr id="17" name="Text 15"/>
          <p:cNvSpPr/>
          <p:nvPr/>
        </p:nvSpPr>
        <p:spPr>
          <a:xfrm>
            <a:off x="4599432" y="2157984"/>
            <a:ext cx="2020824" cy="256032"/>
          </a:xfrm>
          <a:prstGeom prst="rect">
            <a:avLst/>
          </a:prstGeom>
          <a:noFill/>
          <a:ln/>
        </p:spPr>
        <p:txBody>
          <a:bodyPr wrap="square" lIns="0" tIns="0" rIns="0" bIns="0" rtlCol="0" anchor="ctr">
            <a:normAutofit/>
          </a:bodyPr>
          <a:lstStyle/>
          <a:p>
            <a:pPr marL="0" indent="0">
              <a:buNone/>
            </a:pPr>
            <a:r>
              <a:rPr lang="en-US" sz="950" b="1" dirty="0">
                <a:solidFill>
                  <a:srgbClr val="2B1D16"/>
                </a:solidFill>
              </a:rPr>
              <a:t>No → campaign not running / expired</a:t>
            </a:r>
            <a:endParaRPr lang="en-US" sz="950" dirty="0"/>
          </a:p>
        </p:txBody>
      </p:sp>
      <p:sp>
        <p:nvSpPr>
          <p:cNvPr id="18" name="Shape 16"/>
          <p:cNvSpPr/>
          <p:nvPr/>
        </p:nvSpPr>
        <p:spPr>
          <a:xfrm>
            <a:off x="658368" y="2779776"/>
            <a:ext cx="347472" cy="347472"/>
          </a:xfrm>
          <a:prstGeom prst="ellipse">
            <a:avLst/>
          </a:prstGeom>
          <a:solidFill>
            <a:srgbClr val="2563EB"/>
          </a:solidFill>
          <a:ln w="12700">
            <a:solidFill>
              <a:srgbClr val="2563EB"/>
            </a:solidFill>
            <a:prstDash val="solid"/>
          </a:ln>
        </p:spPr>
      </p:sp>
      <p:sp>
        <p:nvSpPr>
          <p:cNvPr id="19" name="Text 17"/>
          <p:cNvSpPr/>
          <p:nvPr/>
        </p:nvSpPr>
        <p:spPr>
          <a:xfrm>
            <a:off x="658368" y="2857500"/>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20" name="Shape 18"/>
          <p:cNvSpPr/>
          <p:nvPr/>
        </p:nvSpPr>
        <p:spPr>
          <a:xfrm>
            <a:off x="1097280" y="2734056"/>
            <a:ext cx="2880360" cy="502920"/>
          </a:xfrm>
          <a:prstGeom prst="roundRect">
            <a:avLst>
              <a:gd name="adj" fmla="val 14545"/>
            </a:avLst>
          </a:prstGeom>
          <a:solidFill>
            <a:srgbClr val="E9F1FF"/>
          </a:solidFill>
          <a:ln w="13970">
            <a:solidFill>
              <a:srgbClr val="2563EB"/>
            </a:solidFill>
            <a:prstDash val="solid"/>
          </a:ln>
        </p:spPr>
      </p:sp>
      <p:sp>
        <p:nvSpPr>
          <p:cNvPr id="21" name="Text 19"/>
          <p:cNvSpPr/>
          <p:nvPr/>
        </p:nvSpPr>
        <p:spPr>
          <a:xfrm>
            <a:off x="1261872" y="2871216"/>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Token unused?</a:t>
            </a:r>
            <a:endParaRPr lang="en-US" sz="1100" dirty="0"/>
          </a:p>
        </p:txBody>
      </p:sp>
      <p:sp>
        <p:nvSpPr>
          <p:cNvPr id="22" name="Shape 20"/>
          <p:cNvSpPr/>
          <p:nvPr/>
        </p:nvSpPr>
        <p:spPr>
          <a:xfrm>
            <a:off x="3977640" y="2980944"/>
            <a:ext cx="429768" cy="0"/>
          </a:xfrm>
          <a:prstGeom prst="line">
            <a:avLst/>
          </a:prstGeom>
          <a:noFill/>
          <a:ln w="22860">
            <a:solidFill>
              <a:srgbClr val="2563EB"/>
            </a:solidFill>
            <a:prstDash val="solid"/>
            <a:headEnd type="none"/>
            <a:tailEnd type="triangle"/>
          </a:ln>
        </p:spPr>
      </p:sp>
      <p:sp>
        <p:nvSpPr>
          <p:cNvPr id="23" name="Shape 21"/>
          <p:cNvSpPr/>
          <p:nvPr/>
        </p:nvSpPr>
        <p:spPr>
          <a:xfrm>
            <a:off x="4434840" y="2734056"/>
            <a:ext cx="2331720" cy="502920"/>
          </a:xfrm>
          <a:prstGeom prst="roundRect">
            <a:avLst>
              <a:gd name="adj" fmla="val 14545"/>
            </a:avLst>
          </a:prstGeom>
          <a:solidFill>
            <a:srgbClr val="FDE8E7"/>
          </a:solidFill>
          <a:ln w="13970">
            <a:solidFill>
              <a:srgbClr val="B42318"/>
            </a:solidFill>
            <a:prstDash val="solid"/>
          </a:ln>
        </p:spPr>
      </p:sp>
      <p:sp>
        <p:nvSpPr>
          <p:cNvPr id="24" name="Text 22"/>
          <p:cNvSpPr/>
          <p:nvPr/>
        </p:nvSpPr>
        <p:spPr>
          <a:xfrm>
            <a:off x="4599432" y="2871216"/>
            <a:ext cx="2020824" cy="256032"/>
          </a:xfrm>
          <a:prstGeom prst="rect">
            <a:avLst/>
          </a:prstGeom>
          <a:noFill/>
          <a:ln/>
        </p:spPr>
        <p:txBody>
          <a:bodyPr wrap="square" lIns="0" tIns="0" rIns="0" bIns="0" rtlCol="0" anchor="ctr">
            <a:normAutofit/>
          </a:bodyPr>
          <a:lstStyle/>
          <a:p>
            <a:pPr marL="0" indent="0">
              <a:buNone/>
            </a:pPr>
            <a:r>
              <a:rPr lang="en-US" sz="950" b="1" dirty="0">
                <a:solidFill>
                  <a:srgbClr val="2B1D16"/>
                </a:solidFill>
              </a:rPr>
              <a:t>No → already used</a:t>
            </a:r>
            <a:endParaRPr lang="en-US" sz="950" dirty="0"/>
          </a:p>
        </p:txBody>
      </p:sp>
      <p:sp>
        <p:nvSpPr>
          <p:cNvPr id="25" name="Shape 23"/>
          <p:cNvSpPr/>
          <p:nvPr/>
        </p:nvSpPr>
        <p:spPr>
          <a:xfrm>
            <a:off x="658368" y="3493008"/>
            <a:ext cx="347472" cy="347472"/>
          </a:xfrm>
          <a:prstGeom prst="ellipse">
            <a:avLst/>
          </a:prstGeom>
          <a:solidFill>
            <a:srgbClr val="2563EB"/>
          </a:solidFill>
          <a:ln w="12700">
            <a:solidFill>
              <a:srgbClr val="2563EB"/>
            </a:solidFill>
            <a:prstDash val="solid"/>
          </a:ln>
        </p:spPr>
      </p:sp>
      <p:sp>
        <p:nvSpPr>
          <p:cNvPr id="26" name="Text 24"/>
          <p:cNvSpPr/>
          <p:nvPr/>
        </p:nvSpPr>
        <p:spPr>
          <a:xfrm>
            <a:off x="658368" y="3570732"/>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7" name="Shape 25"/>
          <p:cNvSpPr/>
          <p:nvPr/>
        </p:nvSpPr>
        <p:spPr>
          <a:xfrm>
            <a:off x="1097280" y="3447288"/>
            <a:ext cx="2880360" cy="502920"/>
          </a:xfrm>
          <a:prstGeom prst="roundRect">
            <a:avLst>
              <a:gd name="adj" fmla="val 14545"/>
            </a:avLst>
          </a:prstGeom>
          <a:solidFill>
            <a:srgbClr val="E9F1FF"/>
          </a:solidFill>
          <a:ln w="13970">
            <a:solidFill>
              <a:srgbClr val="2563EB"/>
            </a:solidFill>
            <a:prstDash val="solid"/>
          </a:ln>
        </p:spPr>
      </p:sp>
      <p:sp>
        <p:nvSpPr>
          <p:cNvPr id="28" name="Text 26"/>
          <p:cNvSpPr/>
          <p:nvPr/>
        </p:nvSpPr>
        <p:spPr>
          <a:xfrm>
            <a:off x="1261872" y="3584448"/>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Open card available?</a:t>
            </a:r>
            <a:endParaRPr lang="en-US" sz="1100" dirty="0"/>
          </a:p>
        </p:txBody>
      </p:sp>
      <p:sp>
        <p:nvSpPr>
          <p:cNvPr id="29" name="Shape 27"/>
          <p:cNvSpPr/>
          <p:nvPr/>
        </p:nvSpPr>
        <p:spPr>
          <a:xfrm>
            <a:off x="3977640" y="3694176"/>
            <a:ext cx="429768" cy="0"/>
          </a:xfrm>
          <a:prstGeom prst="line">
            <a:avLst/>
          </a:prstGeom>
          <a:noFill/>
          <a:ln w="22860">
            <a:solidFill>
              <a:srgbClr val="2563EB"/>
            </a:solidFill>
            <a:prstDash val="solid"/>
            <a:headEnd type="none"/>
            <a:tailEnd type="triangle"/>
          </a:ln>
        </p:spPr>
      </p:sp>
      <p:sp>
        <p:nvSpPr>
          <p:cNvPr id="30" name="Shape 28"/>
          <p:cNvSpPr/>
          <p:nvPr/>
        </p:nvSpPr>
        <p:spPr>
          <a:xfrm>
            <a:off x="4434840" y="3447288"/>
            <a:ext cx="2331720" cy="502920"/>
          </a:xfrm>
          <a:prstGeom prst="roundRect">
            <a:avLst>
              <a:gd name="adj" fmla="val 14545"/>
            </a:avLst>
          </a:prstGeom>
          <a:solidFill>
            <a:srgbClr val="FDE8E7"/>
          </a:solidFill>
          <a:ln w="13970">
            <a:solidFill>
              <a:srgbClr val="B42318"/>
            </a:solidFill>
            <a:prstDash val="solid"/>
          </a:ln>
        </p:spPr>
      </p:sp>
      <p:sp>
        <p:nvSpPr>
          <p:cNvPr id="31" name="Text 29"/>
          <p:cNvSpPr/>
          <p:nvPr/>
        </p:nvSpPr>
        <p:spPr>
          <a:xfrm>
            <a:off x="4599432" y="3584448"/>
            <a:ext cx="2020824" cy="256032"/>
          </a:xfrm>
          <a:prstGeom prst="rect">
            <a:avLst/>
          </a:prstGeom>
          <a:noFill/>
          <a:ln/>
        </p:spPr>
        <p:txBody>
          <a:bodyPr wrap="square" lIns="0" tIns="0" rIns="0" bIns="0" rtlCol="0" anchor="ctr">
            <a:normAutofit/>
          </a:bodyPr>
          <a:lstStyle/>
          <a:p>
            <a:pPr marL="0" indent="0">
              <a:buNone/>
            </a:pPr>
            <a:r>
              <a:rPr lang="en-US" sz="950" b="1" dirty="0">
                <a:solidFill>
                  <a:srgbClr val="2B1D16"/>
                </a:solidFill>
              </a:rPr>
              <a:t>No → create cycle 1</a:t>
            </a:r>
            <a:endParaRPr lang="en-US" sz="950" dirty="0"/>
          </a:p>
        </p:txBody>
      </p:sp>
      <p:sp>
        <p:nvSpPr>
          <p:cNvPr id="32" name="Shape 30"/>
          <p:cNvSpPr/>
          <p:nvPr/>
        </p:nvSpPr>
        <p:spPr>
          <a:xfrm>
            <a:off x="658368" y="4206240"/>
            <a:ext cx="347472" cy="347472"/>
          </a:xfrm>
          <a:prstGeom prst="ellipse">
            <a:avLst/>
          </a:prstGeom>
          <a:solidFill>
            <a:srgbClr val="2563EB"/>
          </a:solidFill>
          <a:ln w="12700">
            <a:solidFill>
              <a:srgbClr val="2563EB"/>
            </a:solidFill>
            <a:prstDash val="solid"/>
          </a:ln>
        </p:spPr>
      </p:sp>
      <p:sp>
        <p:nvSpPr>
          <p:cNvPr id="33" name="Text 31"/>
          <p:cNvSpPr/>
          <p:nvPr/>
        </p:nvSpPr>
        <p:spPr>
          <a:xfrm>
            <a:off x="658368" y="428396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34" name="Shape 32"/>
          <p:cNvSpPr/>
          <p:nvPr/>
        </p:nvSpPr>
        <p:spPr>
          <a:xfrm>
            <a:off x="1097280" y="4160520"/>
            <a:ext cx="2880360" cy="502920"/>
          </a:xfrm>
          <a:prstGeom prst="roundRect">
            <a:avLst>
              <a:gd name="adj" fmla="val 14545"/>
            </a:avLst>
          </a:prstGeom>
          <a:solidFill>
            <a:srgbClr val="E9F1FF"/>
          </a:solidFill>
          <a:ln w="13970">
            <a:solidFill>
              <a:srgbClr val="2563EB"/>
            </a:solidFill>
            <a:prstDash val="solid"/>
          </a:ln>
        </p:spPr>
      </p:sp>
      <p:sp>
        <p:nvSpPr>
          <p:cNvPr id="35" name="Text 33"/>
          <p:cNvSpPr/>
          <p:nvPr/>
        </p:nvSpPr>
        <p:spPr>
          <a:xfrm>
            <a:off x="1261872" y="4297680"/>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Card not full?</a:t>
            </a:r>
            <a:endParaRPr lang="en-US" sz="1100" dirty="0"/>
          </a:p>
        </p:txBody>
      </p:sp>
      <p:sp>
        <p:nvSpPr>
          <p:cNvPr id="36" name="Shape 34"/>
          <p:cNvSpPr/>
          <p:nvPr/>
        </p:nvSpPr>
        <p:spPr>
          <a:xfrm>
            <a:off x="3977640" y="4407408"/>
            <a:ext cx="429768" cy="0"/>
          </a:xfrm>
          <a:prstGeom prst="line">
            <a:avLst/>
          </a:prstGeom>
          <a:noFill/>
          <a:ln w="22860">
            <a:solidFill>
              <a:srgbClr val="2563EB"/>
            </a:solidFill>
            <a:prstDash val="solid"/>
            <a:headEnd type="none"/>
            <a:tailEnd type="triangle"/>
          </a:ln>
        </p:spPr>
      </p:sp>
      <p:sp>
        <p:nvSpPr>
          <p:cNvPr id="37" name="Shape 35"/>
          <p:cNvSpPr/>
          <p:nvPr/>
        </p:nvSpPr>
        <p:spPr>
          <a:xfrm>
            <a:off x="4434840" y="4160520"/>
            <a:ext cx="2331720" cy="502920"/>
          </a:xfrm>
          <a:prstGeom prst="roundRect">
            <a:avLst>
              <a:gd name="adj" fmla="val 14545"/>
            </a:avLst>
          </a:prstGeom>
          <a:solidFill>
            <a:srgbClr val="FDE8E7"/>
          </a:solidFill>
          <a:ln w="13970">
            <a:solidFill>
              <a:srgbClr val="B42318"/>
            </a:solidFill>
            <a:prstDash val="solid"/>
          </a:ln>
        </p:spPr>
      </p:sp>
      <p:sp>
        <p:nvSpPr>
          <p:cNvPr id="38" name="Text 36"/>
          <p:cNvSpPr/>
          <p:nvPr/>
        </p:nvSpPr>
        <p:spPr>
          <a:xfrm>
            <a:off x="4599432" y="4297680"/>
            <a:ext cx="2020824" cy="256032"/>
          </a:xfrm>
          <a:prstGeom prst="rect">
            <a:avLst/>
          </a:prstGeom>
          <a:noFill/>
          <a:ln/>
        </p:spPr>
        <p:txBody>
          <a:bodyPr wrap="square" lIns="0" tIns="0" rIns="0" bIns="0" rtlCol="0" anchor="ctr">
            <a:normAutofit/>
          </a:bodyPr>
          <a:lstStyle/>
          <a:p>
            <a:pPr marL="0" indent="0">
              <a:buNone/>
            </a:pPr>
            <a:r>
              <a:rPr lang="en-US" sz="950" b="1" dirty="0">
                <a:solidFill>
                  <a:srgbClr val="2B1D16"/>
                </a:solidFill>
              </a:rPr>
              <a:t>No → redeem first</a:t>
            </a:r>
            <a:endParaRPr lang="en-US" sz="950" dirty="0"/>
          </a:p>
        </p:txBody>
      </p:sp>
      <p:sp>
        <p:nvSpPr>
          <p:cNvPr id="39" name="Shape 37"/>
          <p:cNvSpPr/>
          <p:nvPr/>
        </p:nvSpPr>
        <p:spPr>
          <a:xfrm>
            <a:off x="658368" y="4919472"/>
            <a:ext cx="347472" cy="347472"/>
          </a:xfrm>
          <a:prstGeom prst="ellipse">
            <a:avLst/>
          </a:prstGeom>
          <a:solidFill>
            <a:srgbClr val="2563EB"/>
          </a:solidFill>
          <a:ln w="12700">
            <a:solidFill>
              <a:srgbClr val="2563EB"/>
            </a:solidFill>
            <a:prstDash val="solid"/>
          </a:ln>
        </p:spPr>
      </p:sp>
      <p:sp>
        <p:nvSpPr>
          <p:cNvPr id="40" name="Text 38"/>
          <p:cNvSpPr/>
          <p:nvPr/>
        </p:nvSpPr>
        <p:spPr>
          <a:xfrm>
            <a:off x="658368" y="4997196"/>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41" name="Shape 39"/>
          <p:cNvSpPr/>
          <p:nvPr/>
        </p:nvSpPr>
        <p:spPr>
          <a:xfrm>
            <a:off x="1097280" y="4873752"/>
            <a:ext cx="2880360" cy="502920"/>
          </a:xfrm>
          <a:prstGeom prst="roundRect">
            <a:avLst>
              <a:gd name="adj" fmla="val 14545"/>
            </a:avLst>
          </a:prstGeom>
          <a:solidFill>
            <a:srgbClr val="E9F1FF"/>
          </a:solidFill>
          <a:ln w="13970">
            <a:solidFill>
              <a:srgbClr val="2563EB"/>
            </a:solidFill>
            <a:prstDash val="solid"/>
          </a:ln>
        </p:spPr>
      </p:sp>
      <p:sp>
        <p:nvSpPr>
          <p:cNvPr id="42" name="Text 40"/>
          <p:cNvSpPr/>
          <p:nvPr/>
        </p:nvSpPr>
        <p:spPr>
          <a:xfrm>
            <a:off x="1261872" y="5010912"/>
            <a:ext cx="2569464" cy="256032"/>
          </a:xfrm>
          <a:prstGeom prst="rect">
            <a:avLst/>
          </a:prstGeom>
          <a:noFill/>
          <a:ln/>
        </p:spPr>
        <p:txBody>
          <a:bodyPr wrap="square" lIns="0" tIns="0" rIns="0" bIns="0" rtlCol="0" anchor="ctr">
            <a:normAutofit/>
          </a:bodyPr>
          <a:lstStyle/>
          <a:p>
            <a:pPr marL="0" indent="0">
              <a:buNone/>
            </a:pPr>
            <a:r>
              <a:rPr lang="en-US" sz="1100" b="1" dirty="0">
                <a:solidFill>
                  <a:srgbClr val="2B1D16"/>
                </a:solidFill>
              </a:rPr>
              <a:t>Qualifying product?</a:t>
            </a:r>
            <a:endParaRPr lang="en-US" sz="1100" dirty="0"/>
          </a:p>
        </p:txBody>
      </p:sp>
      <p:sp>
        <p:nvSpPr>
          <p:cNvPr id="43" name="Shape 41"/>
          <p:cNvSpPr/>
          <p:nvPr/>
        </p:nvSpPr>
        <p:spPr>
          <a:xfrm>
            <a:off x="3977640" y="5120640"/>
            <a:ext cx="429768" cy="0"/>
          </a:xfrm>
          <a:prstGeom prst="line">
            <a:avLst/>
          </a:prstGeom>
          <a:noFill/>
          <a:ln w="22860">
            <a:solidFill>
              <a:srgbClr val="2563EB"/>
            </a:solidFill>
            <a:prstDash val="solid"/>
            <a:headEnd type="none"/>
            <a:tailEnd type="triangle"/>
          </a:ln>
        </p:spPr>
      </p:sp>
      <p:sp>
        <p:nvSpPr>
          <p:cNvPr id="44" name="Shape 42"/>
          <p:cNvSpPr/>
          <p:nvPr/>
        </p:nvSpPr>
        <p:spPr>
          <a:xfrm>
            <a:off x="4434840" y="4873752"/>
            <a:ext cx="2331720" cy="502920"/>
          </a:xfrm>
          <a:prstGeom prst="roundRect">
            <a:avLst>
              <a:gd name="adj" fmla="val 14545"/>
            </a:avLst>
          </a:prstGeom>
          <a:solidFill>
            <a:srgbClr val="FDE8E7"/>
          </a:solidFill>
          <a:ln w="13970">
            <a:solidFill>
              <a:srgbClr val="B42318"/>
            </a:solidFill>
            <a:prstDash val="solid"/>
          </a:ln>
        </p:spPr>
      </p:sp>
      <p:sp>
        <p:nvSpPr>
          <p:cNvPr id="45" name="Text 43"/>
          <p:cNvSpPr/>
          <p:nvPr/>
        </p:nvSpPr>
        <p:spPr>
          <a:xfrm>
            <a:off x="4599432" y="5010912"/>
            <a:ext cx="2020824" cy="256032"/>
          </a:xfrm>
          <a:prstGeom prst="rect">
            <a:avLst/>
          </a:prstGeom>
          <a:noFill/>
          <a:ln/>
        </p:spPr>
        <p:txBody>
          <a:bodyPr wrap="square" lIns="0" tIns="0" rIns="0" bIns="0" rtlCol="0" anchor="ctr">
            <a:normAutofit fontScale="92500" lnSpcReduction="10000"/>
          </a:bodyPr>
          <a:lstStyle/>
          <a:p>
            <a:pPr marL="0" indent="0">
              <a:buNone/>
            </a:pPr>
            <a:r>
              <a:rPr lang="en-US" sz="950" b="1" dirty="0">
                <a:solidFill>
                  <a:srgbClr val="2B1D16"/>
                </a:solidFill>
              </a:rPr>
              <a:t>Target POS/API must validate against eligible_product_codes</a:t>
            </a:r>
            <a:endParaRPr lang="en-US" sz="950" dirty="0"/>
          </a:p>
        </p:txBody>
      </p:sp>
      <p:sp>
        <p:nvSpPr>
          <p:cNvPr id="46" name="Shape 44"/>
          <p:cNvSpPr/>
          <p:nvPr/>
        </p:nvSpPr>
        <p:spPr>
          <a:xfrm>
            <a:off x="7132320" y="1353312"/>
            <a:ext cx="4389120" cy="3063240"/>
          </a:xfrm>
          <a:prstGeom prst="roundRect">
            <a:avLst>
              <a:gd name="adj" fmla="val 2388"/>
            </a:avLst>
          </a:prstGeom>
          <a:solidFill>
            <a:srgbClr val="F0E9FF"/>
          </a:solidFill>
          <a:ln w="15240">
            <a:solidFill>
              <a:srgbClr val="6D28D9"/>
            </a:solidFill>
            <a:prstDash val="solid"/>
          </a:ln>
          <a:effectLst>
            <a:outerShdw blurRad="25400" dist="50800" dir="2700000" algn="bl" rotWithShape="0">
              <a:srgbClr val="000000">
                <a:alpha val="12000"/>
              </a:srgbClr>
            </a:outerShdw>
          </a:effectLst>
        </p:spPr>
      </p:sp>
      <p:sp>
        <p:nvSpPr>
          <p:cNvPr id="47" name="Text 45"/>
          <p:cNvSpPr/>
          <p:nvPr/>
        </p:nvSpPr>
        <p:spPr>
          <a:xfrm>
            <a:off x="7406640" y="1627632"/>
            <a:ext cx="3794760" cy="228600"/>
          </a:xfrm>
          <a:prstGeom prst="rect">
            <a:avLst/>
          </a:prstGeom>
          <a:noFill/>
          <a:ln/>
        </p:spPr>
        <p:txBody>
          <a:bodyPr wrap="square" lIns="0" tIns="0" rIns="0" bIns="0" rtlCol="0" anchor="ctr"/>
          <a:lstStyle/>
          <a:p>
            <a:pPr marL="0" indent="0" algn="ctr">
              <a:buNone/>
            </a:pPr>
            <a:r>
              <a:rPr lang="en-US" sz="1600" b="1" dirty="0">
                <a:solidFill>
                  <a:srgbClr val="6D28D9"/>
                </a:solidFill>
              </a:rPr>
              <a:t>ONE DRIFT TRANSACTION</a:t>
            </a:r>
            <a:endParaRPr lang="en-US" sz="1600" dirty="0"/>
          </a:p>
        </p:txBody>
      </p:sp>
      <p:sp>
        <p:nvSpPr>
          <p:cNvPr id="48" name="Shape 46"/>
          <p:cNvSpPr/>
          <p:nvPr/>
        </p:nvSpPr>
        <p:spPr>
          <a:xfrm>
            <a:off x="7452360" y="2057400"/>
            <a:ext cx="1600200" cy="914400"/>
          </a:xfrm>
          <a:prstGeom prst="roundRect">
            <a:avLst>
              <a:gd name="adj" fmla="val 8000"/>
            </a:avLst>
          </a:prstGeom>
          <a:solidFill>
            <a:srgbClr val="FFFFFF"/>
          </a:solidFill>
          <a:ln w="13970">
            <a:solidFill>
              <a:srgbClr val="6D28D9"/>
            </a:solidFill>
            <a:prstDash val="solid"/>
          </a:ln>
        </p:spPr>
      </p:sp>
      <p:sp>
        <p:nvSpPr>
          <p:cNvPr id="49" name="Text 47"/>
          <p:cNvSpPr/>
          <p:nvPr/>
        </p:nvSpPr>
        <p:spPr>
          <a:xfrm>
            <a:off x="7616952" y="2194560"/>
            <a:ext cx="1289304"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stamp_cards</a:t>
            </a:r>
            <a:endParaRPr lang="en-US" sz="1200" dirty="0"/>
          </a:p>
        </p:txBody>
      </p:sp>
      <p:sp>
        <p:nvSpPr>
          <p:cNvPr id="50" name="Text 48"/>
          <p:cNvSpPr/>
          <p:nvPr/>
        </p:nvSpPr>
        <p:spPr>
          <a:xfrm>
            <a:off x="7616952" y="2551176"/>
            <a:ext cx="1271016" cy="292608"/>
          </a:xfrm>
          <a:prstGeom prst="rect">
            <a:avLst/>
          </a:prstGeom>
          <a:noFill/>
          <a:ln/>
        </p:spPr>
        <p:txBody>
          <a:bodyPr wrap="square" lIns="0" tIns="0" rIns="0" bIns="0" rtlCol="0" anchor="t">
            <a:normAutofit fontScale="77500" lnSpcReduction="20000"/>
          </a:bodyPr>
          <a:lstStyle/>
          <a:p>
            <a:pPr marL="0" indent="0">
              <a:buNone/>
            </a:pPr>
            <a:r>
              <a:rPr lang="en-US" sz="950" dirty="0">
                <a:solidFill>
                  <a:srgbClr val="252525"/>
                </a:solidFill>
              </a:rPr>
              <a:t>stamps_collected + 1</a:t>
            </a:r>
            <a:endParaRPr lang="en-US" sz="950" dirty="0"/>
          </a:p>
          <a:p>
            <a:pPr marL="0" indent="0">
              <a:buNone/>
            </a:pPr>
            <a:r>
              <a:rPr lang="en-US" sz="950" dirty="0">
                <a:solidFill>
                  <a:srgbClr val="252525"/>
                </a:solidFill>
              </a:rPr>
              <a:t>completed_at when full</a:t>
            </a:r>
            <a:endParaRPr lang="en-US" sz="950" dirty="0"/>
          </a:p>
          <a:p>
            <a:pPr marL="0" indent="0">
              <a:buNone/>
            </a:pPr>
            <a:r>
              <a:rPr lang="en-US" sz="950" dirty="0">
                <a:solidFill>
                  <a:srgbClr val="252525"/>
                </a:solidFill>
              </a:rPr>
              <a:t>sync_status = pending</a:t>
            </a:r>
            <a:endParaRPr lang="en-US" sz="950" dirty="0"/>
          </a:p>
        </p:txBody>
      </p:sp>
      <p:sp>
        <p:nvSpPr>
          <p:cNvPr id="51" name="Shape 49"/>
          <p:cNvSpPr/>
          <p:nvPr/>
        </p:nvSpPr>
        <p:spPr>
          <a:xfrm>
            <a:off x="9372600" y="2057400"/>
            <a:ext cx="1783080" cy="914400"/>
          </a:xfrm>
          <a:prstGeom prst="roundRect">
            <a:avLst>
              <a:gd name="adj" fmla="val 8000"/>
            </a:avLst>
          </a:prstGeom>
          <a:solidFill>
            <a:srgbClr val="FFFFFF"/>
          </a:solidFill>
          <a:ln w="13970">
            <a:solidFill>
              <a:srgbClr val="6D28D9"/>
            </a:solidFill>
            <a:prstDash val="solid"/>
          </a:ln>
        </p:spPr>
      </p:sp>
      <p:sp>
        <p:nvSpPr>
          <p:cNvPr id="52" name="Text 50"/>
          <p:cNvSpPr/>
          <p:nvPr/>
        </p:nvSpPr>
        <p:spPr>
          <a:xfrm>
            <a:off x="9537192" y="2194560"/>
            <a:ext cx="1472184"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loyalty_transactions</a:t>
            </a:r>
            <a:endParaRPr lang="en-US" sz="1200" dirty="0"/>
          </a:p>
        </p:txBody>
      </p:sp>
      <p:sp>
        <p:nvSpPr>
          <p:cNvPr id="53" name="Text 51"/>
          <p:cNvSpPr/>
          <p:nvPr/>
        </p:nvSpPr>
        <p:spPr>
          <a:xfrm>
            <a:off x="9537192" y="2551176"/>
            <a:ext cx="1453896" cy="292608"/>
          </a:xfrm>
          <a:prstGeom prst="rect">
            <a:avLst/>
          </a:prstGeom>
          <a:noFill/>
          <a:ln/>
        </p:spPr>
        <p:txBody>
          <a:bodyPr wrap="square" lIns="0" tIns="0" rIns="0" bIns="0" rtlCol="0" anchor="t">
            <a:normAutofit fontScale="77500" lnSpcReduction="20000"/>
          </a:bodyPr>
          <a:lstStyle/>
          <a:p>
            <a:pPr marL="0" indent="0">
              <a:buNone/>
            </a:pPr>
            <a:r>
              <a:rPr lang="en-US" sz="950" dirty="0">
                <a:solidFill>
                  <a:srgbClr val="252525"/>
                </a:solidFill>
              </a:rPr>
              <a:t>type = earn • points = +1</a:t>
            </a:r>
            <a:endParaRPr lang="en-US" sz="950" dirty="0"/>
          </a:p>
          <a:p>
            <a:pPr marL="0" indent="0">
              <a:buNone/>
            </a:pPr>
            <a:r>
              <a:rPr lang="en-US" sz="950" dirty="0">
                <a:solidFill>
                  <a:srgbClr val="252525"/>
                </a:solidFill>
              </a:rPr>
              <a:t>reference = TXN-XXXXXX</a:t>
            </a:r>
            <a:endParaRPr lang="en-US" sz="950" dirty="0"/>
          </a:p>
          <a:p>
            <a:pPr marL="0" indent="0">
              <a:buNone/>
            </a:pPr>
            <a:r>
              <a:rPr lang="en-US" sz="950" dirty="0">
                <a:solidFill>
                  <a:srgbClr val="252525"/>
                </a:solidFill>
              </a:rPr>
              <a:t>scan_token = UNIQUE</a:t>
            </a:r>
            <a:endParaRPr lang="en-US" sz="950" dirty="0"/>
          </a:p>
        </p:txBody>
      </p:sp>
      <p:sp>
        <p:nvSpPr>
          <p:cNvPr id="54" name="Shape 52"/>
          <p:cNvSpPr/>
          <p:nvPr/>
        </p:nvSpPr>
        <p:spPr>
          <a:xfrm>
            <a:off x="9052560" y="2514600"/>
            <a:ext cx="320040" cy="0"/>
          </a:xfrm>
          <a:prstGeom prst="line">
            <a:avLst/>
          </a:prstGeom>
          <a:noFill/>
          <a:ln w="22860">
            <a:solidFill>
              <a:srgbClr val="6D28D9"/>
            </a:solidFill>
            <a:prstDash val="solid"/>
            <a:headEnd type="none"/>
            <a:tailEnd type="triangle"/>
          </a:ln>
        </p:spPr>
      </p:sp>
      <p:sp>
        <p:nvSpPr>
          <p:cNvPr id="55" name="Text 53"/>
          <p:cNvSpPr/>
          <p:nvPr/>
        </p:nvSpPr>
        <p:spPr>
          <a:xfrm>
            <a:off x="7635240" y="3310128"/>
            <a:ext cx="3383280" cy="237744"/>
          </a:xfrm>
          <a:prstGeom prst="rect">
            <a:avLst/>
          </a:prstGeom>
          <a:noFill/>
          <a:ln/>
        </p:spPr>
        <p:txBody>
          <a:bodyPr wrap="square" lIns="0" tIns="0" rIns="0" bIns="0" rtlCol="0" anchor="ctr"/>
          <a:lstStyle/>
          <a:p>
            <a:pPr marL="0" indent="0" algn="ctr">
              <a:buNone/>
            </a:pPr>
            <a:r>
              <a:rPr lang="en-US" sz="1400" b="1" dirty="0">
                <a:solidFill>
                  <a:srgbClr val="2B1D16"/>
                </a:solidFill>
              </a:rPr>
              <a:t>Commit both or neither</a:t>
            </a:r>
            <a:endParaRPr lang="en-US" sz="1400" dirty="0"/>
          </a:p>
        </p:txBody>
      </p:sp>
      <p:sp>
        <p:nvSpPr>
          <p:cNvPr id="56" name="Text 54"/>
          <p:cNvSpPr/>
          <p:nvPr/>
        </p:nvSpPr>
        <p:spPr>
          <a:xfrm>
            <a:off x="7543800" y="3703320"/>
            <a:ext cx="3611880" cy="457200"/>
          </a:xfrm>
          <a:prstGeom prst="rect">
            <a:avLst/>
          </a:prstGeom>
          <a:noFill/>
          <a:ln/>
        </p:spPr>
        <p:txBody>
          <a:bodyPr wrap="square" lIns="0" tIns="0" rIns="0" bIns="0" rtlCol="0" anchor="ctr">
            <a:normAutofit/>
          </a:bodyPr>
          <a:lstStyle/>
          <a:p>
            <a:pPr marL="0" indent="0" algn="ctr">
              <a:buNone/>
            </a:pPr>
            <a:r>
              <a:rPr lang="en-US" sz="1000" dirty="0">
                <a:solidFill>
                  <a:srgbClr val="252525"/>
                </a:solidFill>
              </a:rPr>
              <a:t>UI revision increments → campaign, home and ledger providers refetch → token rotates → success screen</a:t>
            </a:r>
            <a:endParaRPr lang="en-US" sz="1000" dirty="0"/>
          </a:p>
        </p:txBody>
      </p:sp>
      <p:sp>
        <p:nvSpPr>
          <p:cNvPr id="57" name="Shape 55"/>
          <p:cNvSpPr/>
          <p:nvPr/>
        </p:nvSpPr>
        <p:spPr>
          <a:xfrm>
            <a:off x="7132320" y="4709160"/>
            <a:ext cx="4389120" cy="749808"/>
          </a:xfrm>
          <a:prstGeom prst="roundRect">
            <a:avLst>
              <a:gd name="adj" fmla="val 7317"/>
            </a:avLst>
          </a:prstGeom>
          <a:solidFill>
            <a:srgbClr val="FFF8EF"/>
          </a:solidFill>
          <a:ln w="12700">
            <a:solidFill>
              <a:srgbClr val="D89B2B"/>
            </a:solidFill>
            <a:prstDash val="solid"/>
          </a:ln>
        </p:spPr>
      </p:sp>
      <p:sp>
        <p:nvSpPr>
          <p:cNvPr id="58" name="Text 56"/>
          <p:cNvSpPr/>
          <p:nvPr/>
        </p:nvSpPr>
        <p:spPr>
          <a:xfrm>
            <a:off x="7360920" y="4919472"/>
            <a:ext cx="3931920" cy="301752"/>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2B1D16"/>
                </a:solidFill>
              </a:rPr>
              <a:t>Important: the friendly replay check improves the message; the UNIQUE index on scan_token is the real enforcement.</a:t>
            </a:r>
            <a:endParaRPr lang="en-US" sz="1020" dirty="0"/>
          </a:p>
        </p:txBody>
      </p:sp>
      <p:sp>
        <p:nvSpPr>
          <p:cNvPr id="59" name="Text 57"/>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loyalty_tables.dart L118–160; loyalty_dao.dart L145–213; Data-Flows.md L70–81</a:t>
            </a:r>
            <a:endParaRPr lang="en-US" sz="750" dirty="0"/>
          </a:p>
        </p:txBody>
      </p:sp>
      <p:sp>
        <p:nvSpPr>
          <p:cNvPr id="60"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Reward redemption and card-cycle lifecycle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Every completed card is preserved as history; redemption immediately opens the next cycle.</a:t>
            </a:r>
            <a:endParaRPr lang="en-US" sz="1250" dirty="0"/>
          </a:p>
        </p:txBody>
      </p:sp>
      <p:sp>
        <p:nvSpPr>
          <p:cNvPr id="4" name="Shape 2"/>
          <p:cNvSpPr/>
          <p:nvPr/>
        </p:nvSpPr>
        <p:spPr>
          <a:xfrm>
            <a:off x="685800" y="1874520"/>
            <a:ext cx="347472" cy="347472"/>
          </a:xfrm>
          <a:prstGeom prst="ellipse">
            <a:avLst/>
          </a:prstGeom>
          <a:solidFill>
            <a:srgbClr val="D89B2B"/>
          </a:solidFill>
          <a:ln w="12700">
            <a:solidFill>
              <a:srgbClr val="D89B2B"/>
            </a:solidFill>
            <a:prstDash val="solid"/>
          </a:ln>
        </p:spPr>
      </p:sp>
      <p:sp>
        <p:nvSpPr>
          <p:cNvPr id="5" name="Text 3"/>
          <p:cNvSpPr/>
          <p:nvPr/>
        </p:nvSpPr>
        <p:spPr>
          <a:xfrm>
            <a:off x="685800" y="19522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6" name="Shape 4"/>
          <p:cNvSpPr/>
          <p:nvPr/>
        </p:nvSpPr>
        <p:spPr>
          <a:xfrm>
            <a:off x="576072" y="2359152"/>
            <a:ext cx="1874520" cy="1508760"/>
          </a:xfrm>
          <a:prstGeom prst="roundRect">
            <a:avLst>
              <a:gd name="adj" fmla="val 4848"/>
            </a:avLst>
          </a:prstGeom>
          <a:solidFill>
            <a:srgbClr val="FFF8EF"/>
          </a:solidFill>
          <a:ln w="13970">
            <a:solidFill>
              <a:srgbClr val="D89B2B"/>
            </a:solidFill>
            <a:prstDash val="solid"/>
          </a:ln>
        </p:spPr>
      </p:sp>
      <p:sp>
        <p:nvSpPr>
          <p:cNvPr id="7" name="Text 5"/>
          <p:cNvSpPr/>
          <p:nvPr/>
        </p:nvSpPr>
        <p:spPr>
          <a:xfrm>
            <a:off x="740664" y="2496312"/>
            <a:ext cx="156362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Card fills</a:t>
            </a:r>
            <a:endParaRPr lang="en-US" sz="1300" dirty="0"/>
          </a:p>
        </p:txBody>
      </p:sp>
      <p:sp>
        <p:nvSpPr>
          <p:cNvPr id="8" name="Text 6"/>
          <p:cNvSpPr/>
          <p:nvPr/>
        </p:nvSpPr>
        <p:spPr>
          <a:xfrm>
            <a:off x="740664" y="2852928"/>
            <a:ext cx="1545336" cy="886968"/>
          </a:xfrm>
          <a:prstGeom prst="rect">
            <a:avLst/>
          </a:prstGeom>
          <a:noFill/>
          <a:ln/>
        </p:spPr>
        <p:txBody>
          <a:bodyPr wrap="square" lIns="0" tIns="0" rIns="0" bIns="0" rtlCol="0" anchor="t">
            <a:normAutofit/>
          </a:bodyPr>
          <a:lstStyle/>
          <a:p>
            <a:pPr marL="0" indent="0">
              <a:buNone/>
            </a:pPr>
            <a:r>
              <a:rPr lang="en-US" sz="950" dirty="0">
                <a:solidFill>
                  <a:srgbClr val="252525"/>
                </a:solidFill>
              </a:rPr>
              <a:t>stamps_collected reaches required_stamps; completed_at is set</a:t>
            </a:r>
            <a:endParaRPr lang="en-US" sz="950" dirty="0"/>
          </a:p>
        </p:txBody>
      </p:sp>
      <p:sp>
        <p:nvSpPr>
          <p:cNvPr id="9" name="Shape 7"/>
          <p:cNvSpPr/>
          <p:nvPr/>
        </p:nvSpPr>
        <p:spPr>
          <a:xfrm>
            <a:off x="2450592" y="3108960"/>
            <a:ext cx="365760" cy="0"/>
          </a:xfrm>
          <a:prstGeom prst="line">
            <a:avLst/>
          </a:prstGeom>
          <a:noFill/>
          <a:ln w="22860">
            <a:solidFill>
              <a:srgbClr val="D89B2B"/>
            </a:solidFill>
            <a:prstDash val="solid"/>
            <a:headEnd type="none"/>
            <a:tailEnd type="triangle"/>
          </a:ln>
        </p:spPr>
      </p:sp>
      <p:sp>
        <p:nvSpPr>
          <p:cNvPr id="10" name="Shape 8"/>
          <p:cNvSpPr/>
          <p:nvPr/>
        </p:nvSpPr>
        <p:spPr>
          <a:xfrm>
            <a:off x="2926080" y="1874520"/>
            <a:ext cx="347472" cy="347472"/>
          </a:xfrm>
          <a:prstGeom prst="ellipse">
            <a:avLst/>
          </a:prstGeom>
          <a:solidFill>
            <a:srgbClr val="D89B2B"/>
          </a:solidFill>
          <a:ln w="12700">
            <a:solidFill>
              <a:srgbClr val="D89B2B"/>
            </a:solidFill>
            <a:prstDash val="solid"/>
          </a:ln>
        </p:spPr>
      </p:sp>
      <p:sp>
        <p:nvSpPr>
          <p:cNvPr id="11" name="Text 9"/>
          <p:cNvSpPr/>
          <p:nvPr/>
        </p:nvSpPr>
        <p:spPr>
          <a:xfrm>
            <a:off x="2926080" y="19522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2" name="Shape 10"/>
          <p:cNvSpPr/>
          <p:nvPr/>
        </p:nvSpPr>
        <p:spPr>
          <a:xfrm>
            <a:off x="2816352" y="2359152"/>
            <a:ext cx="1874520" cy="1508760"/>
          </a:xfrm>
          <a:prstGeom prst="roundRect">
            <a:avLst>
              <a:gd name="adj" fmla="val 4848"/>
            </a:avLst>
          </a:prstGeom>
          <a:solidFill>
            <a:srgbClr val="FFF8EF"/>
          </a:solidFill>
          <a:ln w="13970">
            <a:solidFill>
              <a:srgbClr val="D89B2B"/>
            </a:solidFill>
            <a:prstDash val="solid"/>
          </a:ln>
        </p:spPr>
      </p:sp>
      <p:sp>
        <p:nvSpPr>
          <p:cNvPr id="13" name="Text 11"/>
          <p:cNvSpPr/>
          <p:nvPr/>
        </p:nvSpPr>
        <p:spPr>
          <a:xfrm>
            <a:off x="2980944" y="2496312"/>
            <a:ext cx="156362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Member confirms</a:t>
            </a:r>
            <a:endParaRPr lang="en-US" sz="1300" dirty="0"/>
          </a:p>
        </p:txBody>
      </p:sp>
      <p:sp>
        <p:nvSpPr>
          <p:cNvPr id="14" name="Text 12"/>
          <p:cNvSpPr/>
          <p:nvPr/>
        </p:nvSpPr>
        <p:spPr>
          <a:xfrm>
            <a:off x="2980944" y="2852928"/>
            <a:ext cx="1545336" cy="886968"/>
          </a:xfrm>
          <a:prstGeom prst="rect">
            <a:avLst/>
          </a:prstGeom>
          <a:noFill/>
          <a:ln/>
        </p:spPr>
        <p:txBody>
          <a:bodyPr wrap="square" lIns="0" tIns="0" rIns="0" bIns="0" rtlCol="0" anchor="t">
            <a:normAutofit/>
          </a:bodyPr>
          <a:lstStyle/>
          <a:p>
            <a:pPr marL="0" indent="0">
              <a:buNone/>
            </a:pPr>
            <a:r>
              <a:rPr lang="en-US" sz="950" dirty="0">
                <a:solidFill>
                  <a:srgbClr val="252525"/>
                </a:solidFill>
              </a:rPr>
              <a:t>Campaign screen shows “Reward unlocked” and asks for confirmation</a:t>
            </a:r>
            <a:endParaRPr lang="en-US" sz="950" dirty="0"/>
          </a:p>
        </p:txBody>
      </p:sp>
      <p:sp>
        <p:nvSpPr>
          <p:cNvPr id="15" name="Shape 13"/>
          <p:cNvSpPr/>
          <p:nvPr/>
        </p:nvSpPr>
        <p:spPr>
          <a:xfrm>
            <a:off x="4690872" y="3108960"/>
            <a:ext cx="365760" cy="0"/>
          </a:xfrm>
          <a:prstGeom prst="line">
            <a:avLst/>
          </a:prstGeom>
          <a:noFill/>
          <a:ln w="22860">
            <a:solidFill>
              <a:srgbClr val="D89B2B"/>
            </a:solidFill>
            <a:prstDash val="solid"/>
            <a:headEnd type="none"/>
            <a:tailEnd type="triangle"/>
          </a:ln>
        </p:spPr>
      </p:sp>
      <p:sp>
        <p:nvSpPr>
          <p:cNvPr id="16" name="Shape 14"/>
          <p:cNvSpPr/>
          <p:nvPr/>
        </p:nvSpPr>
        <p:spPr>
          <a:xfrm>
            <a:off x="5166360" y="1874520"/>
            <a:ext cx="347472" cy="347472"/>
          </a:xfrm>
          <a:prstGeom prst="ellipse">
            <a:avLst/>
          </a:prstGeom>
          <a:solidFill>
            <a:srgbClr val="D89B2B"/>
          </a:solidFill>
          <a:ln w="12700">
            <a:solidFill>
              <a:srgbClr val="D89B2B"/>
            </a:solidFill>
            <a:prstDash val="solid"/>
          </a:ln>
        </p:spPr>
      </p:sp>
      <p:sp>
        <p:nvSpPr>
          <p:cNvPr id="17" name="Text 15"/>
          <p:cNvSpPr/>
          <p:nvPr/>
        </p:nvSpPr>
        <p:spPr>
          <a:xfrm>
            <a:off x="5166360" y="19522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8" name="Shape 16"/>
          <p:cNvSpPr/>
          <p:nvPr/>
        </p:nvSpPr>
        <p:spPr>
          <a:xfrm>
            <a:off x="5056632" y="2359152"/>
            <a:ext cx="1874520" cy="1508760"/>
          </a:xfrm>
          <a:prstGeom prst="roundRect">
            <a:avLst>
              <a:gd name="adj" fmla="val 4848"/>
            </a:avLst>
          </a:prstGeom>
          <a:solidFill>
            <a:srgbClr val="E9F1FF"/>
          </a:solidFill>
          <a:ln w="13970">
            <a:solidFill>
              <a:srgbClr val="2563EB"/>
            </a:solidFill>
            <a:prstDash val="solid"/>
          </a:ln>
        </p:spPr>
      </p:sp>
      <p:sp>
        <p:nvSpPr>
          <p:cNvPr id="19" name="Text 17"/>
          <p:cNvSpPr/>
          <p:nvPr/>
        </p:nvSpPr>
        <p:spPr>
          <a:xfrm>
            <a:off x="5221224" y="2496312"/>
            <a:ext cx="156362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Validate</a:t>
            </a:r>
            <a:endParaRPr lang="en-US" sz="1300" dirty="0"/>
          </a:p>
        </p:txBody>
      </p:sp>
      <p:sp>
        <p:nvSpPr>
          <p:cNvPr id="20" name="Text 18"/>
          <p:cNvSpPr/>
          <p:nvPr/>
        </p:nvSpPr>
        <p:spPr>
          <a:xfrm>
            <a:off x="5221224" y="2852928"/>
            <a:ext cx="1545336" cy="886968"/>
          </a:xfrm>
          <a:prstGeom prst="rect">
            <a:avLst/>
          </a:prstGeom>
          <a:noFill/>
          <a:ln/>
        </p:spPr>
        <p:txBody>
          <a:bodyPr wrap="square" lIns="0" tIns="0" rIns="0" bIns="0" rtlCol="0" anchor="t">
            <a:normAutofit/>
          </a:bodyPr>
          <a:lstStyle/>
          <a:p>
            <a:pPr marL="0" indent="0">
              <a:buNone/>
            </a:pPr>
            <a:r>
              <a:rPr lang="en-US" sz="950" dirty="0">
                <a:solidFill>
                  <a:srgbClr val="252525"/>
                </a:solidFill>
              </a:rPr>
              <a:t>Open card must exist and contain enough stamps</a:t>
            </a:r>
            <a:endParaRPr lang="en-US" sz="950" dirty="0"/>
          </a:p>
        </p:txBody>
      </p:sp>
      <p:sp>
        <p:nvSpPr>
          <p:cNvPr id="21" name="Shape 19"/>
          <p:cNvSpPr/>
          <p:nvPr/>
        </p:nvSpPr>
        <p:spPr>
          <a:xfrm>
            <a:off x="6931152" y="3108960"/>
            <a:ext cx="365760" cy="0"/>
          </a:xfrm>
          <a:prstGeom prst="line">
            <a:avLst/>
          </a:prstGeom>
          <a:noFill/>
          <a:ln w="22860">
            <a:solidFill>
              <a:srgbClr val="6D28D9"/>
            </a:solidFill>
            <a:prstDash val="solid"/>
            <a:headEnd type="none"/>
            <a:tailEnd type="triangle"/>
          </a:ln>
        </p:spPr>
      </p:sp>
      <p:sp>
        <p:nvSpPr>
          <p:cNvPr id="22" name="Shape 20"/>
          <p:cNvSpPr/>
          <p:nvPr/>
        </p:nvSpPr>
        <p:spPr>
          <a:xfrm>
            <a:off x="7406640" y="1874520"/>
            <a:ext cx="347472" cy="347472"/>
          </a:xfrm>
          <a:prstGeom prst="ellipse">
            <a:avLst/>
          </a:prstGeom>
          <a:solidFill>
            <a:srgbClr val="6D28D9"/>
          </a:solidFill>
          <a:ln w="12700">
            <a:solidFill>
              <a:srgbClr val="6D28D9"/>
            </a:solidFill>
            <a:prstDash val="solid"/>
          </a:ln>
        </p:spPr>
      </p:sp>
      <p:sp>
        <p:nvSpPr>
          <p:cNvPr id="23" name="Text 21"/>
          <p:cNvSpPr/>
          <p:nvPr/>
        </p:nvSpPr>
        <p:spPr>
          <a:xfrm>
            <a:off x="7406640" y="19522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4" name="Shape 22"/>
          <p:cNvSpPr/>
          <p:nvPr/>
        </p:nvSpPr>
        <p:spPr>
          <a:xfrm>
            <a:off x="7296912" y="2359152"/>
            <a:ext cx="1874520" cy="1508760"/>
          </a:xfrm>
          <a:prstGeom prst="roundRect">
            <a:avLst>
              <a:gd name="adj" fmla="val 4848"/>
            </a:avLst>
          </a:prstGeom>
          <a:solidFill>
            <a:srgbClr val="F0E9FF"/>
          </a:solidFill>
          <a:ln w="13970">
            <a:solidFill>
              <a:srgbClr val="6D28D9"/>
            </a:solidFill>
            <a:prstDash val="solid"/>
          </a:ln>
        </p:spPr>
      </p:sp>
      <p:sp>
        <p:nvSpPr>
          <p:cNvPr id="25" name="Text 23"/>
          <p:cNvSpPr/>
          <p:nvPr/>
        </p:nvSpPr>
        <p:spPr>
          <a:xfrm>
            <a:off x="7461504" y="2496312"/>
            <a:ext cx="156362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Redeem atomically</a:t>
            </a:r>
            <a:endParaRPr lang="en-US" sz="1300" dirty="0"/>
          </a:p>
        </p:txBody>
      </p:sp>
      <p:sp>
        <p:nvSpPr>
          <p:cNvPr id="26" name="Text 24"/>
          <p:cNvSpPr/>
          <p:nvPr/>
        </p:nvSpPr>
        <p:spPr>
          <a:xfrm>
            <a:off x="7461504" y="2852928"/>
            <a:ext cx="1545336" cy="886968"/>
          </a:xfrm>
          <a:prstGeom prst="rect">
            <a:avLst/>
          </a:prstGeom>
          <a:noFill/>
          <a:ln/>
        </p:spPr>
        <p:txBody>
          <a:bodyPr wrap="square" lIns="0" tIns="0" rIns="0" bIns="0" rtlCol="0" anchor="t">
            <a:normAutofit/>
          </a:bodyPr>
          <a:lstStyle/>
          <a:p>
            <a:pPr marL="0" indent="0">
              <a:buNone/>
            </a:pPr>
            <a:r>
              <a:rPr lang="en-US" sz="950" dirty="0">
                <a:solidFill>
                  <a:srgbClr val="252525"/>
                </a:solidFill>
              </a:rPr>
              <a:t>Set redeemed_at; insert redeem ledger row with negative points</a:t>
            </a:r>
            <a:endParaRPr lang="en-US" sz="950" dirty="0"/>
          </a:p>
        </p:txBody>
      </p:sp>
      <p:sp>
        <p:nvSpPr>
          <p:cNvPr id="27" name="Shape 25"/>
          <p:cNvSpPr/>
          <p:nvPr/>
        </p:nvSpPr>
        <p:spPr>
          <a:xfrm>
            <a:off x="9171432" y="3108960"/>
            <a:ext cx="365760" cy="0"/>
          </a:xfrm>
          <a:prstGeom prst="line">
            <a:avLst/>
          </a:prstGeom>
          <a:noFill/>
          <a:ln w="22860">
            <a:solidFill>
              <a:srgbClr val="6D28D9"/>
            </a:solidFill>
            <a:prstDash val="solid"/>
            <a:headEnd type="none"/>
            <a:tailEnd type="triangle"/>
          </a:ln>
        </p:spPr>
      </p:sp>
      <p:sp>
        <p:nvSpPr>
          <p:cNvPr id="28" name="Shape 26"/>
          <p:cNvSpPr/>
          <p:nvPr/>
        </p:nvSpPr>
        <p:spPr>
          <a:xfrm>
            <a:off x="9646920" y="1874520"/>
            <a:ext cx="347472" cy="347472"/>
          </a:xfrm>
          <a:prstGeom prst="ellipse">
            <a:avLst/>
          </a:prstGeom>
          <a:solidFill>
            <a:srgbClr val="6D28D9"/>
          </a:solidFill>
          <a:ln w="12700">
            <a:solidFill>
              <a:srgbClr val="6D28D9"/>
            </a:solidFill>
            <a:prstDash val="solid"/>
          </a:ln>
        </p:spPr>
      </p:sp>
      <p:sp>
        <p:nvSpPr>
          <p:cNvPr id="29" name="Text 27"/>
          <p:cNvSpPr/>
          <p:nvPr/>
        </p:nvSpPr>
        <p:spPr>
          <a:xfrm>
            <a:off x="9646920" y="19522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30" name="Shape 28"/>
          <p:cNvSpPr/>
          <p:nvPr/>
        </p:nvSpPr>
        <p:spPr>
          <a:xfrm>
            <a:off x="9537192" y="2359152"/>
            <a:ext cx="1874520" cy="1508760"/>
          </a:xfrm>
          <a:prstGeom prst="roundRect">
            <a:avLst>
              <a:gd name="adj" fmla="val 4848"/>
            </a:avLst>
          </a:prstGeom>
          <a:solidFill>
            <a:srgbClr val="F0E9FF"/>
          </a:solidFill>
          <a:ln w="13970">
            <a:solidFill>
              <a:srgbClr val="6D28D9"/>
            </a:solidFill>
            <a:prstDash val="solid"/>
          </a:ln>
        </p:spPr>
      </p:sp>
      <p:sp>
        <p:nvSpPr>
          <p:cNvPr id="31" name="Text 29"/>
          <p:cNvSpPr/>
          <p:nvPr/>
        </p:nvSpPr>
        <p:spPr>
          <a:xfrm>
            <a:off x="9701784" y="2496312"/>
            <a:ext cx="156362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Start next cycle</a:t>
            </a:r>
            <a:endParaRPr lang="en-US" sz="1300" dirty="0"/>
          </a:p>
        </p:txBody>
      </p:sp>
      <p:sp>
        <p:nvSpPr>
          <p:cNvPr id="32" name="Text 30"/>
          <p:cNvSpPr/>
          <p:nvPr/>
        </p:nvSpPr>
        <p:spPr>
          <a:xfrm>
            <a:off x="9701784" y="2852928"/>
            <a:ext cx="1545336" cy="886968"/>
          </a:xfrm>
          <a:prstGeom prst="rect">
            <a:avLst/>
          </a:prstGeom>
          <a:noFill/>
          <a:ln/>
        </p:spPr>
        <p:txBody>
          <a:bodyPr wrap="square" lIns="0" tIns="0" rIns="0" bIns="0" rtlCol="0" anchor="t">
            <a:normAutofit/>
          </a:bodyPr>
          <a:lstStyle/>
          <a:p>
            <a:pPr marL="0" indent="0">
              <a:buNone/>
            </a:pPr>
            <a:r>
              <a:rPr lang="en-US" sz="950" dirty="0">
                <a:solidFill>
                  <a:srgbClr val="252525"/>
                </a:solidFill>
              </a:rPr>
              <a:t>Insert fresh card at cycle + 1 with zero stamps</a:t>
            </a:r>
            <a:endParaRPr lang="en-US" sz="950" dirty="0"/>
          </a:p>
        </p:txBody>
      </p:sp>
      <p:sp>
        <p:nvSpPr>
          <p:cNvPr id="33" name="Shape 31"/>
          <p:cNvSpPr/>
          <p:nvPr/>
        </p:nvSpPr>
        <p:spPr>
          <a:xfrm>
            <a:off x="1005840" y="4434840"/>
            <a:ext cx="10195560" cy="960120"/>
          </a:xfrm>
          <a:prstGeom prst="roundRect">
            <a:avLst>
              <a:gd name="adj" fmla="val 5714"/>
            </a:avLst>
          </a:prstGeom>
          <a:solidFill>
            <a:srgbClr val="F3F4F6"/>
          </a:solidFill>
          <a:ln w="12700">
            <a:solidFill>
              <a:srgbClr val="D1D5DB"/>
            </a:solidFill>
            <a:prstDash val="solid"/>
          </a:ln>
        </p:spPr>
      </p:sp>
      <p:sp>
        <p:nvSpPr>
          <p:cNvPr id="34" name="Text 32"/>
          <p:cNvSpPr/>
          <p:nvPr/>
        </p:nvSpPr>
        <p:spPr>
          <a:xfrm>
            <a:off x="1261872" y="4727448"/>
            <a:ext cx="1234440" cy="201168"/>
          </a:xfrm>
          <a:prstGeom prst="rect">
            <a:avLst/>
          </a:prstGeom>
          <a:noFill/>
          <a:ln/>
        </p:spPr>
        <p:txBody>
          <a:bodyPr wrap="square" lIns="0" tIns="0" rIns="0" bIns="0" rtlCol="0" anchor="ctr"/>
          <a:lstStyle/>
          <a:p>
            <a:pPr marL="0" indent="0">
              <a:buNone/>
            </a:pPr>
            <a:r>
              <a:rPr lang="en-US" sz="1200" b="1" dirty="0">
                <a:solidFill>
                  <a:srgbClr val="2B1D16"/>
                </a:solidFill>
              </a:rPr>
              <a:t>Ledger outcome</a:t>
            </a:r>
            <a:endParaRPr lang="en-US" sz="1200" dirty="0"/>
          </a:p>
        </p:txBody>
      </p:sp>
      <p:sp>
        <p:nvSpPr>
          <p:cNvPr id="35" name="Shape 33"/>
          <p:cNvSpPr/>
          <p:nvPr/>
        </p:nvSpPr>
        <p:spPr>
          <a:xfrm>
            <a:off x="2697480" y="4626864"/>
            <a:ext cx="2057400" cy="310896"/>
          </a:xfrm>
          <a:prstGeom prst="roundRect">
            <a:avLst>
              <a:gd name="adj" fmla="val 23529"/>
            </a:avLst>
          </a:prstGeom>
          <a:solidFill>
            <a:srgbClr val="E8F7ED"/>
          </a:solidFill>
          <a:ln w="12700">
            <a:solidFill>
              <a:srgbClr val="E8F7ED"/>
            </a:solidFill>
            <a:prstDash val="solid"/>
          </a:ln>
        </p:spPr>
      </p:sp>
      <p:sp>
        <p:nvSpPr>
          <p:cNvPr id="36" name="Text 34"/>
          <p:cNvSpPr/>
          <p:nvPr/>
        </p:nvSpPr>
        <p:spPr>
          <a:xfrm>
            <a:off x="2770632" y="4690872"/>
            <a:ext cx="191109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EARN  +1 PER STAMP</a:t>
            </a:r>
            <a:endParaRPr lang="en-US" sz="950" dirty="0"/>
          </a:p>
        </p:txBody>
      </p:sp>
      <p:sp>
        <p:nvSpPr>
          <p:cNvPr id="37" name="Shape 35"/>
          <p:cNvSpPr/>
          <p:nvPr/>
        </p:nvSpPr>
        <p:spPr>
          <a:xfrm>
            <a:off x="5029200" y="4626864"/>
            <a:ext cx="2788920" cy="310896"/>
          </a:xfrm>
          <a:prstGeom prst="roundRect">
            <a:avLst>
              <a:gd name="adj" fmla="val 23529"/>
            </a:avLst>
          </a:prstGeom>
          <a:solidFill>
            <a:srgbClr val="F0E9FF"/>
          </a:solidFill>
          <a:ln w="12700">
            <a:solidFill>
              <a:srgbClr val="F0E9FF"/>
            </a:solidFill>
            <a:prstDash val="solid"/>
          </a:ln>
        </p:spPr>
      </p:sp>
      <p:sp>
        <p:nvSpPr>
          <p:cNvPr id="38" name="Text 36"/>
          <p:cNvSpPr/>
          <p:nvPr/>
        </p:nvSpPr>
        <p:spPr>
          <a:xfrm>
            <a:off x="5102352" y="4690872"/>
            <a:ext cx="2642616" cy="146304"/>
          </a:xfrm>
          <a:prstGeom prst="rect">
            <a:avLst/>
          </a:prstGeom>
          <a:noFill/>
          <a:ln/>
        </p:spPr>
        <p:txBody>
          <a:bodyPr wrap="square" lIns="0" tIns="0" rIns="0" bIns="0" rtlCol="0" anchor="ctr">
            <a:normAutofit/>
          </a:bodyPr>
          <a:lstStyle/>
          <a:p>
            <a:pPr marL="0" indent="0" algn="ctr">
              <a:buNone/>
            </a:pPr>
            <a:r>
              <a:rPr lang="en-US" sz="950" b="1" dirty="0">
                <a:solidFill>
                  <a:srgbClr val="6D28D9"/>
                </a:solidFill>
              </a:rPr>
              <a:t>REDEEM  −REQUIRED_STAMPS</a:t>
            </a:r>
            <a:endParaRPr lang="en-US" sz="950" dirty="0"/>
          </a:p>
        </p:txBody>
      </p:sp>
      <p:sp>
        <p:nvSpPr>
          <p:cNvPr id="39" name="Shape 37"/>
          <p:cNvSpPr/>
          <p:nvPr/>
        </p:nvSpPr>
        <p:spPr>
          <a:xfrm>
            <a:off x="8092440" y="4626864"/>
            <a:ext cx="2331720" cy="310896"/>
          </a:xfrm>
          <a:prstGeom prst="roundRect">
            <a:avLst>
              <a:gd name="adj" fmla="val 23529"/>
            </a:avLst>
          </a:prstGeom>
          <a:solidFill>
            <a:srgbClr val="DDF4EF"/>
          </a:solidFill>
          <a:ln w="12700">
            <a:solidFill>
              <a:srgbClr val="DDF4EF"/>
            </a:solidFill>
            <a:prstDash val="solid"/>
          </a:ln>
        </p:spPr>
      </p:sp>
      <p:sp>
        <p:nvSpPr>
          <p:cNvPr id="40" name="Text 38"/>
          <p:cNvSpPr/>
          <p:nvPr/>
        </p:nvSpPr>
        <p:spPr>
          <a:xfrm>
            <a:off x="8165592" y="4690872"/>
            <a:ext cx="2185416" cy="146304"/>
          </a:xfrm>
          <a:prstGeom prst="rect">
            <a:avLst/>
          </a:prstGeom>
          <a:noFill/>
          <a:ln/>
        </p:spPr>
        <p:txBody>
          <a:bodyPr wrap="square" lIns="0" tIns="0" rIns="0" bIns="0" rtlCol="0" anchor="ctr">
            <a:normAutofit/>
          </a:bodyPr>
          <a:lstStyle/>
          <a:p>
            <a:pPr marL="0" indent="0" algn="ctr">
              <a:buNone/>
            </a:pPr>
            <a:r>
              <a:rPr lang="en-US" sz="950" b="1" dirty="0">
                <a:solidFill>
                  <a:srgbClr val="0F766E"/>
                </a:solidFill>
              </a:rPr>
              <a:t>NEXT CARD  CYCLE + 1</a:t>
            </a:r>
            <a:endParaRPr lang="en-US" sz="950" dirty="0"/>
          </a:p>
        </p:txBody>
      </p:sp>
      <p:sp>
        <p:nvSpPr>
          <p:cNvPr id="41" name="Text 39"/>
          <p:cNvSpPr/>
          <p:nvPr/>
        </p:nvSpPr>
        <p:spPr>
          <a:xfrm>
            <a:off x="1280160" y="5687568"/>
            <a:ext cx="9646920" cy="384048"/>
          </a:xfrm>
          <a:prstGeom prst="rect">
            <a:avLst/>
          </a:prstGeom>
          <a:noFill/>
          <a:ln/>
        </p:spPr>
        <p:txBody>
          <a:bodyPr wrap="square" lIns="0" tIns="0" rIns="0" bIns="0" rtlCol="0" anchor="ctr">
            <a:normAutofit/>
          </a:bodyPr>
          <a:lstStyle/>
          <a:p>
            <a:pPr marL="0" indent="0" algn="ctr">
              <a:buNone/>
            </a:pPr>
            <a:r>
              <a:rPr lang="en-US" sz="1100" b="1" dirty="0">
                <a:solidFill>
                  <a:srgbClr val="334155"/>
                </a:solidFill>
              </a:rPr>
              <a:t>Reporting implication: do not overwrite prior cycles. Use completed_at and redeemed_at to measure completion time, redemption lag, repeat cycles and outstanding rewards.</a:t>
            </a:r>
            <a:endParaRPr lang="en-US" sz="1100" dirty="0"/>
          </a:p>
        </p:txBody>
      </p:sp>
      <p:sp>
        <p:nvSpPr>
          <p:cNvPr id="42" name="Text 40"/>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loyalty_dao.dart L216–274; loyalty_tables.dart L85–116; campaigns_screen.dart L117–142</a:t>
            </a:r>
            <a:endParaRPr lang="en-US" sz="750" dirty="0"/>
          </a:p>
        </p:txBody>
      </p:sp>
      <p:sp>
        <p:nvSpPr>
          <p:cNvPr id="43"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Where loyalty data is stored today</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On-device SQLite (Drift): app_database.sqlite in the application documents directory; timestamps are UTC ISO-8601 text.</a:t>
            </a:r>
            <a:endParaRPr lang="en-US" sz="1250" dirty="0"/>
          </a:p>
        </p:txBody>
      </p:sp>
      <p:sp>
        <p:nvSpPr>
          <p:cNvPr id="4" name="Shape 2"/>
          <p:cNvSpPr/>
          <p:nvPr/>
        </p:nvSpPr>
        <p:spPr>
          <a:xfrm>
            <a:off x="594360" y="1417320"/>
            <a:ext cx="2103120" cy="1417320"/>
          </a:xfrm>
          <a:prstGeom prst="roundRect">
            <a:avLst>
              <a:gd name="adj" fmla="val 5161"/>
            </a:avLst>
          </a:prstGeom>
          <a:solidFill>
            <a:srgbClr val="FFF8EF"/>
          </a:solidFill>
          <a:ln w="13970">
            <a:solidFill>
              <a:srgbClr val="D89B2B"/>
            </a:solidFill>
            <a:prstDash val="solid"/>
          </a:ln>
        </p:spPr>
      </p:sp>
      <p:sp>
        <p:nvSpPr>
          <p:cNvPr id="5" name="Text 3"/>
          <p:cNvSpPr/>
          <p:nvPr/>
        </p:nvSpPr>
        <p:spPr>
          <a:xfrm>
            <a:off x="758952" y="1554480"/>
            <a:ext cx="179222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users</a:t>
            </a:r>
            <a:endParaRPr lang="en-US" sz="1400" dirty="0"/>
          </a:p>
        </p:txBody>
      </p:sp>
      <p:sp>
        <p:nvSpPr>
          <p:cNvPr id="6" name="Text 4"/>
          <p:cNvSpPr/>
          <p:nvPr/>
        </p:nvSpPr>
        <p:spPr>
          <a:xfrm>
            <a:off x="758952" y="1911096"/>
            <a:ext cx="1773936" cy="795528"/>
          </a:xfrm>
          <a:prstGeom prst="rect">
            <a:avLst/>
          </a:prstGeom>
          <a:noFill/>
          <a:ln/>
        </p:spPr>
        <p:txBody>
          <a:bodyPr wrap="square" lIns="0" tIns="0" rIns="0" bIns="0" rtlCol="0" anchor="t">
            <a:normAutofit/>
          </a:bodyPr>
          <a:lstStyle/>
          <a:p>
            <a:pPr marL="0" indent="0">
              <a:buNone/>
            </a:pPr>
            <a:r>
              <a:rPr lang="en-US" sz="1000" dirty="0">
                <a:solidFill>
                  <a:srgbClr val="252525"/>
                </a:solidFill>
              </a:rPr>
              <a:t>id (UUID text)</a:t>
            </a:r>
            <a:endParaRPr lang="en-US" sz="1000" dirty="0"/>
          </a:p>
          <a:p>
            <a:pPr marL="0" indent="0">
              <a:buNone/>
            </a:pPr>
            <a:r>
              <a:rPr lang="en-US" sz="1000" dirty="0">
                <a:solidFill>
                  <a:srgbClr val="252525"/>
                </a:solidFill>
              </a:rPr>
              <a:t>username / full_name</a:t>
            </a:r>
            <a:endParaRPr lang="en-US" sz="1000" dirty="0"/>
          </a:p>
          <a:p>
            <a:pPr marL="0" indent="0">
              <a:buNone/>
            </a:pPr>
            <a:r>
              <a:rPr lang="en-US" sz="1000" dirty="0">
                <a:solidFill>
                  <a:srgbClr val="252525"/>
                </a:solidFill>
              </a:rPr>
              <a:t>role_id</a:t>
            </a:r>
            <a:endParaRPr lang="en-US" sz="1000" dirty="0"/>
          </a:p>
          <a:p>
            <a:pPr marL="0" indent="0">
              <a:buNone/>
            </a:pPr>
            <a:r>
              <a:rPr lang="en-US" sz="1000" dirty="0">
                <a:solidFill>
                  <a:srgbClr val="252525"/>
                </a:solidFill>
              </a:rPr>
              <a:t>login / lockout fields</a:t>
            </a:r>
            <a:endParaRPr lang="en-US" sz="1000" dirty="0"/>
          </a:p>
        </p:txBody>
      </p:sp>
      <p:sp>
        <p:nvSpPr>
          <p:cNvPr id="7" name="Shape 5"/>
          <p:cNvSpPr/>
          <p:nvPr/>
        </p:nvSpPr>
        <p:spPr>
          <a:xfrm>
            <a:off x="2971800" y="1417320"/>
            <a:ext cx="2103120" cy="1417320"/>
          </a:xfrm>
          <a:prstGeom prst="roundRect">
            <a:avLst>
              <a:gd name="adj" fmla="val 5161"/>
            </a:avLst>
          </a:prstGeom>
          <a:solidFill>
            <a:srgbClr val="E9F1FF"/>
          </a:solidFill>
          <a:ln w="13970">
            <a:solidFill>
              <a:srgbClr val="2563EB"/>
            </a:solidFill>
            <a:prstDash val="solid"/>
          </a:ln>
        </p:spPr>
      </p:sp>
      <p:sp>
        <p:nvSpPr>
          <p:cNvPr id="8" name="Text 6"/>
          <p:cNvSpPr/>
          <p:nvPr/>
        </p:nvSpPr>
        <p:spPr>
          <a:xfrm>
            <a:off x="3136392" y="1554480"/>
            <a:ext cx="179222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campaigns</a:t>
            </a:r>
            <a:endParaRPr lang="en-US" sz="1400" dirty="0"/>
          </a:p>
        </p:txBody>
      </p:sp>
      <p:sp>
        <p:nvSpPr>
          <p:cNvPr id="9" name="Text 7"/>
          <p:cNvSpPr/>
          <p:nvPr/>
        </p:nvSpPr>
        <p:spPr>
          <a:xfrm>
            <a:off x="3136392" y="1911096"/>
            <a:ext cx="1773936" cy="795528"/>
          </a:xfrm>
          <a:prstGeom prst="rect">
            <a:avLst/>
          </a:prstGeom>
          <a:noFill/>
          <a:ln/>
        </p:spPr>
        <p:txBody>
          <a:bodyPr wrap="square" lIns="0" tIns="0" rIns="0" bIns="0" rtlCol="0" anchor="t">
            <a:normAutofit/>
          </a:bodyPr>
          <a:lstStyle/>
          <a:p>
            <a:pPr marL="0" indent="0">
              <a:buNone/>
            </a:pPr>
            <a:r>
              <a:rPr lang="en-US" sz="950" dirty="0">
                <a:solidFill>
                  <a:srgbClr val="252525"/>
                </a:solidFill>
              </a:rPr>
              <a:t>id • code • name • tag</a:t>
            </a:r>
            <a:endParaRPr lang="en-US" sz="950" dirty="0"/>
          </a:p>
          <a:p>
            <a:pPr marL="0" indent="0">
              <a:buNone/>
            </a:pPr>
            <a:r>
              <a:rPr lang="en-US" sz="950" dirty="0">
                <a:solidFill>
                  <a:srgbClr val="252525"/>
                </a:solidFill>
              </a:rPr>
              <a:t>required_stamps</a:t>
            </a:r>
            <a:endParaRPr lang="en-US" sz="950" dirty="0"/>
          </a:p>
          <a:p>
            <a:pPr marL="0" indent="0">
              <a:buNone/>
            </a:pPr>
            <a:r>
              <a:rPr lang="en-US" sz="950" dirty="0">
                <a:solidFill>
                  <a:srgbClr val="252525"/>
                </a:solidFill>
              </a:rPr>
              <a:t>eligible_product_codes (CSV)</a:t>
            </a:r>
            <a:endParaRPr lang="en-US" sz="950" dirty="0"/>
          </a:p>
          <a:p>
            <a:pPr marL="0" indent="0">
              <a:buNone/>
            </a:pPr>
            <a:r>
              <a:rPr lang="en-US" sz="950" dirty="0">
                <a:solidFill>
                  <a:srgbClr val="252525"/>
                </a:solidFill>
              </a:rPr>
              <a:t>start/end • active • reward</a:t>
            </a:r>
            <a:endParaRPr lang="en-US" sz="950" dirty="0"/>
          </a:p>
        </p:txBody>
      </p:sp>
      <p:sp>
        <p:nvSpPr>
          <p:cNvPr id="10" name="Shape 8"/>
          <p:cNvSpPr/>
          <p:nvPr/>
        </p:nvSpPr>
        <p:spPr>
          <a:xfrm>
            <a:off x="2971800" y="4114800"/>
            <a:ext cx="2103120" cy="1325880"/>
          </a:xfrm>
          <a:prstGeom prst="roundRect">
            <a:avLst>
              <a:gd name="adj" fmla="val 5517"/>
            </a:avLst>
          </a:prstGeom>
          <a:solidFill>
            <a:srgbClr val="DDF4EF"/>
          </a:solidFill>
          <a:ln w="13970">
            <a:solidFill>
              <a:srgbClr val="0F766E"/>
            </a:solidFill>
            <a:prstDash val="solid"/>
          </a:ln>
        </p:spPr>
      </p:sp>
      <p:sp>
        <p:nvSpPr>
          <p:cNvPr id="11" name="Text 9"/>
          <p:cNvSpPr/>
          <p:nvPr/>
        </p:nvSpPr>
        <p:spPr>
          <a:xfrm>
            <a:off x="3136392" y="4251960"/>
            <a:ext cx="179222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products</a:t>
            </a:r>
            <a:endParaRPr lang="en-US" sz="1400" dirty="0"/>
          </a:p>
        </p:txBody>
      </p:sp>
      <p:sp>
        <p:nvSpPr>
          <p:cNvPr id="12" name="Text 10"/>
          <p:cNvSpPr/>
          <p:nvPr/>
        </p:nvSpPr>
        <p:spPr>
          <a:xfrm>
            <a:off x="3136392" y="4608576"/>
            <a:ext cx="1773936" cy="704088"/>
          </a:xfrm>
          <a:prstGeom prst="rect">
            <a:avLst/>
          </a:prstGeom>
          <a:noFill/>
          <a:ln/>
        </p:spPr>
        <p:txBody>
          <a:bodyPr wrap="square" lIns="0" tIns="0" rIns="0" bIns="0" rtlCol="0" anchor="t">
            <a:normAutofit/>
          </a:bodyPr>
          <a:lstStyle/>
          <a:p>
            <a:pPr marL="0" indent="0">
              <a:buNone/>
            </a:pPr>
            <a:r>
              <a:rPr lang="en-US" sz="1000" dirty="0">
                <a:solidFill>
                  <a:srgbClr val="252525"/>
                </a:solidFill>
              </a:rPr>
              <a:t>id • code • name</a:t>
            </a:r>
            <a:endParaRPr lang="en-US" sz="1000" dirty="0"/>
          </a:p>
          <a:p>
            <a:pPr marL="0" indent="0">
              <a:buNone/>
            </a:pPr>
            <a:r>
              <a:rPr lang="en-US" sz="1000" dirty="0">
                <a:solidFill>
                  <a:srgbClr val="252525"/>
                </a:solidFill>
              </a:rPr>
              <a:t>category • price • active</a:t>
            </a:r>
            <a:endParaRPr lang="en-US" sz="1000" dirty="0"/>
          </a:p>
        </p:txBody>
      </p:sp>
      <p:sp>
        <p:nvSpPr>
          <p:cNvPr id="13" name="Shape 11"/>
          <p:cNvSpPr/>
          <p:nvPr/>
        </p:nvSpPr>
        <p:spPr>
          <a:xfrm>
            <a:off x="5623560" y="1691640"/>
            <a:ext cx="2468880" cy="1691640"/>
          </a:xfrm>
          <a:prstGeom prst="roundRect">
            <a:avLst>
              <a:gd name="adj" fmla="val 4324"/>
            </a:avLst>
          </a:prstGeom>
          <a:solidFill>
            <a:srgbClr val="F0E9FF"/>
          </a:solidFill>
          <a:ln w="13970">
            <a:solidFill>
              <a:srgbClr val="6D28D9"/>
            </a:solidFill>
            <a:prstDash val="solid"/>
          </a:ln>
        </p:spPr>
      </p:sp>
      <p:sp>
        <p:nvSpPr>
          <p:cNvPr id="14" name="Text 12"/>
          <p:cNvSpPr/>
          <p:nvPr/>
        </p:nvSpPr>
        <p:spPr>
          <a:xfrm>
            <a:off x="5788152" y="1828800"/>
            <a:ext cx="215798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stamp_cards</a:t>
            </a:r>
            <a:endParaRPr lang="en-US" sz="1400" dirty="0"/>
          </a:p>
        </p:txBody>
      </p:sp>
      <p:sp>
        <p:nvSpPr>
          <p:cNvPr id="15" name="Text 13"/>
          <p:cNvSpPr/>
          <p:nvPr/>
        </p:nvSpPr>
        <p:spPr>
          <a:xfrm>
            <a:off x="5788152" y="2185416"/>
            <a:ext cx="2139696" cy="1069848"/>
          </a:xfrm>
          <a:prstGeom prst="rect">
            <a:avLst/>
          </a:prstGeom>
          <a:noFill/>
          <a:ln/>
        </p:spPr>
        <p:txBody>
          <a:bodyPr wrap="square" lIns="0" tIns="0" rIns="0" bIns="0" rtlCol="0" anchor="t">
            <a:normAutofit/>
          </a:bodyPr>
          <a:lstStyle/>
          <a:p>
            <a:pPr marL="0" indent="0">
              <a:buNone/>
            </a:pPr>
            <a:r>
              <a:rPr lang="en-US" sz="950" dirty="0">
                <a:solidFill>
                  <a:srgbClr val="252525"/>
                </a:solidFill>
              </a:rPr>
              <a:t>id</a:t>
            </a:r>
            <a:endParaRPr lang="en-US" sz="950" dirty="0"/>
          </a:p>
          <a:p>
            <a:pPr marL="0" indent="0">
              <a:buNone/>
            </a:pPr>
            <a:r>
              <a:rPr lang="en-US" sz="950" dirty="0">
                <a:solidFill>
                  <a:srgbClr val="252525"/>
                </a:solidFill>
              </a:rPr>
              <a:t>user_id → users</a:t>
            </a:r>
            <a:endParaRPr lang="en-US" sz="950" dirty="0"/>
          </a:p>
          <a:p>
            <a:pPr marL="0" indent="0">
              <a:buNone/>
            </a:pPr>
            <a:r>
              <a:rPr lang="en-US" sz="950" dirty="0">
                <a:solidFill>
                  <a:srgbClr val="252525"/>
                </a:solidFill>
              </a:rPr>
              <a:t>campaign_id → campaigns</a:t>
            </a:r>
            <a:endParaRPr lang="en-US" sz="950" dirty="0"/>
          </a:p>
          <a:p>
            <a:pPr marL="0" indent="0">
              <a:buNone/>
            </a:pPr>
            <a:r>
              <a:rPr lang="en-US" sz="950" dirty="0">
                <a:solidFill>
                  <a:srgbClr val="252525"/>
                </a:solidFill>
              </a:rPr>
              <a:t>stamps_collected • cycle</a:t>
            </a:r>
            <a:endParaRPr lang="en-US" sz="950" dirty="0"/>
          </a:p>
          <a:p>
            <a:pPr marL="0" indent="0">
              <a:buNone/>
            </a:pPr>
            <a:r>
              <a:rPr lang="en-US" sz="950" dirty="0">
                <a:solidFill>
                  <a:srgbClr val="252525"/>
                </a:solidFill>
              </a:rPr>
              <a:t>completed_at • redeemed_at</a:t>
            </a:r>
            <a:endParaRPr lang="en-US" sz="950" dirty="0"/>
          </a:p>
          <a:p>
            <a:pPr marL="0" indent="0">
              <a:buNone/>
            </a:pPr>
            <a:r>
              <a:rPr lang="en-US" sz="950" dirty="0">
                <a:solidFill>
                  <a:srgbClr val="252525"/>
                </a:solidFill>
              </a:rPr>
              <a:t>sync_status</a:t>
            </a:r>
            <a:endParaRPr lang="en-US" sz="950" dirty="0"/>
          </a:p>
        </p:txBody>
      </p:sp>
      <p:sp>
        <p:nvSpPr>
          <p:cNvPr id="16" name="Shape 14"/>
          <p:cNvSpPr/>
          <p:nvPr/>
        </p:nvSpPr>
        <p:spPr>
          <a:xfrm>
            <a:off x="8641080" y="1508760"/>
            <a:ext cx="2880360" cy="2057400"/>
          </a:xfrm>
          <a:prstGeom prst="roundRect">
            <a:avLst>
              <a:gd name="adj" fmla="val 3556"/>
            </a:avLst>
          </a:prstGeom>
          <a:solidFill>
            <a:srgbClr val="F3F4F6"/>
          </a:solidFill>
          <a:ln w="13970">
            <a:solidFill>
              <a:srgbClr val="334155"/>
            </a:solidFill>
            <a:prstDash val="solid"/>
          </a:ln>
        </p:spPr>
      </p:sp>
      <p:sp>
        <p:nvSpPr>
          <p:cNvPr id="17" name="Text 15"/>
          <p:cNvSpPr/>
          <p:nvPr/>
        </p:nvSpPr>
        <p:spPr>
          <a:xfrm>
            <a:off x="8805672" y="1645920"/>
            <a:ext cx="256946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loyalty_transactions</a:t>
            </a:r>
            <a:endParaRPr lang="en-US" sz="1400" dirty="0"/>
          </a:p>
        </p:txBody>
      </p:sp>
      <p:sp>
        <p:nvSpPr>
          <p:cNvPr id="18" name="Text 16"/>
          <p:cNvSpPr/>
          <p:nvPr/>
        </p:nvSpPr>
        <p:spPr>
          <a:xfrm>
            <a:off x="8805672" y="2002536"/>
            <a:ext cx="2551176" cy="1435608"/>
          </a:xfrm>
          <a:prstGeom prst="rect">
            <a:avLst/>
          </a:prstGeom>
          <a:noFill/>
          <a:ln/>
        </p:spPr>
        <p:txBody>
          <a:bodyPr wrap="square" lIns="0" tIns="0" rIns="0" bIns="0" rtlCol="0" anchor="t">
            <a:normAutofit/>
          </a:bodyPr>
          <a:lstStyle/>
          <a:p>
            <a:pPr marL="0" indent="0">
              <a:buNone/>
            </a:pPr>
            <a:r>
              <a:rPr lang="en-US" sz="930" dirty="0">
                <a:solidFill>
                  <a:srgbClr val="252525"/>
                </a:solidFill>
              </a:rPr>
              <a:t>id • reference UNIQUE</a:t>
            </a:r>
            <a:endParaRPr lang="en-US" sz="930" dirty="0"/>
          </a:p>
          <a:p>
            <a:pPr marL="0" indent="0">
              <a:buNone/>
            </a:pPr>
            <a:r>
              <a:rPr lang="en-US" sz="930" dirty="0">
                <a:solidFill>
                  <a:srgbClr val="252525"/>
                </a:solidFill>
              </a:rPr>
              <a:t>user_id • campaign_id</a:t>
            </a:r>
            <a:endParaRPr lang="en-US" sz="930" dirty="0"/>
          </a:p>
          <a:p>
            <a:pPr marL="0" indent="0">
              <a:buNone/>
            </a:pPr>
            <a:r>
              <a:rPr lang="en-US" sz="930" dirty="0">
                <a:solidFill>
                  <a:srgbClr val="252525"/>
                </a:solidFill>
              </a:rPr>
              <a:t>stamp_card_id • product_id</a:t>
            </a:r>
            <a:endParaRPr lang="en-US" sz="930" dirty="0"/>
          </a:p>
          <a:p>
            <a:pPr marL="0" indent="0">
              <a:buNone/>
            </a:pPr>
            <a:r>
              <a:rPr lang="en-US" sz="930" dirty="0">
                <a:solidFill>
                  <a:srgbClr val="252525"/>
                </a:solidFill>
              </a:rPr>
              <a:t>type earn/redeem • points</a:t>
            </a:r>
            <a:endParaRPr lang="en-US" sz="930" dirty="0"/>
          </a:p>
          <a:p>
            <a:pPr marL="0" indent="0">
              <a:buNone/>
            </a:pPr>
            <a:r>
              <a:rPr lang="en-US" sz="930" dirty="0">
                <a:solidFill>
                  <a:srgbClr val="252525"/>
                </a:solidFill>
              </a:rPr>
              <a:t>product_name • store_name</a:t>
            </a:r>
            <a:endParaRPr lang="en-US" sz="930" dirty="0"/>
          </a:p>
          <a:p>
            <a:pPr marL="0" indent="0">
              <a:buNone/>
            </a:pPr>
            <a:r>
              <a:rPr lang="en-US" sz="930" dirty="0">
                <a:solidFill>
                  <a:srgbClr val="252525"/>
                </a:solidFill>
              </a:rPr>
              <a:t>scan_token UNIQUE • occurred_at</a:t>
            </a:r>
            <a:endParaRPr lang="en-US" sz="930" dirty="0"/>
          </a:p>
          <a:p>
            <a:pPr marL="0" indent="0">
              <a:buNone/>
            </a:pPr>
            <a:r>
              <a:rPr lang="en-US" sz="930" dirty="0">
                <a:solidFill>
                  <a:srgbClr val="252525"/>
                </a:solidFill>
              </a:rPr>
              <a:t>sync_status</a:t>
            </a:r>
            <a:endParaRPr lang="en-US" sz="930" dirty="0"/>
          </a:p>
        </p:txBody>
      </p:sp>
      <p:sp>
        <p:nvSpPr>
          <p:cNvPr id="20" name="Shape 18"/>
          <p:cNvSpPr/>
          <p:nvPr/>
        </p:nvSpPr>
        <p:spPr>
          <a:xfrm>
            <a:off x="2212848" y="2505456"/>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21" name="Text 19"/>
          <p:cNvSpPr/>
          <p:nvPr/>
        </p:nvSpPr>
        <p:spPr>
          <a:xfrm>
            <a:off x="2249424" y="2568662"/>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D89B2B"/>
                </a:solidFill>
              </a:rPr>
              <a:t>member</a:t>
            </a:r>
            <a:endParaRPr lang="en-US" sz="850" dirty="0"/>
          </a:p>
        </p:txBody>
      </p:sp>
      <p:grpSp>
        <p:nvGrpSpPr>
          <p:cNvPr id="35" name="Group 34">
            <a:extLst>
              <a:ext uri="{FF2B5EF4-FFF2-40B4-BE49-F238E27FC236}">
                <a16:creationId xmlns:a16="http://schemas.microsoft.com/office/drawing/2014/main" id="{CAAEFE11-DD6B-B3BA-3C19-2B688D45F500}"/>
              </a:ext>
            </a:extLst>
          </p:cNvPr>
          <p:cNvGrpSpPr/>
          <p:nvPr/>
        </p:nvGrpSpPr>
        <p:grpSpPr>
          <a:xfrm>
            <a:off x="4657504" y="2463827"/>
            <a:ext cx="1005840" cy="256032"/>
            <a:chOff x="4846320" y="2171700"/>
            <a:chExt cx="1005840" cy="256032"/>
          </a:xfrm>
        </p:grpSpPr>
        <p:sp>
          <p:nvSpPr>
            <p:cNvPr id="23" name="Shape 21"/>
            <p:cNvSpPr/>
            <p:nvPr/>
          </p:nvSpPr>
          <p:spPr>
            <a:xfrm>
              <a:off x="4846320" y="2171700"/>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24" name="Text 22"/>
            <p:cNvSpPr/>
            <p:nvPr/>
          </p:nvSpPr>
          <p:spPr>
            <a:xfrm>
              <a:off x="4882896" y="2231136"/>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2563EB"/>
                  </a:solidFill>
                </a:rPr>
                <a:t>campaign</a:t>
              </a:r>
              <a:endParaRPr lang="en-US" sz="850" dirty="0"/>
            </a:p>
          </p:txBody>
        </p:sp>
      </p:grpSp>
      <p:sp>
        <p:nvSpPr>
          <p:cNvPr id="25" name="Shape 23"/>
          <p:cNvSpPr/>
          <p:nvPr/>
        </p:nvSpPr>
        <p:spPr>
          <a:xfrm>
            <a:off x="8092440" y="2514600"/>
            <a:ext cx="548640" cy="0"/>
          </a:xfrm>
          <a:prstGeom prst="line">
            <a:avLst/>
          </a:prstGeom>
          <a:noFill/>
          <a:ln w="22860">
            <a:solidFill>
              <a:srgbClr val="6D28D9"/>
            </a:solidFill>
            <a:prstDash val="solid"/>
            <a:headEnd type="none"/>
            <a:tailEnd type="triangle"/>
          </a:ln>
        </p:spPr>
      </p:sp>
      <p:sp>
        <p:nvSpPr>
          <p:cNvPr id="26" name="Shape 24"/>
          <p:cNvSpPr/>
          <p:nvPr/>
        </p:nvSpPr>
        <p:spPr>
          <a:xfrm>
            <a:off x="7863840" y="2377440"/>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27" name="Text 25"/>
          <p:cNvSpPr/>
          <p:nvPr/>
        </p:nvSpPr>
        <p:spPr>
          <a:xfrm>
            <a:off x="7900416" y="2436876"/>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6D28D9"/>
                </a:solidFill>
              </a:rPr>
              <a:t>ledger</a:t>
            </a:r>
            <a:endParaRPr lang="en-US" sz="850" dirty="0"/>
          </a:p>
        </p:txBody>
      </p:sp>
      <p:sp>
        <p:nvSpPr>
          <p:cNvPr id="28" name="Shape 26"/>
          <p:cNvSpPr/>
          <p:nvPr/>
        </p:nvSpPr>
        <p:spPr>
          <a:xfrm>
            <a:off x="5074920" y="4663440"/>
            <a:ext cx="4251960" cy="0"/>
          </a:xfrm>
          <a:prstGeom prst="line">
            <a:avLst/>
          </a:prstGeom>
          <a:noFill/>
          <a:ln w="22860">
            <a:solidFill>
              <a:srgbClr val="0F766E"/>
            </a:solidFill>
            <a:prstDash val="solid"/>
            <a:headEnd type="none"/>
            <a:tailEnd type="triangle"/>
          </a:ln>
        </p:spPr>
      </p:sp>
      <p:sp>
        <p:nvSpPr>
          <p:cNvPr id="29" name="Shape 27"/>
          <p:cNvSpPr/>
          <p:nvPr/>
        </p:nvSpPr>
        <p:spPr>
          <a:xfrm>
            <a:off x="6697980" y="3977640"/>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30" name="Text 28"/>
          <p:cNvSpPr/>
          <p:nvPr/>
        </p:nvSpPr>
        <p:spPr>
          <a:xfrm>
            <a:off x="6734556" y="4037076"/>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0F766E"/>
                </a:solidFill>
              </a:rPr>
              <a:t>product</a:t>
            </a:r>
            <a:endParaRPr lang="en-US" sz="850" dirty="0"/>
          </a:p>
        </p:txBody>
      </p:sp>
      <p:sp>
        <p:nvSpPr>
          <p:cNvPr id="31" name="Shape 29"/>
          <p:cNvSpPr/>
          <p:nvPr/>
        </p:nvSpPr>
        <p:spPr>
          <a:xfrm>
            <a:off x="594360" y="5669280"/>
            <a:ext cx="10927080" cy="502920"/>
          </a:xfrm>
          <a:prstGeom prst="roundRect">
            <a:avLst>
              <a:gd name="adj" fmla="val 9091"/>
            </a:avLst>
          </a:prstGeom>
          <a:solidFill>
            <a:srgbClr val="FDE8E7"/>
          </a:solidFill>
          <a:ln w="12700">
            <a:solidFill>
              <a:srgbClr val="B42318"/>
            </a:solidFill>
            <a:prstDash val="solid"/>
          </a:ln>
        </p:spPr>
      </p:sp>
      <p:sp>
        <p:nvSpPr>
          <p:cNvPr id="32" name="Text 30"/>
          <p:cNvSpPr/>
          <p:nvPr/>
        </p:nvSpPr>
        <p:spPr>
          <a:xfrm>
            <a:off x="868680" y="5833872"/>
            <a:ext cx="10378440" cy="173736"/>
          </a:xfrm>
          <a:prstGeom prst="rect">
            <a:avLst/>
          </a:prstGeom>
          <a:noFill/>
          <a:ln/>
        </p:spPr>
        <p:txBody>
          <a:bodyPr wrap="square" lIns="0" tIns="0" rIns="0" bIns="0" rtlCol="0" anchor="ctr">
            <a:normAutofit/>
          </a:bodyPr>
          <a:lstStyle/>
          <a:p>
            <a:pPr marL="0" indent="0" algn="ctr">
              <a:buNone/>
            </a:pPr>
            <a:r>
              <a:rPr lang="en-US" sz="1050" b="1" dirty="0">
                <a:solidFill>
                  <a:srgbClr val="B42318"/>
                </a:solidFill>
              </a:rPr>
              <a:t>Current limitation: this SQLite file lives on each device. DIWA cannot safely query every phone; loyalty facts must be uploaded to a central reporting database first.</a:t>
            </a:r>
            <a:endParaRPr lang="en-US" sz="1050" dirty="0"/>
          </a:p>
        </p:txBody>
      </p:sp>
      <p:sp>
        <p:nvSpPr>
          <p:cNvPr id="33" name="Text 31"/>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Database.md L23–70; loyalty_tables.dart L15–160; CLAUDE.md L92–98</a:t>
            </a:r>
            <a:endParaRPr lang="en-US" sz="750" dirty="0"/>
          </a:p>
        </p:txBody>
      </p:sp>
      <p:sp>
        <p:nvSpPr>
          <p:cNvPr id="34"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Target production integration: physical POS + central loyalty API</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POS—not the customer device—must attest what was sold and who processed it.</a:t>
            </a:r>
            <a:endParaRPr lang="en-US" sz="1250" dirty="0"/>
          </a:p>
        </p:txBody>
      </p:sp>
      <p:sp>
        <p:nvSpPr>
          <p:cNvPr id="4" name="Shape 2"/>
          <p:cNvSpPr/>
          <p:nvPr/>
        </p:nvSpPr>
        <p:spPr>
          <a:xfrm>
            <a:off x="594360" y="1508760"/>
            <a:ext cx="1965960" cy="749808"/>
          </a:xfrm>
          <a:prstGeom prst="roundRect">
            <a:avLst>
              <a:gd name="adj" fmla="val 9756"/>
            </a:avLst>
          </a:prstGeom>
          <a:solidFill>
            <a:srgbClr val="FFF8EF"/>
          </a:solidFill>
          <a:ln w="13970">
            <a:solidFill>
              <a:srgbClr val="D89B2B"/>
            </a:solidFill>
            <a:prstDash val="solid"/>
          </a:ln>
        </p:spPr>
      </p:sp>
      <p:sp>
        <p:nvSpPr>
          <p:cNvPr id="5" name="Shape 3"/>
          <p:cNvSpPr/>
          <p:nvPr/>
        </p:nvSpPr>
        <p:spPr>
          <a:xfrm>
            <a:off x="740664" y="1655064"/>
            <a:ext cx="310896" cy="310896"/>
          </a:xfrm>
          <a:prstGeom prst="ellipse">
            <a:avLst/>
          </a:prstGeom>
          <a:solidFill>
            <a:srgbClr val="D89B2B"/>
          </a:solidFill>
          <a:ln w="12700">
            <a:solidFill>
              <a:srgbClr val="D89B2B"/>
            </a:solidFill>
            <a:prstDash val="solid"/>
          </a:ln>
        </p:spPr>
      </p:sp>
      <p:sp>
        <p:nvSpPr>
          <p:cNvPr id="6" name="Text 4"/>
          <p:cNvSpPr/>
          <p:nvPr/>
        </p:nvSpPr>
        <p:spPr>
          <a:xfrm>
            <a:off x="74066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143000" y="1645920"/>
            <a:ext cx="1271016" cy="256032"/>
          </a:xfrm>
          <a:prstGeom prst="rect">
            <a:avLst/>
          </a:prstGeom>
          <a:noFill/>
          <a:ln/>
        </p:spPr>
        <p:txBody>
          <a:bodyPr wrap="square" lIns="0" tIns="0" rIns="0" bIns="0" rtlCol="0" anchor="ctr">
            <a:normAutofit/>
          </a:bodyPr>
          <a:lstStyle/>
          <a:p>
            <a:pPr marL="0" indent="0">
              <a:buNone/>
            </a:pPr>
            <a:r>
              <a:rPr lang="en-US" sz="1250" b="1" dirty="0">
                <a:solidFill>
                  <a:srgbClr val="2B1D16"/>
                </a:solidFill>
              </a:rPr>
              <a:t>Customer app</a:t>
            </a:r>
            <a:endParaRPr lang="en-US" sz="1250" dirty="0"/>
          </a:p>
        </p:txBody>
      </p:sp>
      <p:sp>
        <p:nvSpPr>
          <p:cNvPr id="8" name="Shape 6"/>
          <p:cNvSpPr/>
          <p:nvPr/>
        </p:nvSpPr>
        <p:spPr>
          <a:xfrm>
            <a:off x="2971800" y="1508760"/>
            <a:ext cx="1965960" cy="749808"/>
          </a:xfrm>
          <a:prstGeom prst="roundRect">
            <a:avLst>
              <a:gd name="adj" fmla="val 9756"/>
            </a:avLst>
          </a:prstGeom>
          <a:solidFill>
            <a:srgbClr val="DDF4EF"/>
          </a:solidFill>
          <a:ln w="13970">
            <a:solidFill>
              <a:srgbClr val="0F766E"/>
            </a:solidFill>
            <a:prstDash val="solid"/>
          </a:ln>
        </p:spPr>
      </p:sp>
      <p:sp>
        <p:nvSpPr>
          <p:cNvPr id="9" name="Shape 7"/>
          <p:cNvSpPr/>
          <p:nvPr/>
        </p:nvSpPr>
        <p:spPr>
          <a:xfrm>
            <a:off x="3118104" y="1655064"/>
            <a:ext cx="310896" cy="310896"/>
          </a:xfrm>
          <a:prstGeom prst="ellipse">
            <a:avLst/>
          </a:prstGeom>
          <a:solidFill>
            <a:srgbClr val="0F766E"/>
          </a:solidFill>
          <a:ln w="12700">
            <a:solidFill>
              <a:srgbClr val="0F766E"/>
            </a:solidFill>
            <a:prstDash val="solid"/>
          </a:ln>
        </p:spPr>
      </p:sp>
      <p:sp>
        <p:nvSpPr>
          <p:cNvPr id="10" name="Text 8"/>
          <p:cNvSpPr/>
          <p:nvPr/>
        </p:nvSpPr>
        <p:spPr>
          <a:xfrm>
            <a:off x="311810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1" name="Text 9"/>
          <p:cNvSpPr/>
          <p:nvPr/>
        </p:nvSpPr>
        <p:spPr>
          <a:xfrm>
            <a:off x="3520440" y="1645920"/>
            <a:ext cx="1271016" cy="256032"/>
          </a:xfrm>
          <a:prstGeom prst="rect">
            <a:avLst/>
          </a:prstGeom>
          <a:noFill/>
          <a:ln/>
        </p:spPr>
        <p:txBody>
          <a:bodyPr wrap="square" lIns="0" tIns="0" rIns="0" bIns="0" rtlCol="0" anchor="ctr">
            <a:normAutofit/>
          </a:bodyPr>
          <a:lstStyle/>
          <a:p>
            <a:pPr marL="0" indent="0">
              <a:buNone/>
            </a:pPr>
            <a:r>
              <a:rPr lang="en-US" sz="1250" b="1" dirty="0">
                <a:solidFill>
                  <a:srgbClr val="2B1D16"/>
                </a:solidFill>
              </a:rPr>
              <a:t>POS terminal</a:t>
            </a:r>
            <a:endParaRPr lang="en-US" sz="1250" dirty="0"/>
          </a:p>
        </p:txBody>
      </p:sp>
      <p:sp>
        <p:nvSpPr>
          <p:cNvPr id="12" name="Shape 10"/>
          <p:cNvSpPr/>
          <p:nvPr/>
        </p:nvSpPr>
        <p:spPr>
          <a:xfrm>
            <a:off x="5349240" y="1508760"/>
            <a:ext cx="1965960" cy="749808"/>
          </a:xfrm>
          <a:prstGeom prst="roundRect">
            <a:avLst>
              <a:gd name="adj" fmla="val 9756"/>
            </a:avLst>
          </a:prstGeom>
          <a:solidFill>
            <a:srgbClr val="E9F1FF"/>
          </a:solidFill>
          <a:ln w="13970">
            <a:solidFill>
              <a:srgbClr val="2563EB"/>
            </a:solidFill>
            <a:prstDash val="solid"/>
          </a:ln>
        </p:spPr>
      </p:sp>
      <p:sp>
        <p:nvSpPr>
          <p:cNvPr id="13" name="Shape 11"/>
          <p:cNvSpPr/>
          <p:nvPr/>
        </p:nvSpPr>
        <p:spPr>
          <a:xfrm>
            <a:off x="5495544" y="1655064"/>
            <a:ext cx="310896" cy="310896"/>
          </a:xfrm>
          <a:prstGeom prst="ellipse">
            <a:avLst/>
          </a:prstGeom>
          <a:solidFill>
            <a:srgbClr val="2563EB"/>
          </a:solidFill>
          <a:ln w="12700">
            <a:solidFill>
              <a:srgbClr val="2563EB"/>
            </a:solidFill>
            <a:prstDash val="solid"/>
          </a:ln>
        </p:spPr>
      </p:sp>
      <p:sp>
        <p:nvSpPr>
          <p:cNvPr id="14" name="Text 12"/>
          <p:cNvSpPr/>
          <p:nvPr/>
        </p:nvSpPr>
        <p:spPr>
          <a:xfrm>
            <a:off x="549554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5" name="Text 13"/>
          <p:cNvSpPr/>
          <p:nvPr/>
        </p:nvSpPr>
        <p:spPr>
          <a:xfrm>
            <a:off x="5897880" y="1645920"/>
            <a:ext cx="1271016" cy="256032"/>
          </a:xfrm>
          <a:prstGeom prst="rect">
            <a:avLst/>
          </a:prstGeom>
          <a:noFill/>
          <a:ln/>
        </p:spPr>
        <p:txBody>
          <a:bodyPr wrap="square" lIns="0" tIns="0" rIns="0" bIns="0" rtlCol="0" anchor="ctr">
            <a:normAutofit/>
          </a:bodyPr>
          <a:lstStyle/>
          <a:p>
            <a:pPr marL="0" indent="0">
              <a:buNone/>
            </a:pPr>
            <a:r>
              <a:rPr lang="en-US" sz="1250" b="1" dirty="0">
                <a:solidFill>
                  <a:srgbClr val="2B1D16"/>
                </a:solidFill>
              </a:rPr>
              <a:t>Loyalty API</a:t>
            </a:r>
            <a:endParaRPr lang="en-US" sz="1250" dirty="0"/>
          </a:p>
        </p:txBody>
      </p:sp>
      <p:sp>
        <p:nvSpPr>
          <p:cNvPr id="16" name="Shape 14"/>
          <p:cNvSpPr/>
          <p:nvPr/>
        </p:nvSpPr>
        <p:spPr>
          <a:xfrm>
            <a:off x="7726680" y="1508760"/>
            <a:ext cx="1965960" cy="749808"/>
          </a:xfrm>
          <a:prstGeom prst="roundRect">
            <a:avLst>
              <a:gd name="adj" fmla="val 9756"/>
            </a:avLst>
          </a:prstGeom>
          <a:solidFill>
            <a:srgbClr val="F0E9FF"/>
          </a:solidFill>
          <a:ln w="13970">
            <a:solidFill>
              <a:srgbClr val="6D28D9"/>
            </a:solidFill>
            <a:prstDash val="solid"/>
          </a:ln>
        </p:spPr>
      </p:sp>
      <p:sp>
        <p:nvSpPr>
          <p:cNvPr id="17" name="Shape 15"/>
          <p:cNvSpPr/>
          <p:nvPr/>
        </p:nvSpPr>
        <p:spPr>
          <a:xfrm>
            <a:off x="7872984" y="1655064"/>
            <a:ext cx="310896" cy="310896"/>
          </a:xfrm>
          <a:prstGeom prst="ellipse">
            <a:avLst/>
          </a:prstGeom>
          <a:solidFill>
            <a:srgbClr val="6D28D9"/>
          </a:solidFill>
          <a:ln w="12700">
            <a:solidFill>
              <a:srgbClr val="6D28D9"/>
            </a:solidFill>
            <a:prstDash val="solid"/>
          </a:ln>
        </p:spPr>
      </p:sp>
      <p:sp>
        <p:nvSpPr>
          <p:cNvPr id="18" name="Text 16"/>
          <p:cNvSpPr/>
          <p:nvPr/>
        </p:nvSpPr>
        <p:spPr>
          <a:xfrm>
            <a:off x="787298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19" name="Text 17"/>
          <p:cNvSpPr/>
          <p:nvPr/>
        </p:nvSpPr>
        <p:spPr>
          <a:xfrm>
            <a:off x="8275320" y="1645920"/>
            <a:ext cx="1271016" cy="256032"/>
          </a:xfrm>
          <a:prstGeom prst="rect">
            <a:avLst/>
          </a:prstGeom>
          <a:noFill/>
          <a:ln/>
        </p:spPr>
        <p:txBody>
          <a:bodyPr wrap="square" lIns="0" tIns="0" rIns="0" bIns="0" rtlCol="0" anchor="ctr">
            <a:normAutofit/>
          </a:bodyPr>
          <a:lstStyle/>
          <a:p>
            <a:pPr marL="0" indent="0">
              <a:buNone/>
            </a:pPr>
            <a:r>
              <a:rPr lang="en-US" sz="1250" b="1" dirty="0">
                <a:solidFill>
                  <a:srgbClr val="2B1D16"/>
                </a:solidFill>
              </a:rPr>
              <a:t>Central SQL</a:t>
            </a:r>
            <a:endParaRPr lang="en-US" sz="1250" dirty="0"/>
          </a:p>
        </p:txBody>
      </p:sp>
      <p:sp>
        <p:nvSpPr>
          <p:cNvPr id="20" name="Shape 18"/>
          <p:cNvSpPr/>
          <p:nvPr/>
        </p:nvSpPr>
        <p:spPr>
          <a:xfrm>
            <a:off x="10104120" y="1508760"/>
            <a:ext cx="1463040" cy="749808"/>
          </a:xfrm>
          <a:prstGeom prst="roundRect">
            <a:avLst>
              <a:gd name="adj" fmla="val 9756"/>
            </a:avLst>
          </a:prstGeom>
          <a:solidFill>
            <a:srgbClr val="F3F4F6"/>
          </a:solidFill>
          <a:ln w="13970">
            <a:solidFill>
              <a:srgbClr val="334155"/>
            </a:solidFill>
            <a:prstDash val="solid"/>
          </a:ln>
        </p:spPr>
      </p:sp>
      <p:sp>
        <p:nvSpPr>
          <p:cNvPr id="21" name="Shape 19"/>
          <p:cNvSpPr/>
          <p:nvPr/>
        </p:nvSpPr>
        <p:spPr>
          <a:xfrm>
            <a:off x="10250424" y="1655064"/>
            <a:ext cx="310896" cy="310896"/>
          </a:xfrm>
          <a:prstGeom prst="ellipse">
            <a:avLst/>
          </a:prstGeom>
          <a:solidFill>
            <a:srgbClr val="334155"/>
          </a:solidFill>
          <a:ln w="12700">
            <a:solidFill>
              <a:srgbClr val="334155"/>
            </a:solidFill>
            <a:prstDash val="solid"/>
          </a:ln>
        </p:spPr>
      </p:sp>
      <p:sp>
        <p:nvSpPr>
          <p:cNvPr id="22" name="Text 20"/>
          <p:cNvSpPr/>
          <p:nvPr/>
        </p:nvSpPr>
        <p:spPr>
          <a:xfrm>
            <a:off x="10250424" y="172364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3" name="Text 21"/>
          <p:cNvSpPr/>
          <p:nvPr/>
        </p:nvSpPr>
        <p:spPr>
          <a:xfrm>
            <a:off x="10652760" y="1645920"/>
            <a:ext cx="768096" cy="256032"/>
          </a:xfrm>
          <a:prstGeom prst="rect">
            <a:avLst/>
          </a:prstGeom>
          <a:noFill/>
          <a:ln/>
        </p:spPr>
        <p:txBody>
          <a:bodyPr wrap="square" lIns="0" tIns="0" rIns="0" bIns="0" rtlCol="0" anchor="ctr">
            <a:normAutofit/>
          </a:bodyPr>
          <a:lstStyle/>
          <a:p>
            <a:pPr marL="0" indent="0">
              <a:buNone/>
            </a:pPr>
            <a:r>
              <a:rPr lang="en-US" sz="1250" b="1" dirty="0">
                <a:solidFill>
                  <a:srgbClr val="2B1D16"/>
                </a:solidFill>
              </a:rPr>
              <a:t>DIWA</a:t>
            </a:r>
            <a:endParaRPr lang="en-US" sz="1250" dirty="0"/>
          </a:p>
        </p:txBody>
      </p:sp>
      <p:sp>
        <p:nvSpPr>
          <p:cNvPr id="24" name="Shape 22"/>
          <p:cNvSpPr/>
          <p:nvPr/>
        </p:nvSpPr>
        <p:spPr>
          <a:xfrm>
            <a:off x="2560320" y="1874520"/>
            <a:ext cx="411480" cy="0"/>
          </a:xfrm>
          <a:prstGeom prst="line">
            <a:avLst/>
          </a:prstGeom>
          <a:noFill/>
          <a:ln w="22860">
            <a:solidFill>
              <a:srgbClr val="D89B2B"/>
            </a:solidFill>
            <a:prstDash val="solid"/>
            <a:headEnd type="none"/>
            <a:tailEnd type="triangle"/>
          </a:ln>
        </p:spPr>
      </p:sp>
      <p:sp>
        <p:nvSpPr>
          <p:cNvPr id="25" name="Shape 23"/>
          <p:cNvSpPr/>
          <p:nvPr/>
        </p:nvSpPr>
        <p:spPr>
          <a:xfrm>
            <a:off x="4937760" y="1874520"/>
            <a:ext cx="411480" cy="0"/>
          </a:xfrm>
          <a:prstGeom prst="line">
            <a:avLst/>
          </a:prstGeom>
          <a:noFill/>
          <a:ln w="22860">
            <a:solidFill>
              <a:srgbClr val="0F766E"/>
            </a:solidFill>
            <a:prstDash val="solid"/>
            <a:headEnd type="none"/>
            <a:tailEnd type="triangle"/>
          </a:ln>
        </p:spPr>
      </p:sp>
      <p:sp>
        <p:nvSpPr>
          <p:cNvPr id="26" name="Shape 24"/>
          <p:cNvSpPr/>
          <p:nvPr/>
        </p:nvSpPr>
        <p:spPr>
          <a:xfrm>
            <a:off x="7315200" y="1874520"/>
            <a:ext cx="411480" cy="0"/>
          </a:xfrm>
          <a:prstGeom prst="line">
            <a:avLst/>
          </a:prstGeom>
          <a:noFill/>
          <a:ln w="22860">
            <a:solidFill>
              <a:srgbClr val="2563EB"/>
            </a:solidFill>
            <a:prstDash val="solid"/>
            <a:headEnd type="none"/>
            <a:tailEnd type="triangle"/>
          </a:ln>
        </p:spPr>
      </p:sp>
      <p:sp>
        <p:nvSpPr>
          <p:cNvPr id="27" name="Shape 25"/>
          <p:cNvSpPr/>
          <p:nvPr/>
        </p:nvSpPr>
        <p:spPr>
          <a:xfrm>
            <a:off x="9692640" y="1874520"/>
            <a:ext cx="411480" cy="0"/>
          </a:xfrm>
          <a:prstGeom prst="line">
            <a:avLst/>
          </a:prstGeom>
          <a:noFill/>
          <a:ln w="22860">
            <a:solidFill>
              <a:srgbClr val="6D28D9"/>
            </a:solidFill>
            <a:prstDash val="solid"/>
            <a:headEnd type="none"/>
            <a:tailEnd type="triangle"/>
          </a:ln>
        </p:spPr>
      </p:sp>
      <p:sp>
        <p:nvSpPr>
          <p:cNvPr id="28" name="Text 26"/>
          <p:cNvSpPr/>
          <p:nvPr/>
        </p:nvSpPr>
        <p:spPr>
          <a:xfrm>
            <a:off x="658368" y="2697480"/>
            <a:ext cx="4023360" cy="256032"/>
          </a:xfrm>
          <a:prstGeom prst="rect">
            <a:avLst/>
          </a:prstGeom>
          <a:noFill/>
          <a:ln/>
        </p:spPr>
        <p:txBody>
          <a:bodyPr wrap="square" lIns="0" tIns="0" rIns="0" bIns="0" rtlCol="0" anchor="ctr"/>
          <a:lstStyle/>
          <a:p>
            <a:pPr marL="0" indent="0">
              <a:buNone/>
            </a:pPr>
            <a:r>
              <a:rPr lang="en-US" sz="1600" b="1" dirty="0">
                <a:solidFill>
                  <a:srgbClr val="2B1D16"/>
                </a:solidFill>
              </a:rPr>
              <a:t>Recommended earn request / audit payload</a:t>
            </a:r>
            <a:endParaRPr lang="en-US" sz="1600" dirty="0"/>
          </a:p>
        </p:txBody>
      </p:sp>
      <p:sp>
        <p:nvSpPr>
          <p:cNvPr id="29" name="Shape 27"/>
          <p:cNvSpPr/>
          <p:nvPr/>
        </p:nvSpPr>
        <p:spPr>
          <a:xfrm>
            <a:off x="658368" y="3127248"/>
            <a:ext cx="2651760" cy="548640"/>
          </a:xfrm>
          <a:prstGeom prst="roundRect">
            <a:avLst>
              <a:gd name="adj" fmla="val 13333"/>
            </a:avLst>
          </a:prstGeom>
          <a:solidFill>
            <a:srgbClr val="FFF8EF"/>
          </a:solidFill>
          <a:ln w="13970">
            <a:solidFill>
              <a:srgbClr val="D89B2B"/>
            </a:solidFill>
            <a:prstDash val="solid"/>
          </a:ln>
        </p:spPr>
      </p:sp>
      <p:sp>
        <p:nvSpPr>
          <p:cNvPr id="30" name="Text 28"/>
          <p:cNvSpPr/>
          <p:nvPr/>
        </p:nvSpPr>
        <p:spPr>
          <a:xfrm>
            <a:off x="822960" y="3264408"/>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Identity</a:t>
            </a:r>
            <a:endParaRPr lang="en-US" sz="1050" dirty="0"/>
          </a:p>
        </p:txBody>
      </p:sp>
      <p:sp>
        <p:nvSpPr>
          <p:cNvPr id="31" name="Text 29"/>
          <p:cNvSpPr/>
          <p:nvPr/>
        </p:nvSpPr>
        <p:spPr>
          <a:xfrm>
            <a:off x="822960" y="3621024"/>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member_id / QR token</a:t>
            </a:r>
            <a:endParaRPr lang="en-US" sz="850" dirty="0"/>
          </a:p>
        </p:txBody>
      </p:sp>
      <p:sp>
        <p:nvSpPr>
          <p:cNvPr id="32" name="Shape 30"/>
          <p:cNvSpPr/>
          <p:nvPr/>
        </p:nvSpPr>
        <p:spPr>
          <a:xfrm>
            <a:off x="3538728" y="3127248"/>
            <a:ext cx="2651760" cy="548640"/>
          </a:xfrm>
          <a:prstGeom prst="roundRect">
            <a:avLst>
              <a:gd name="adj" fmla="val 13333"/>
            </a:avLst>
          </a:prstGeom>
          <a:solidFill>
            <a:srgbClr val="DDF4EF"/>
          </a:solidFill>
          <a:ln w="13970">
            <a:solidFill>
              <a:srgbClr val="0F766E"/>
            </a:solidFill>
            <a:prstDash val="solid"/>
          </a:ln>
        </p:spPr>
      </p:sp>
      <p:sp>
        <p:nvSpPr>
          <p:cNvPr id="33" name="Text 31"/>
          <p:cNvSpPr/>
          <p:nvPr/>
        </p:nvSpPr>
        <p:spPr>
          <a:xfrm>
            <a:off x="3703320" y="3264408"/>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Sale proof</a:t>
            </a:r>
            <a:endParaRPr lang="en-US" sz="1050" dirty="0"/>
          </a:p>
        </p:txBody>
      </p:sp>
      <p:sp>
        <p:nvSpPr>
          <p:cNvPr id="34" name="Text 32"/>
          <p:cNvSpPr/>
          <p:nvPr/>
        </p:nvSpPr>
        <p:spPr>
          <a:xfrm>
            <a:off x="3703320" y="3621024"/>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sale_transaction_id • receipt_no • line_id</a:t>
            </a:r>
            <a:endParaRPr lang="en-US" sz="850" dirty="0"/>
          </a:p>
        </p:txBody>
      </p:sp>
      <p:sp>
        <p:nvSpPr>
          <p:cNvPr id="35" name="Shape 33"/>
          <p:cNvSpPr/>
          <p:nvPr/>
        </p:nvSpPr>
        <p:spPr>
          <a:xfrm>
            <a:off x="658368" y="3831336"/>
            <a:ext cx="2651760" cy="548640"/>
          </a:xfrm>
          <a:prstGeom prst="roundRect">
            <a:avLst>
              <a:gd name="adj" fmla="val 13333"/>
            </a:avLst>
          </a:prstGeom>
          <a:solidFill>
            <a:srgbClr val="FFF8EF"/>
          </a:solidFill>
          <a:ln w="13970">
            <a:solidFill>
              <a:srgbClr val="D89B2B"/>
            </a:solidFill>
            <a:prstDash val="solid"/>
          </a:ln>
        </p:spPr>
      </p:sp>
      <p:sp>
        <p:nvSpPr>
          <p:cNvPr id="36" name="Text 34"/>
          <p:cNvSpPr/>
          <p:nvPr/>
        </p:nvSpPr>
        <p:spPr>
          <a:xfrm>
            <a:off x="822960" y="3968496"/>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Context</a:t>
            </a:r>
            <a:endParaRPr lang="en-US" sz="1050" dirty="0"/>
          </a:p>
        </p:txBody>
      </p:sp>
      <p:sp>
        <p:nvSpPr>
          <p:cNvPr id="37" name="Text 35"/>
          <p:cNvSpPr/>
          <p:nvPr/>
        </p:nvSpPr>
        <p:spPr>
          <a:xfrm>
            <a:off x="822960" y="4325112"/>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store_id • terminal_id • cashier_id • business_date</a:t>
            </a:r>
            <a:endParaRPr lang="en-US" sz="850" dirty="0"/>
          </a:p>
        </p:txBody>
      </p:sp>
      <p:sp>
        <p:nvSpPr>
          <p:cNvPr id="38" name="Shape 36"/>
          <p:cNvSpPr/>
          <p:nvPr/>
        </p:nvSpPr>
        <p:spPr>
          <a:xfrm>
            <a:off x="3538728" y="3831336"/>
            <a:ext cx="2651760" cy="548640"/>
          </a:xfrm>
          <a:prstGeom prst="roundRect">
            <a:avLst>
              <a:gd name="adj" fmla="val 13333"/>
            </a:avLst>
          </a:prstGeom>
          <a:solidFill>
            <a:srgbClr val="DDF4EF"/>
          </a:solidFill>
          <a:ln w="13970">
            <a:solidFill>
              <a:srgbClr val="0F766E"/>
            </a:solidFill>
            <a:prstDash val="solid"/>
          </a:ln>
        </p:spPr>
      </p:sp>
      <p:sp>
        <p:nvSpPr>
          <p:cNvPr id="39" name="Text 37"/>
          <p:cNvSpPr/>
          <p:nvPr/>
        </p:nvSpPr>
        <p:spPr>
          <a:xfrm>
            <a:off x="3703320" y="3968496"/>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Item</a:t>
            </a:r>
            <a:endParaRPr lang="en-US" sz="1050" dirty="0"/>
          </a:p>
        </p:txBody>
      </p:sp>
      <p:sp>
        <p:nvSpPr>
          <p:cNvPr id="40" name="Text 38"/>
          <p:cNvSpPr/>
          <p:nvPr/>
        </p:nvSpPr>
        <p:spPr>
          <a:xfrm>
            <a:off x="3703320" y="4325112"/>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product_code • quantity • net_amount • campaign_id</a:t>
            </a:r>
            <a:endParaRPr lang="en-US" sz="850" dirty="0"/>
          </a:p>
        </p:txBody>
      </p:sp>
      <p:sp>
        <p:nvSpPr>
          <p:cNvPr id="41" name="Shape 39"/>
          <p:cNvSpPr/>
          <p:nvPr/>
        </p:nvSpPr>
        <p:spPr>
          <a:xfrm>
            <a:off x="658368" y="4535424"/>
            <a:ext cx="2651760" cy="548640"/>
          </a:xfrm>
          <a:prstGeom prst="roundRect">
            <a:avLst>
              <a:gd name="adj" fmla="val 13333"/>
            </a:avLst>
          </a:prstGeom>
          <a:solidFill>
            <a:srgbClr val="FFF8EF"/>
          </a:solidFill>
          <a:ln w="13970">
            <a:solidFill>
              <a:srgbClr val="D89B2B"/>
            </a:solidFill>
            <a:prstDash val="solid"/>
          </a:ln>
        </p:spPr>
      </p:sp>
      <p:sp>
        <p:nvSpPr>
          <p:cNvPr id="42" name="Text 40"/>
          <p:cNvSpPr/>
          <p:nvPr/>
        </p:nvSpPr>
        <p:spPr>
          <a:xfrm>
            <a:off x="822960" y="4672584"/>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Control</a:t>
            </a:r>
            <a:endParaRPr lang="en-US" sz="1050" dirty="0"/>
          </a:p>
        </p:txBody>
      </p:sp>
      <p:sp>
        <p:nvSpPr>
          <p:cNvPr id="43" name="Text 41"/>
          <p:cNvSpPr/>
          <p:nvPr/>
        </p:nvSpPr>
        <p:spPr>
          <a:xfrm>
            <a:off x="822960" y="5029200"/>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request_id/idempotency_key • occurred_at • device time</a:t>
            </a:r>
            <a:endParaRPr lang="en-US" sz="850" dirty="0"/>
          </a:p>
        </p:txBody>
      </p:sp>
      <p:sp>
        <p:nvSpPr>
          <p:cNvPr id="44" name="Shape 42"/>
          <p:cNvSpPr/>
          <p:nvPr/>
        </p:nvSpPr>
        <p:spPr>
          <a:xfrm>
            <a:off x="3538728" y="4535424"/>
            <a:ext cx="2651760" cy="548640"/>
          </a:xfrm>
          <a:prstGeom prst="roundRect">
            <a:avLst>
              <a:gd name="adj" fmla="val 13333"/>
            </a:avLst>
          </a:prstGeom>
          <a:solidFill>
            <a:srgbClr val="DDF4EF"/>
          </a:solidFill>
          <a:ln w="13970">
            <a:solidFill>
              <a:srgbClr val="0F766E"/>
            </a:solidFill>
            <a:prstDash val="solid"/>
          </a:ln>
        </p:spPr>
      </p:sp>
      <p:sp>
        <p:nvSpPr>
          <p:cNvPr id="45" name="Text 43"/>
          <p:cNvSpPr/>
          <p:nvPr/>
        </p:nvSpPr>
        <p:spPr>
          <a:xfrm>
            <a:off x="3703320" y="4672584"/>
            <a:ext cx="2340864" cy="256032"/>
          </a:xfrm>
          <a:prstGeom prst="rect">
            <a:avLst/>
          </a:prstGeom>
          <a:noFill/>
          <a:ln/>
        </p:spPr>
        <p:txBody>
          <a:bodyPr wrap="square" lIns="0" tIns="0" rIns="0" bIns="0" rtlCol="0" anchor="ctr">
            <a:normAutofit/>
          </a:bodyPr>
          <a:lstStyle/>
          <a:p>
            <a:pPr marL="0" indent="0">
              <a:buNone/>
            </a:pPr>
            <a:r>
              <a:rPr lang="en-US" sz="1050" b="1" dirty="0">
                <a:solidFill>
                  <a:srgbClr val="2B1D16"/>
                </a:solidFill>
              </a:rPr>
              <a:t>Outcome</a:t>
            </a:r>
            <a:endParaRPr lang="en-US" sz="1050" dirty="0"/>
          </a:p>
        </p:txBody>
      </p:sp>
      <p:sp>
        <p:nvSpPr>
          <p:cNvPr id="46" name="Text 44"/>
          <p:cNvSpPr/>
          <p:nvPr/>
        </p:nvSpPr>
        <p:spPr>
          <a:xfrm>
            <a:off x="3703320" y="5029200"/>
            <a:ext cx="2322576" cy="0"/>
          </a:xfrm>
          <a:prstGeom prst="rect">
            <a:avLst/>
          </a:prstGeom>
          <a:noFill/>
          <a:ln/>
        </p:spPr>
        <p:txBody>
          <a:bodyPr wrap="square" lIns="0" tIns="0" rIns="0" bIns="0" rtlCol="0" anchor="t">
            <a:normAutofit fontScale="25000" lnSpcReduction="20000"/>
          </a:bodyPr>
          <a:lstStyle/>
          <a:p>
            <a:pPr marL="0" indent="0">
              <a:buNone/>
            </a:pPr>
            <a:r>
              <a:rPr lang="en-US" sz="850" dirty="0">
                <a:solidFill>
                  <a:srgbClr val="252525"/>
                </a:solidFill>
              </a:rPr>
              <a:t>approved/rejected • reason • stamps_delta • card totals</a:t>
            </a:r>
            <a:endParaRPr lang="en-US" sz="850" dirty="0"/>
          </a:p>
        </p:txBody>
      </p:sp>
      <p:sp>
        <p:nvSpPr>
          <p:cNvPr id="47" name="Text 45"/>
          <p:cNvSpPr/>
          <p:nvPr/>
        </p:nvSpPr>
        <p:spPr>
          <a:xfrm>
            <a:off x="6629400" y="2697480"/>
            <a:ext cx="4206240" cy="256032"/>
          </a:xfrm>
          <a:prstGeom prst="rect">
            <a:avLst/>
          </a:prstGeom>
          <a:noFill/>
          <a:ln/>
        </p:spPr>
        <p:txBody>
          <a:bodyPr wrap="square" lIns="0" tIns="0" rIns="0" bIns="0" rtlCol="0" anchor="ctr"/>
          <a:lstStyle/>
          <a:p>
            <a:pPr marL="0" indent="0">
              <a:buNone/>
            </a:pPr>
            <a:r>
              <a:rPr lang="en-US" sz="1600" b="1" dirty="0">
                <a:solidFill>
                  <a:srgbClr val="2B1D16"/>
                </a:solidFill>
              </a:rPr>
              <a:t>Central tables / API responsibilities</a:t>
            </a:r>
            <a:endParaRPr lang="en-US" sz="1600" dirty="0"/>
          </a:p>
        </p:txBody>
      </p:sp>
      <p:sp>
        <p:nvSpPr>
          <p:cNvPr id="48" name="Text 46"/>
          <p:cNvSpPr/>
          <p:nvPr/>
        </p:nvSpPr>
        <p:spPr>
          <a:xfrm>
            <a:off x="6629400" y="3127248"/>
            <a:ext cx="4617720" cy="2240280"/>
          </a:xfrm>
          <a:prstGeom prst="rect">
            <a:avLst/>
          </a:prstGeom>
          <a:noFill/>
          <a:ln/>
        </p:spPr>
        <p:txBody>
          <a:bodyPr wrap="square" lIns="508" tIns="508" rIns="508" bIns="508" rtlCol="0" anchor="t">
            <a:normAutofit/>
          </a:bodyPr>
          <a:lstStyle/>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Verify POS credential, store and terminal authorization.</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Resolve and expire the QR token server-side; never trust a screenshot.</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Validate campaign window, eligible product and receipt uniqueness.</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Write card update + immutable transaction/event in one DB transaction.</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Return authoritative balance, progress and reward availability.</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Expose read-only central tables/views for DIWA—not the mobile SQLite file.</a:t>
            </a:r>
            <a:endParaRPr lang="en-US" sz="1050" dirty="0"/>
          </a:p>
        </p:txBody>
      </p:sp>
      <p:sp>
        <p:nvSpPr>
          <p:cNvPr id="49" name="Shape 47"/>
          <p:cNvSpPr/>
          <p:nvPr/>
        </p:nvSpPr>
        <p:spPr>
          <a:xfrm>
            <a:off x="6629400" y="5532120"/>
            <a:ext cx="4617720" cy="548640"/>
          </a:xfrm>
          <a:prstGeom prst="roundRect">
            <a:avLst>
              <a:gd name="adj" fmla="val 8333"/>
            </a:avLst>
          </a:prstGeom>
          <a:solidFill>
            <a:srgbClr val="FDE8E7"/>
          </a:solidFill>
          <a:ln w="12700">
            <a:solidFill>
              <a:srgbClr val="B42318"/>
            </a:solidFill>
            <a:prstDash val="solid"/>
          </a:ln>
        </p:spPr>
      </p:sp>
      <p:sp>
        <p:nvSpPr>
          <p:cNvPr id="50" name="Text 48"/>
          <p:cNvSpPr/>
          <p:nvPr/>
        </p:nvSpPr>
        <p:spPr>
          <a:xfrm>
            <a:off x="6839712" y="5687568"/>
            <a:ext cx="4206240" cy="228600"/>
          </a:xfrm>
          <a:prstGeom prst="rect">
            <a:avLst/>
          </a:prstGeom>
          <a:noFill/>
          <a:ln/>
        </p:spPr>
        <p:txBody>
          <a:bodyPr wrap="square" lIns="0" tIns="0" rIns="0" bIns="0" rtlCol="0" anchor="ctr">
            <a:normAutofit fontScale="92500" lnSpcReduction="20000"/>
          </a:bodyPr>
          <a:lstStyle/>
          <a:p>
            <a:pPr marL="0" indent="0" algn="ctr">
              <a:buNone/>
            </a:pPr>
            <a:r>
              <a:rPr lang="en-US" sz="980" b="1" dirty="0">
                <a:solidFill>
                  <a:srgbClr val="B42318"/>
                </a:solidFill>
              </a:rPr>
              <a:t>Do not let the POS post an arbitrary stamp without a receipt/item link; otherwise campaign ROI and fraud reports cannot be trusted.</a:t>
            </a:r>
            <a:endParaRPr lang="en-US" sz="980" dirty="0"/>
          </a:p>
        </p:txBody>
      </p:sp>
      <p:sp>
        <p:nvSpPr>
          <p:cNvPr id="51" name="Text 49"/>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Target design derived from current loyalty fields and DIWA reporting needs; current simulator: scan_screen.dart L170–277</a:t>
            </a:r>
            <a:endParaRPr lang="en-US" sz="750" dirty="0"/>
          </a:p>
        </p:txBody>
      </p:sp>
      <p:sp>
        <p:nvSpPr>
          <p:cNvPr id="52"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2" name="Shape 20"/>
          <p:cNvSpPr/>
          <p:nvPr/>
        </p:nvSpPr>
        <p:spPr>
          <a:xfrm>
            <a:off x="7488936" y="2235708"/>
            <a:ext cx="2468880" cy="0"/>
          </a:xfrm>
          <a:prstGeom prst="line">
            <a:avLst/>
          </a:prstGeom>
          <a:noFill/>
          <a:ln w="22860">
            <a:solidFill>
              <a:srgbClr val="B42318"/>
            </a:solidFill>
            <a:prstDash val="solid"/>
            <a:headEnd type="none"/>
            <a:tailEnd type="triangle"/>
          </a:ln>
        </p:spPr>
      </p:sp>
      <p:sp>
        <p:nvSpPr>
          <p:cNvPr id="24" name="Text 22"/>
          <p:cNvSpPr/>
          <p:nvPr/>
        </p:nvSpPr>
        <p:spPr>
          <a:xfrm>
            <a:off x="8037576" y="2134803"/>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B42318"/>
                </a:solidFill>
              </a:rPr>
              <a:t>error</a:t>
            </a:r>
            <a:endParaRPr lang="en-US" sz="850" dirty="0"/>
          </a:p>
        </p:txBody>
      </p:sp>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Offline queue and reconciliation state machine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Flutter schema already reserves sync states; the upload and conflict contract still need implementation.</a:t>
            </a:r>
            <a:endParaRPr lang="en-US" sz="1250" dirty="0"/>
          </a:p>
        </p:txBody>
      </p:sp>
      <p:sp>
        <p:nvSpPr>
          <p:cNvPr id="4" name="Shape 2"/>
          <p:cNvSpPr/>
          <p:nvPr/>
        </p:nvSpPr>
        <p:spPr>
          <a:xfrm>
            <a:off x="868680" y="1600200"/>
            <a:ext cx="1325880" cy="1325880"/>
          </a:xfrm>
          <a:prstGeom prst="ellipse">
            <a:avLst/>
          </a:prstGeom>
          <a:solidFill>
            <a:srgbClr val="FFF8EF"/>
          </a:solidFill>
          <a:ln w="25400">
            <a:solidFill>
              <a:srgbClr val="D89B2B"/>
            </a:solidFill>
            <a:prstDash val="solid"/>
          </a:ln>
          <a:effectLst>
            <a:outerShdw blurRad="25400" dist="50800" dir="2700000" algn="bl" rotWithShape="0">
              <a:srgbClr val="000000">
                <a:alpha val="12000"/>
              </a:srgbClr>
            </a:outerShdw>
          </a:effectLst>
        </p:spPr>
      </p:sp>
      <p:sp>
        <p:nvSpPr>
          <p:cNvPr id="5" name="Text 3"/>
          <p:cNvSpPr/>
          <p:nvPr/>
        </p:nvSpPr>
        <p:spPr>
          <a:xfrm>
            <a:off x="996696" y="1956816"/>
            <a:ext cx="1069848" cy="201168"/>
          </a:xfrm>
          <a:prstGeom prst="rect">
            <a:avLst/>
          </a:prstGeom>
          <a:noFill/>
          <a:ln/>
        </p:spPr>
        <p:txBody>
          <a:bodyPr wrap="square" lIns="0" tIns="0" rIns="0" bIns="0" rtlCol="0" anchor="ctr"/>
          <a:lstStyle/>
          <a:p>
            <a:pPr marL="0" indent="0" algn="ctr">
              <a:buNone/>
            </a:pPr>
            <a:r>
              <a:rPr lang="en-US" sz="1200" b="1" dirty="0">
                <a:solidFill>
                  <a:srgbClr val="D89B2B"/>
                </a:solidFill>
              </a:rPr>
              <a:t>PENDING</a:t>
            </a:r>
            <a:endParaRPr lang="en-US" sz="1200" dirty="0"/>
          </a:p>
        </p:txBody>
      </p:sp>
      <p:sp>
        <p:nvSpPr>
          <p:cNvPr id="6" name="Text 4"/>
          <p:cNvSpPr/>
          <p:nvPr/>
        </p:nvSpPr>
        <p:spPr>
          <a:xfrm>
            <a:off x="1325880" y="2267712"/>
            <a:ext cx="411480" cy="228600"/>
          </a:xfrm>
          <a:prstGeom prst="rect">
            <a:avLst/>
          </a:prstGeom>
          <a:noFill/>
          <a:ln/>
        </p:spPr>
        <p:txBody>
          <a:bodyPr wrap="square" lIns="0" tIns="0" rIns="0" bIns="0" rtlCol="0" anchor="ctr"/>
          <a:lstStyle/>
          <a:p>
            <a:pPr marL="0" indent="0" algn="ctr">
              <a:buNone/>
            </a:pPr>
            <a:r>
              <a:rPr lang="en-US" sz="1600" b="1" dirty="0">
                <a:solidFill>
                  <a:srgbClr val="D89B2B"/>
                </a:solidFill>
              </a:rPr>
              <a:t>0</a:t>
            </a:r>
            <a:endParaRPr lang="en-US" sz="1600" dirty="0"/>
          </a:p>
        </p:txBody>
      </p:sp>
      <p:sp>
        <p:nvSpPr>
          <p:cNvPr id="7" name="Shape 5"/>
          <p:cNvSpPr/>
          <p:nvPr/>
        </p:nvSpPr>
        <p:spPr>
          <a:xfrm>
            <a:off x="2194560" y="2258568"/>
            <a:ext cx="1463040" cy="0"/>
          </a:xfrm>
          <a:prstGeom prst="line">
            <a:avLst/>
          </a:prstGeom>
          <a:noFill/>
          <a:ln w="22860">
            <a:solidFill>
              <a:srgbClr val="D89B2B"/>
            </a:solidFill>
            <a:prstDash val="solid"/>
            <a:headEnd type="none"/>
            <a:tailEnd type="triangle"/>
          </a:ln>
        </p:spPr>
      </p:sp>
      <p:sp>
        <p:nvSpPr>
          <p:cNvPr id="8" name="Shape 6"/>
          <p:cNvSpPr/>
          <p:nvPr/>
        </p:nvSpPr>
        <p:spPr>
          <a:xfrm>
            <a:off x="2423160" y="2121408"/>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9" name="Text 7"/>
          <p:cNvSpPr/>
          <p:nvPr/>
        </p:nvSpPr>
        <p:spPr>
          <a:xfrm>
            <a:off x="2459736" y="2180844"/>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D89B2B"/>
                </a:solidFill>
              </a:rPr>
              <a:t>upload</a:t>
            </a:r>
            <a:endParaRPr lang="en-US" sz="850" dirty="0"/>
          </a:p>
        </p:txBody>
      </p:sp>
      <p:sp>
        <p:nvSpPr>
          <p:cNvPr id="10" name="Shape 8"/>
          <p:cNvSpPr/>
          <p:nvPr/>
        </p:nvSpPr>
        <p:spPr>
          <a:xfrm>
            <a:off x="3657600" y="1600200"/>
            <a:ext cx="1325880" cy="1325880"/>
          </a:xfrm>
          <a:prstGeom prst="ellipse">
            <a:avLst/>
          </a:prstGeom>
          <a:solidFill>
            <a:srgbClr val="E9F1FF"/>
          </a:solidFill>
          <a:ln w="25400">
            <a:solidFill>
              <a:srgbClr val="2563EB"/>
            </a:solidFill>
            <a:prstDash val="solid"/>
          </a:ln>
          <a:effectLst>
            <a:outerShdw blurRad="25400" dist="50800" dir="2700000" algn="bl" rotWithShape="0">
              <a:srgbClr val="000000">
                <a:alpha val="12000"/>
              </a:srgbClr>
            </a:outerShdw>
          </a:effectLst>
        </p:spPr>
      </p:sp>
      <p:sp>
        <p:nvSpPr>
          <p:cNvPr id="11" name="Text 9"/>
          <p:cNvSpPr/>
          <p:nvPr/>
        </p:nvSpPr>
        <p:spPr>
          <a:xfrm>
            <a:off x="3785616" y="1956816"/>
            <a:ext cx="1069848" cy="201168"/>
          </a:xfrm>
          <a:prstGeom prst="rect">
            <a:avLst/>
          </a:prstGeom>
          <a:noFill/>
          <a:ln/>
        </p:spPr>
        <p:txBody>
          <a:bodyPr wrap="square" lIns="0" tIns="0" rIns="0" bIns="0" rtlCol="0" anchor="ctr"/>
          <a:lstStyle/>
          <a:p>
            <a:pPr marL="0" indent="0" algn="ctr">
              <a:buNone/>
            </a:pPr>
            <a:r>
              <a:rPr lang="en-US" sz="1200" b="1" dirty="0">
                <a:solidFill>
                  <a:srgbClr val="2563EB"/>
                </a:solidFill>
              </a:rPr>
              <a:t>SYNCING</a:t>
            </a:r>
            <a:endParaRPr lang="en-US" sz="1200" dirty="0"/>
          </a:p>
        </p:txBody>
      </p:sp>
      <p:sp>
        <p:nvSpPr>
          <p:cNvPr id="12" name="Text 10"/>
          <p:cNvSpPr/>
          <p:nvPr/>
        </p:nvSpPr>
        <p:spPr>
          <a:xfrm>
            <a:off x="4114800" y="2267712"/>
            <a:ext cx="411480" cy="228600"/>
          </a:xfrm>
          <a:prstGeom prst="rect">
            <a:avLst/>
          </a:prstGeom>
          <a:noFill/>
          <a:ln/>
        </p:spPr>
        <p:txBody>
          <a:bodyPr wrap="square" lIns="0" tIns="0" rIns="0" bIns="0" rtlCol="0" anchor="ctr"/>
          <a:lstStyle/>
          <a:p>
            <a:pPr marL="0" indent="0" algn="ctr">
              <a:buNone/>
            </a:pPr>
            <a:r>
              <a:rPr lang="en-US" sz="1600" b="1" dirty="0">
                <a:solidFill>
                  <a:srgbClr val="2563EB"/>
                </a:solidFill>
              </a:rPr>
              <a:t>2</a:t>
            </a:r>
            <a:endParaRPr lang="en-US" sz="1600" dirty="0"/>
          </a:p>
        </p:txBody>
      </p:sp>
      <p:sp>
        <p:nvSpPr>
          <p:cNvPr id="13" name="Shape 11"/>
          <p:cNvSpPr/>
          <p:nvPr/>
        </p:nvSpPr>
        <p:spPr>
          <a:xfrm>
            <a:off x="4983480" y="2258568"/>
            <a:ext cx="1463040" cy="0"/>
          </a:xfrm>
          <a:prstGeom prst="line">
            <a:avLst/>
          </a:prstGeom>
          <a:noFill/>
          <a:ln w="22860">
            <a:solidFill>
              <a:srgbClr val="2563EB"/>
            </a:solidFill>
            <a:prstDash val="solid"/>
            <a:headEnd type="none"/>
            <a:tailEnd type="triangle"/>
          </a:ln>
        </p:spPr>
      </p:sp>
      <p:sp>
        <p:nvSpPr>
          <p:cNvPr id="14" name="Shape 12"/>
          <p:cNvSpPr/>
          <p:nvPr/>
        </p:nvSpPr>
        <p:spPr>
          <a:xfrm>
            <a:off x="5212080" y="2121408"/>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15" name="Text 13"/>
          <p:cNvSpPr/>
          <p:nvPr/>
        </p:nvSpPr>
        <p:spPr>
          <a:xfrm>
            <a:off x="5248656" y="2180844"/>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2563EB"/>
                </a:solidFill>
              </a:rPr>
              <a:t>accept</a:t>
            </a:r>
            <a:endParaRPr lang="en-US" sz="850" dirty="0"/>
          </a:p>
        </p:txBody>
      </p:sp>
      <p:sp>
        <p:nvSpPr>
          <p:cNvPr id="16" name="Shape 14"/>
          <p:cNvSpPr/>
          <p:nvPr/>
        </p:nvSpPr>
        <p:spPr>
          <a:xfrm>
            <a:off x="6446520" y="1600200"/>
            <a:ext cx="1325880" cy="1325880"/>
          </a:xfrm>
          <a:prstGeom prst="ellipse">
            <a:avLst/>
          </a:prstGeom>
          <a:solidFill>
            <a:srgbClr val="E8F7ED"/>
          </a:solidFill>
          <a:ln w="25400">
            <a:solidFill>
              <a:srgbClr val="15803D"/>
            </a:solidFill>
            <a:prstDash val="solid"/>
          </a:ln>
          <a:effectLst>
            <a:outerShdw blurRad="25400" dist="50800" dir="2700000" algn="bl" rotWithShape="0">
              <a:srgbClr val="000000">
                <a:alpha val="12000"/>
              </a:srgbClr>
            </a:outerShdw>
          </a:effectLst>
        </p:spPr>
      </p:sp>
      <p:sp>
        <p:nvSpPr>
          <p:cNvPr id="17" name="Text 15"/>
          <p:cNvSpPr/>
          <p:nvPr/>
        </p:nvSpPr>
        <p:spPr>
          <a:xfrm>
            <a:off x="6574536" y="1956816"/>
            <a:ext cx="1069848" cy="201168"/>
          </a:xfrm>
          <a:prstGeom prst="rect">
            <a:avLst/>
          </a:prstGeom>
          <a:noFill/>
          <a:ln/>
        </p:spPr>
        <p:txBody>
          <a:bodyPr wrap="square" lIns="0" tIns="0" rIns="0" bIns="0" rtlCol="0" anchor="ctr"/>
          <a:lstStyle/>
          <a:p>
            <a:pPr marL="0" indent="0" algn="ctr">
              <a:buNone/>
            </a:pPr>
            <a:r>
              <a:rPr lang="en-US" sz="1200" b="1" dirty="0">
                <a:solidFill>
                  <a:srgbClr val="15803D"/>
                </a:solidFill>
              </a:rPr>
              <a:t>SYNCED</a:t>
            </a:r>
            <a:endParaRPr lang="en-US" sz="1200" dirty="0"/>
          </a:p>
        </p:txBody>
      </p:sp>
      <p:sp>
        <p:nvSpPr>
          <p:cNvPr id="18" name="Text 16"/>
          <p:cNvSpPr/>
          <p:nvPr/>
        </p:nvSpPr>
        <p:spPr>
          <a:xfrm>
            <a:off x="6903720" y="2267712"/>
            <a:ext cx="411480" cy="228600"/>
          </a:xfrm>
          <a:prstGeom prst="rect">
            <a:avLst/>
          </a:prstGeom>
          <a:noFill/>
          <a:ln/>
        </p:spPr>
        <p:txBody>
          <a:bodyPr wrap="square" lIns="0" tIns="0" rIns="0" bIns="0" rtlCol="0" anchor="ctr"/>
          <a:lstStyle/>
          <a:p>
            <a:pPr marL="0" indent="0" algn="ctr">
              <a:buNone/>
            </a:pPr>
            <a:r>
              <a:rPr lang="en-US" sz="1600" b="1" dirty="0">
                <a:solidFill>
                  <a:srgbClr val="15803D"/>
                </a:solidFill>
              </a:rPr>
              <a:t>1</a:t>
            </a:r>
            <a:endParaRPr lang="en-US" sz="1600" dirty="0"/>
          </a:p>
        </p:txBody>
      </p:sp>
      <p:sp>
        <p:nvSpPr>
          <p:cNvPr id="19" name="Shape 17"/>
          <p:cNvSpPr/>
          <p:nvPr/>
        </p:nvSpPr>
        <p:spPr>
          <a:xfrm>
            <a:off x="9235440" y="1600200"/>
            <a:ext cx="1325880" cy="1325880"/>
          </a:xfrm>
          <a:prstGeom prst="ellipse">
            <a:avLst/>
          </a:prstGeom>
          <a:solidFill>
            <a:srgbClr val="FDE8E7"/>
          </a:solidFill>
          <a:ln w="25400">
            <a:solidFill>
              <a:srgbClr val="B42318"/>
            </a:solidFill>
            <a:prstDash val="solid"/>
          </a:ln>
          <a:effectLst>
            <a:outerShdw blurRad="25400" dist="50800" dir="2700000" algn="bl" rotWithShape="0">
              <a:srgbClr val="000000">
                <a:alpha val="12000"/>
              </a:srgbClr>
            </a:outerShdw>
          </a:effectLst>
        </p:spPr>
      </p:sp>
      <p:sp>
        <p:nvSpPr>
          <p:cNvPr id="20" name="Text 18"/>
          <p:cNvSpPr/>
          <p:nvPr/>
        </p:nvSpPr>
        <p:spPr>
          <a:xfrm>
            <a:off x="9363456" y="1956816"/>
            <a:ext cx="1069848" cy="201168"/>
          </a:xfrm>
          <a:prstGeom prst="rect">
            <a:avLst/>
          </a:prstGeom>
          <a:noFill/>
          <a:ln/>
        </p:spPr>
        <p:txBody>
          <a:bodyPr wrap="square" lIns="0" tIns="0" rIns="0" bIns="0" rtlCol="0" anchor="ctr"/>
          <a:lstStyle/>
          <a:p>
            <a:pPr marL="0" indent="0" algn="ctr">
              <a:buNone/>
            </a:pPr>
            <a:r>
              <a:rPr lang="en-US" sz="1200" b="1" dirty="0">
                <a:solidFill>
                  <a:srgbClr val="B42318"/>
                </a:solidFill>
              </a:rPr>
              <a:t>FAILED</a:t>
            </a:r>
            <a:endParaRPr lang="en-US" sz="1200" dirty="0"/>
          </a:p>
        </p:txBody>
      </p:sp>
      <p:sp>
        <p:nvSpPr>
          <p:cNvPr id="21" name="Text 19"/>
          <p:cNvSpPr/>
          <p:nvPr/>
        </p:nvSpPr>
        <p:spPr>
          <a:xfrm>
            <a:off x="9692640" y="2267712"/>
            <a:ext cx="411480" cy="228600"/>
          </a:xfrm>
          <a:prstGeom prst="rect">
            <a:avLst/>
          </a:prstGeom>
          <a:noFill/>
          <a:ln/>
        </p:spPr>
        <p:txBody>
          <a:bodyPr wrap="square" lIns="0" tIns="0" rIns="0" bIns="0" rtlCol="0" anchor="ctr"/>
          <a:lstStyle/>
          <a:p>
            <a:pPr marL="0" indent="0" algn="ctr">
              <a:buNone/>
            </a:pPr>
            <a:r>
              <a:rPr lang="en-US" sz="1600" b="1" dirty="0">
                <a:solidFill>
                  <a:srgbClr val="B42318"/>
                </a:solidFill>
              </a:rPr>
              <a:t>3</a:t>
            </a:r>
            <a:endParaRPr lang="en-US" sz="1600" dirty="0"/>
          </a:p>
        </p:txBody>
      </p:sp>
      <p:sp>
        <p:nvSpPr>
          <p:cNvPr id="23" name="Shape 21"/>
          <p:cNvSpPr/>
          <p:nvPr/>
        </p:nvSpPr>
        <p:spPr>
          <a:xfrm>
            <a:off x="8503920" y="2788920"/>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25" name="Shape 23"/>
          <p:cNvSpPr/>
          <p:nvPr/>
        </p:nvSpPr>
        <p:spPr>
          <a:xfrm>
            <a:off x="9818570" y="2996665"/>
            <a:ext cx="0" cy="731520"/>
          </a:xfrm>
          <a:prstGeom prst="line">
            <a:avLst/>
          </a:prstGeom>
          <a:noFill/>
          <a:ln w="22860">
            <a:solidFill>
              <a:srgbClr val="D89B2B"/>
            </a:solidFill>
            <a:prstDash val="solid"/>
            <a:headEnd type="none"/>
            <a:tailEnd type="triangle"/>
          </a:ln>
        </p:spPr>
      </p:sp>
      <p:sp>
        <p:nvSpPr>
          <p:cNvPr id="26" name="Shape 24"/>
          <p:cNvSpPr/>
          <p:nvPr/>
        </p:nvSpPr>
        <p:spPr>
          <a:xfrm>
            <a:off x="5783580" y="3154680"/>
            <a:ext cx="1005840" cy="256032"/>
          </a:xfrm>
          <a:prstGeom prst="roundRect">
            <a:avLst>
              <a:gd name="adj" fmla="val 17857"/>
            </a:avLst>
          </a:prstGeom>
          <a:solidFill>
            <a:srgbClr val="FFFFFF">
              <a:alpha val="95000"/>
            </a:srgbClr>
          </a:solidFill>
          <a:ln w="12700">
            <a:solidFill>
              <a:srgbClr val="FFFFFF">
                <a:alpha val="0"/>
              </a:srgbClr>
            </a:solidFill>
            <a:prstDash val="solid"/>
          </a:ln>
        </p:spPr>
      </p:sp>
      <p:sp>
        <p:nvSpPr>
          <p:cNvPr id="27" name="Text 25"/>
          <p:cNvSpPr/>
          <p:nvPr/>
        </p:nvSpPr>
        <p:spPr>
          <a:xfrm>
            <a:off x="8614450" y="3415605"/>
            <a:ext cx="932688" cy="109728"/>
          </a:xfrm>
          <a:prstGeom prst="rect">
            <a:avLst/>
          </a:prstGeom>
          <a:noFill/>
          <a:ln/>
        </p:spPr>
        <p:txBody>
          <a:bodyPr wrap="square" lIns="0" tIns="0" rIns="0" bIns="0" rtlCol="0" anchor="ctr">
            <a:normAutofit fontScale="92500" lnSpcReduction="10000"/>
          </a:bodyPr>
          <a:lstStyle/>
          <a:p>
            <a:pPr marL="0" indent="0" algn="ctr">
              <a:buNone/>
            </a:pPr>
            <a:r>
              <a:rPr lang="en-US" sz="850" b="1" dirty="0">
                <a:solidFill>
                  <a:srgbClr val="D89B2B"/>
                </a:solidFill>
              </a:rPr>
              <a:t>retry with backoff</a:t>
            </a:r>
            <a:endParaRPr lang="en-US" sz="850" dirty="0"/>
          </a:p>
        </p:txBody>
      </p:sp>
      <p:sp>
        <p:nvSpPr>
          <p:cNvPr id="28" name="Shape 26"/>
          <p:cNvSpPr/>
          <p:nvPr/>
        </p:nvSpPr>
        <p:spPr>
          <a:xfrm>
            <a:off x="777240" y="3977640"/>
            <a:ext cx="3383280" cy="1325880"/>
          </a:xfrm>
          <a:prstGeom prst="roundRect">
            <a:avLst>
              <a:gd name="adj" fmla="val 5517"/>
            </a:avLst>
          </a:prstGeom>
          <a:solidFill>
            <a:srgbClr val="FDE8E7"/>
          </a:solidFill>
          <a:ln w="13970">
            <a:solidFill>
              <a:srgbClr val="B42318"/>
            </a:solidFill>
            <a:prstDash val="solid"/>
          </a:ln>
        </p:spPr>
      </p:sp>
      <p:sp>
        <p:nvSpPr>
          <p:cNvPr id="29" name="Text 27"/>
          <p:cNvSpPr/>
          <p:nvPr/>
        </p:nvSpPr>
        <p:spPr>
          <a:xfrm>
            <a:off x="941832" y="4114800"/>
            <a:ext cx="307238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Current behavior</a:t>
            </a:r>
            <a:endParaRPr lang="en-US" sz="1400" dirty="0"/>
          </a:p>
        </p:txBody>
      </p:sp>
      <p:sp>
        <p:nvSpPr>
          <p:cNvPr id="30" name="Text 28"/>
          <p:cNvSpPr/>
          <p:nvPr/>
        </p:nvSpPr>
        <p:spPr>
          <a:xfrm>
            <a:off x="941832" y="4471416"/>
            <a:ext cx="3054096" cy="704088"/>
          </a:xfrm>
          <a:prstGeom prst="rect">
            <a:avLst/>
          </a:prstGeom>
          <a:noFill/>
          <a:ln/>
        </p:spPr>
        <p:txBody>
          <a:bodyPr wrap="square" lIns="0" tIns="0" rIns="0" bIns="0" rtlCol="0" anchor="t">
            <a:normAutofit/>
          </a:bodyPr>
          <a:lstStyle/>
          <a:p>
            <a:pPr marL="0" indent="0">
              <a:buNone/>
            </a:pPr>
            <a:r>
              <a:rPr lang="en-US" sz="1050" dirty="0">
                <a:solidFill>
                  <a:srgbClr val="252525"/>
                </a:solidFill>
              </a:rPr>
              <a:t>Connectivity edge triggers SyncManager.sync(). It counts pending loyalty_transactions and logs that upload is a no-op.</a:t>
            </a:r>
            <a:endParaRPr lang="en-US" sz="1050" dirty="0"/>
          </a:p>
        </p:txBody>
      </p:sp>
      <p:sp>
        <p:nvSpPr>
          <p:cNvPr id="31" name="Shape 29"/>
          <p:cNvSpPr/>
          <p:nvPr/>
        </p:nvSpPr>
        <p:spPr>
          <a:xfrm>
            <a:off x="4434840" y="3977640"/>
            <a:ext cx="3383280" cy="1325880"/>
          </a:xfrm>
          <a:prstGeom prst="roundRect">
            <a:avLst>
              <a:gd name="adj" fmla="val 5517"/>
            </a:avLst>
          </a:prstGeom>
          <a:solidFill>
            <a:srgbClr val="E9F1FF"/>
          </a:solidFill>
          <a:ln w="13970">
            <a:solidFill>
              <a:srgbClr val="2563EB"/>
            </a:solidFill>
            <a:prstDash val="solid"/>
          </a:ln>
        </p:spPr>
      </p:sp>
      <p:sp>
        <p:nvSpPr>
          <p:cNvPr id="32" name="Text 30"/>
          <p:cNvSpPr/>
          <p:nvPr/>
        </p:nvSpPr>
        <p:spPr>
          <a:xfrm>
            <a:off x="4599432" y="4114800"/>
            <a:ext cx="307238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Required upload contract</a:t>
            </a:r>
            <a:endParaRPr lang="en-US" sz="1400" dirty="0"/>
          </a:p>
        </p:txBody>
      </p:sp>
      <p:sp>
        <p:nvSpPr>
          <p:cNvPr id="33" name="Text 31"/>
          <p:cNvSpPr/>
          <p:nvPr/>
        </p:nvSpPr>
        <p:spPr>
          <a:xfrm>
            <a:off x="4599432" y="4471416"/>
            <a:ext cx="3054096" cy="704088"/>
          </a:xfrm>
          <a:prstGeom prst="rect">
            <a:avLst/>
          </a:prstGeom>
          <a:noFill/>
          <a:ln/>
        </p:spPr>
        <p:txBody>
          <a:bodyPr wrap="square" lIns="0" tIns="0" rIns="0" bIns="0" rtlCol="0" anchor="t">
            <a:normAutofit/>
          </a:bodyPr>
          <a:lstStyle/>
          <a:p>
            <a:pPr marL="0" indent="0">
              <a:buNone/>
            </a:pPr>
            <a:r>
              <a:rPr lang="en-US" sz="1050" dirty="0">
                <a:solidFill>
                  <a:srgbClr val="252525"/>
                </a:solidFill>
              </a:rPr>
              <a:t>Batch by stable UUID/request_id; server returns accepted, duplicate, rejected and retryable outcomes per event.</a:t>
            </a:r>
            <a:endParaRPr lang="en-US" sz="1050" dirty="0"/>
          </a:p>
        </p:txBody>
      </p:sp>
      <p:sp>
        <p:nvSpPr>
          <p:cNvPr id="34" name="Shape 32"/>
          <p:cNvSpPr/>
          <p:nvPr/>
        </p:nvSpPr>
        <p:spPr>
          <a:xfrm>
            <a:off x="8092440" y="3977640"/>
            <a:ext cx="3383280" cy="1325880"/>
          </a:xfrm>
          <a:prstGeom prst="roundRect">
            <a:avLst>
              <a:gd name="adj" fmla="val 5517"/>
            </a:avLst>
          </a:prstGeom>
          <a:solidFill>
            <a:srgbClr val="DDF4EF"/>
          </a:solidFill>
          <a:ln w="13970">
            <a:solidFill>
              <a:srgbClr val="0F766E"/>
            </a:solidFill>
            <a:prstDash val="solid"/>
          </a:ln>
        </p:spPr>
      </p:sp>
      <p:sp>
        <p:nvSpPr>
          <p:cNvPr id="35" name="Text 33"/>
          <p:cNvSpPr/>
          <p:nvPr/>
        </p:nvSpPr>
        <p:spPr>
          <a:xfrm>
            <a:off x="8257032" y="4114800"/>
            <a:ext cx="3072384" cy="256032"/>
          </a:xfrm>
          <a:prstGeom prst="rect">
            <a:avLst/>
          </a:prstGeom>
          <a:noFill/>
          <a:ln/>
        </p:spPr>
        <p:txBody>
          <a:bodyPr wrap="square" lIns="0" tIns="0" rIns="0" bIns="0" rtlCol="0" anchor="ctr">
            <a:normAutofit/>
          </a:bodyPr>
          <a:lstStyle/>
          <a:p>
            <a:pPr marL="0" indent="0">
              <a:buNone/>
            </a:pPr>
            <a:r>
              <a:rPr lang="en-US" sz="1400" b="1" dirty="0">
                <a:solidFill>
                  <a:srgbClr val="2B1D16"/>
                </a:solidFill>
              </a:rPr>
              <a:t>Reconciliation controls</a:t>
            </a:r>
            <a:endParaRPr lang="en-US" sz="1400" dirty="0"/>
          </a:p>
        </p:txBody>
      </p:sp>
      <p:sp>
        <p:nvSpPr>
          <p:cNvPr id="36" name="Text 34"/>
          <p:cNvSpPr/>
          <p:nvPr/>
        </p:nvSpPr>
        <p:spPr>
          <a:xfrm>
            <a:off x="8257032" y="4471416"/>
            <a:ext cx="3054096" cy="704088"/>
          </a:xfrm>
          <a:prstGeom prst="rect">
            <a:avLst/>
          </a:prstGeom>
          <a:noFill/>
          <a:ln/>
        </p:spPr>
        <p:txBody>
          <a:bodyPr wrap="square" lIns="0" tIns="0" rIns="0" bIns="0" rtlCol="0" anchor="t">
            <a:normAutofit/>
          </a:bodyPr>
          <a:lstStyle/>
          <a:p>
            <a:pPr marL="0" indent="0">
              <a:buNone/>
            </a:pPr>
            <a:r>
              <a:rPr lang="en-US" sz="1050" dirty="0">
                <a:solidFill>
                  <a:srgbClr val="252525"/>
                </a:solidFill>
              </a:rPr>
              <a:t>Server is authoritative. Store server_received_at, sync attempt count, last error and immutable rejection/audit events.</a:t>
            </a:r>
            <a:endParaRPr lang="en-US" sz="1050" dirty="0"/>
          </a:p>
        </p:txBody>
      </p:sp>
      <p:sp>
        <p:nvSpPr>
          <p:cNvPr id="37" name="Text 35"/>
          <p:cNvSpPr/>
          <p:nvPr/>
        </p:nvSpPr>
        <p:spPr>
          <a:xfrm>
            <a:off x="1051560" y="5715000"/>
            <a:ext cx="10058400" cy="320040"/>
          </a:xfrm>
          <a:prstGeom prst="rect">
            <a:avLst/>
          </a:prstGeom>
          <a:noFill/>
          <a:ln/>
        </p:spPr>
        <p:txBody>
          <a:bodyPr wrap="square" lIns="0" tIns="0" rIns="0" bIns="0" rtlCol="0" anchor="ctr">
            <a:normAutofit/>
          </a:bodyPr>
          <a:lstStyle/>
          <a:p>
            <a:pPr marL="0" indent="0" algn="ctr">
              <a:buNone/>
            </a:pPr>
            <a:r>
              <a:rPr lang="en-US" sz="1300" b="1" dirty="0">
                <a:solidFill>
                  <a:srgbClr val="2B1D16"/>
                </a:solidFill>
              </a:rPr>
              <a:t>Idempotency principle: replaying the same request must return the first result—never grant a second stamp.</a:t>
            </a:r>
            <a:endParaRPr lang="en-US" sz="1300" dirty="0"/>
          </a:p>
        </p:txBody>
      </p:sp>
      <p:sp>
        <p:nvSpPr>
          <p:cNvPr id="38" name="Text 36"/>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loyalty_tables.dart L5–9; SyncManager L10–19, L35–75; Data-Flows.md L106–117</a:t>
            </a:r>
            <a:endParaRPr lang="en-US" sz="750" dirty="0"/>
          </a:p>
        </p:txBody>
      </p:sp>
      <p:sp>
        <p:nvSpPr>
          <p:cNvPr id="39"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How DIWA can access loyalty data</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DIWA reads central SQL tables through an allowlisted dataset graph; it does not read the Flutter device database.</a:t>
            </a:r>
            <a:endParaRPr lang="en-US" sz="1250" dirty="0"/>
          </a:p>
        </p:txBody>
      </p:sp>
      <p:sp>
        <p:nvSpPr>
          <p:cNvPr id="4" name="Shape 2"/>
          <p:cNvSpPr/>
          <p:nvPr/>
        </p:nvSpPr>
        <p:spPr>
          <a:xfrm>
            <a:off x="640080" y="1417320"/>
            <a:ext cx="347472" cy="347472"/>
          </a:xfrm>
          <a:prstGeom prst="ellipse">
            <a:avLst/>
          </a:prstGeom>
          <a:solidFill>
            <a:srgbClr val="0F766E"/>
          </a:solidFill>
          <a:ln w="12700">
            <a:solidFill>
              <a:srgbClr val="0F766E"/>
            </a:solidFill>
            <a:prstDash val="solid"/>
          </a:ln>
        </p:spPr>
      </p:sp>
      <p:sp>
        <p:nvSpPr>
          <p:cNvPr id="5" name="Text 3"/>
          <p:cNvSpPr/>
          <p:nvPr/>
        </p:nvSpPr>
        <p:spPr>
          <a:xfrm>
            <a:off x="64008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6" name="Shape 4"/>
          <p:cNvSpPr/>
          <p:nvPr/>
        </p:nvSpPr>
        <p:spPr>
          <a:xfrm>
            <a:off x="1097280" y="1344168"/>
            <a:ext cx="3108960" cy="1417320"/>
          </a:xfrm>
          <a:prstGeom prst="roundRect">
            <a:avLst>
              <a:gd name="adj" fmla="val 5161"/>
            </a:avLst>
          </a:prstGeom>
          <a:solidFill>
            <a:srgbClr val="DDF4EF"/>
          </a:solidFill>
          <a:ln w="13970">
            <a:solidFill>
              <a:srgbClr val="0F766E"/>
            </a:solidFill>
            <a:prstDash val="solid"/>
          </a:ln>
        </p:spPr>
      </p:sp>
      <p:sp>
        <p:nvSpPr>
          <p:cNvPr id="7" name="Text 5"/>
          <p:cNvSpPr/>
          <p:nvPr/>
        </p:nvSpPr>
        <p:spPr>
          <a:xfrm>
            <a:off x="1261872" y="148132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Populate central tables</a:t>
            </a:r>
            <a:endParaRPr lang="en-US" sz="1300" dirty="0"/>
          </a:p>
        </p:txBody>
      </p:sp>
      <p:sp>
        <p:nvSpPr>
          <p:cNvPr id="8" name="Text 6"/>
          <p:cNvSpPr/>
          <p:nvPr/>
        </p:nvSpPr>
        <p:spPr>
          <a:xfrm>
            <a:off x="1261872" y="183794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Loyalty API writes normalized loyalty facts and dimensions to the SQL database used by DIWA.</a:t>
            </a:r>
            <a:endParaRPr lang="en-US" sz="970" dirty="0"/>
          </a:p>
        </p:txBody>
      </p:sp>
      <p:sp>
        <p:nvSpPr>
          <p:cNvPr id="9" name="Shape 7"/>
          <p:cNvSpPr/>
          <p:nvPr/>
        </p:nvSpPr>
        <p:spPr>
          <a:xfrm>
            <a:off x="4206240" y="1984248"/>
            <a:ext cx="182880" cy="0"/>
          </a:xfrm>
          <a:prstGeom prst="line">
            <a:avLst/>
          </a:prstGeom>
          <a:noFill/>
          <a:ln w="22860">
            <a:solidFill>
              <a:srgbClr val="0F766E"/>
            </a:solidFill>
            <a:prstDash val="solid"/>
            <a:headEnd type="none"/>
            <a:tailEnd type="triangle"/>
          </a:ln>
        </p:spPr>
      </p:sp>
      <p:sp>
        <p:nvSpPr>
          <p:cNvPr id="10" name="Shape 8"/>
          <p:cNvSpPr/>
          <p:nvPr/>
        </p:nvSpPr>
        <p:spPr>
          <a:xfrm>
            <a:off x="4434840" y="1417320"/>
            <a:ext cx="347472" cy="347472"/>
          </a:xfrm>
          <a:prstGeom prst="ellipse">
            <a:avLst/>
          </a:prstGeom>
          <a:solidFill>
            <a:srgbClr val="0F766E"/>
          </a:solidFill>
          <a:ln w="12700">
            <a:solidFill>
              <a:srgbClr val="0F766E"/>
            </a:solidFill>
            <a:prstDash val="solid"/>
          </a:ln>
        </p:spPr>
      </p:sp>
      <p:sp>
        <p:nvSpPr>
          <p:cNvPr id="11" name="Text 9"/>
          <p:cNvSpPr/>
          <p:nvPr/>
        </p:nvSpPr>
        <p:spPr>
          <a:xfrm>
            <a:off x="443484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2" name="Shape 10"/>
          <p:cNvSpPr/>
          <p:nvPr/>
        </p:nvSpPr>
        <p:spPr>
          <a:xfrm>
            <a:off x="4892040" y="1344168"/>
            <a:ext cx="3108960" cy="1417320"/>
          </a:xfrm>
          <a:prstGeom prst="roundRect">
            <a:avLst>
              <a:gd name="adj" fmla="val 5161"/>
            </a:avLst>
          </a:prstGeom>
          <a:solidFill>
            <a:srgbClr val="DDF4EF"/>
          </a:solidFill>
          <a:ln w="13970">
            <a:solidFill>
              <a:srgbClr val="0F766E"/>
            </a:solidFill>
            <a:prstDash val="solid"/>
          </a:ln>
        </p:spPr>
      </p:sp>
      <p:sp>
        <p:nvSpPr>
          <p:cNvPr id="13" name="Text 11"/>
          <p:cNvSpPr/>
          <p:nvPr/>
        </p:nvSpPr>
        <p:spPr>
          <a:xfrm>
            <a:off x="5056632" y="148132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Allowlist tables</a:t>
            </a:r>
            <a:endParaRPr lang="en-US" sz="1300" dirty="0"/>
          </a:p>
        </p:txBody>
      </p:sp>
      <p:sp>
        <p:nvSpPr>
          <p:cNvPr id="14" name="Text 12"/>
          <p:cNvSpPr/>
          <p:nvPr/>
        </p:nvSpPr>
        <p:spPr>
          <a:xfrm>
            <a:off x="5056632" y="183794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Admin enables loyalty tables/views in Report Table Access (report_allowed_tables).</a:t>
            </a:r>
            <a:endParaRPr lang="en-US" sz="970" dirty="0"/>
          </a:p>
        </p:txBody>
      </p:sp>
      <p:sp>
        <p:nvSpPr>
          <p:cNvPr id="15" name="Shape 13"/>
          <p:cNvSpPr/>
          <p:nvPr/>
        </p:nvSpPr>
        <p:spPr>
          <a:xfrm>
            <a:off x="8001000" y="1984248"/>
            <a:ext cx="182880" cy="0"/>
          </a:xfrm>
          <a:prstGeom prst="line">
            <a:avLst/>
          </a:prstGeom>
          <a:noFill/>
          <a:ln w="22860">
            <a:solidFill>
              <a:srgbClr val="0F766E"/>
            </a:solidFill>
            <a:prstDash val="solid"/>
            <a:headEnd type="none"/>
            <a:tailEnd type="triangle"/>
          </a:ln>
        </p:spPr>
      </p:sp>
      <p:sp>
        <p:nvSpPr>
          <p:cNvPr id="16" name="Shape 14"/>
          <p:cNvSpPr/>
          <p:nvPr/>
        </p:nvSpPr>
        <p:spPr>
          <a:xfrm>
            <a:off x="8229600" y="1417320"/>
            <a:ext cx="347472" cy="347472"/>
          </a:xfrm>
          <a:prstGeom prst="ellipse">
            <a:avLst/>
          </a:prstGeom>
          <a:solidFill>
            <a:srgbClr val="6D28D9"/>
          </a:solidFill>
          <a:ln w="12700">
            <a:solidFill>
              <a:srgbClr val="6D28D9"/>
            </a:solidFill>
            <a:prstDash val="solid"/>
          </a:ln>
        </p:spPr>
      </p:sp>
      <p:sp>
        <p:nvSpPr>
          <p:cNvPr id="17" name="Text 15"/>
          <p:cNvSpPr/>
          <p:nvPr/>
        </p:nvSpPr>
        <p:spPr>
          <a:xfrm>
            <a:off x="8229600" y="149504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8" name="Shape 16"/>
          <p:cNvSpPr/>
          <p:nvPr/>
        </p:nvSpPr>
        <p:spPr>
          <a:xfrm>
            <a:off x="8686800" y="1344168"/>
            <a:ext cx="3108960" cy="1417320"/>
          </a:xfrm>
          <a:prstGeom prst="roundRect">
            <a:avLst>
              <a:gd name="adj" fmla="val 5161"/>
            </a:avLst>
          </a:prstGeom>
          <a:solidFill>
            <a:srgbClr val="F0E9FF"/>
          </a:solidFill>
          <a:ln w="13970">
            <a:solidFill>
              <a:srgbClr val="6D28D9"/>
            </a:solidFill>
            <a:prstDash val="solid"/>
          </a:ln>
        </p:spPr>
      </p:sp>
      <p:sp>
        <p:nvSpPr>
          <p:cNvPr id="19" name="Text 17"/>
          <p:cNvSpPr/>
          <p:nvPr/>
        </p:nvSpPr>
        <p:spPr>
          <a:xfrm>
            <a:off x="8851392" y="148132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Create dataset</a:t>
            </a:r>
            <a:endParaRPr lang="en-US" sz="1300" dirty="0"/>
          </a:p>
        </p:txBody>
      </p:sp>
      <p:sp>
        <p:nvSpPr>
          <p:cNvPr id="20" name="Text 18"/>
          <p:cNvSpPr/>
          <p:nvPr/>
        </p:nvSpPr>
        <p:spPr>
          <a:xfrm>
            <a:off x="8851392" y="183794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Choose a base table, safe fields and left/inner joins; preview validates metadata and join types.</a:t>
            </a:r>
            <a:endParaRPr lang="en-US" sz="970" dirty="0"/>
          </a:p>
        </p:txBody>
      </p:sp>
      <p:sp>
        <p:nvSpPr>
          <p:cNvPr id="21" name="Shape 19"/>
          <p:cNvSpPr/>
          <p:nvPr/>
        </p:nvSpPr>
        <p:spPr>
          <a:xfrm>
            <a:off x="640080" y="3611880"/>
            <a:ext cx="347472" cy="347472"/>
          </a:xfrm>
          <a:prstGeom prst="ellipse">
            <a:avLst/>
          </a:prstGeom>
          <a:solidFill>
            <a:srgbClr val="6D28D9"/>
          </a:solidFill>
          <a:ln w="12700">
            <a:solidFill>
              <a:srgbClr val="6D28D9"/>
            </a:solidFill>
            <a:prstDash val="solid"/>
          </a:ln>
        </p:spPr>
      </p:sp>
      <p:sp>
        <p:nvSpPr>
          <p:cNvPr id="22" name="Text 20"/>
          <p:cNvSpPr/>
          <p:nvPr/>
        </p:nvSpPr>
        <p:spPr>
          <a:xfrm>
            <a:off x="640080" y="368960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23" name="Shape 21"/>
          <p:cNvSpPr/>
          <p:nvPr/>
        </p:nvSpPr>
        <p:spPr>
          <a:xfrm>
            <a:off x="1097280" y="3538728"/>
            <a:ext cx="3108960" cy="1417320"/>
          </a:xfrm>
          <a:prstGeom prst="roundRect">
            <a:avLst>
              <a:gd name="adj" fmla="val 5161"/>
            </a:avLst>
          </a:prstGeom>
          <a:solidFill>
            <a:srgbClr val="F0E9FF"/>
          </a:solidFill>
          <a:ln w="13970">
            <a:solidFill>
              <a:srgbClr val="6D28D9"/>
            </a:solidFill>
            <a:prstDash val="solid"/>
          </a:ln>
        </p:spPr>
      </p:sp>
      <p:sp>
        <p:nvSpPr>
          <p:cNvPr id="24" name="Text 22"/>
          <p:cNvSpPr/>
          <p:nvPr/>
        </p:nvSpPr>
        <p:spPr>
          <a:xfrm>
            <a:off x="1261872" y="367588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Save report</a:t>
            </a:r>
            <a:endParaRPr lang="en-US" sz="1300" dirty="0"/>
          </a:p>
        </p:txBody>
      </p:sp>
      <p:sp>
        <p:nvSpPr>
          <p:cNvPr id="25" name="Text 23"/>
          <p:cNvSpPr/>
          <p:nvPr/>
        </p:nvSpPr>
        <p:spPr>
          <a:xfrm>
            <a:off x="1261872" y="403250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Create widgets with dimensions, measures, filters, sorting, subtotals and row limits.</a:t>
            </a:r>
            <a:endParaRPr lang="en-US" sz="970" dirty="0"/>
          </a:p>
        </p:txBody>
      </p:sp>
      <p:sp>
        <p:nvSpPr>
          <p:cNvPr id="26" name="Shape 24"/>
          <p:cNvSpPr/>
          <p:nvPr/>
        </p:nvSpPr>
        <p:spPr>
          <a:xfrm>
            <a:off x="4206240" y="4178808"/>
            <a:ext cx="182880" cy="0"/>
          </a:xfrm>
          <a:prstGeom prst="line">
            <a:avLst/>
          </a:prstGeom>
          <a:noFill/>
          <a:ln w="22860">
            <a:solidFill>
              <a:srgbClr val="6D28D9"/>
            </a:solidFill>
            <a:prstDash val="solid"/>
            <a:headEnd type="none"/>
            <a:tailEnd type="triangle"/>
          </a:ln>
        </p:spPr>
      </p:sp>
      <p:sp>
        <p:nvSpPr>
          <p:cNvPr id="27" name="Shape 25"/>
          <p:cNvSpPr/>
          <p:nvPr/>
        </p:nvSpPr>
        <p:spPr>
          <a:xfrm>
            <a:off x="4434840" y="3611880"/>
            <a:ext cx="347472" cy="347472"/>
          </a:xfrm>
          <a:prstGeom prst="ellipse">
            <a:avLst/>
          </a:prstGeom>
          <a:solidFill>
            <a:srgbClr val="6D28D9"/>
          </a:solidFill>
          <a:ln w="12700">
            <a:solidFill>
              <a:srgbClr val="6D28D9"/>
            </a:solidFill>
            <a:prstDash val="solid"/>
          </a:ln>
        </p:spPr>
      </p:sp>
      <p:sp>
        <p:nvSpPr>
          <p:cNvPr id="28" name="Text 26"/>
          <p:cNvSpPr/>
          <p:nvPr/>
        </p:nvSpPr>
        <p:spPr>
          <a:xfrm>
            <a:off x="4434840" y="368960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5</a:t>
            </a:r>
            <a:endParaRPr lang="en-US" sz="1050" dirty="0"/>
          </a:p>
        </p:txBody>
      </p:sp>
      <p:sp>
        <p:nvSpPr>
          <p:cNvPr id="29" name="Shape 27"/>
          <p:cNvSpPr/>
          <p:nvPr/>
        </p:nvSpPr>
        <p:spPr>
          <a:xfrm>
            <a:off x="4892040" y="3538728"/>
            <a:ext cx="3108960" cy="1417320"/>
          </a:xfrm>
          <a:prstGeom prst="roundRect">
            <a:avLst>
              <a:gd name="adj" fmla="val 5161"/>
            </a:avLst>
          </a:prstGeom>
          <a:solidFill>
            <a:srgbClr val="F0E9FF"/>
          </a:solidFill>
          <a:ln w="13970">
            <a:solidFill>
              <a:srgbClr val="6D28D9"/>
            </a:solidFill>
            <a:prstDash val="solid"/>
          </a:ln>
        </p:spPr>
      </p:sp>
      <p:sp>
        <p:nvSpPr>
          <p:cNvPr id="30" name="Text 28"/>
          <p:cNvSpPr/>
          <p:nvPr/>
        </p:nvSpPr>
        <p:spPr>
          <a:xfrm>
            <a:off x="5056632" y="367588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View / export</a:t>
            </a:r>
            <a:endParaRPr lang="en-US" sz="1300" dirty="0"/>
          </a:p>
        </p:txBody>
      </p:sp>
      <p:sp>
        <p:nvSpPr>
          <p:cNvPr id="31" name="Text 29"/>
          <p:cNvSpPr/>
          <p:nvPr/>
        </p:nvSpPr>
        <p:spPr>
          <a:xfrm>
            <a:off x="5056632" y="403250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DIWA executes read-only queries, shows freshness, and exports the chosen widget to CSV.</a:t>
            </a:r>
            <a:endParaRPr lang="en-US" sz="970" dirty="0"/>
          </a:p>
        </p:txBody>
      </p:sp>
      <p:sp>
        <p:nvSpPr>
          <p:cNvPr id="32" name="Shape 30"/>
          <p:cNvSpPr/>
          <p:nvPr/>
        </p:nvSpPr>
        <p:spPr>
          <a:xfrm>
            <a:off x="8001000" y="4178808"/>
            <a:ext cx="182880" cy="0"/>
          </a:xfrm>
          <a:prstGeom prst="line">
            <a:avLst/>
          </a:prstGeom>
          <a:noFill/>
          <a:ln w="22860">
            <a:solidFill>
              <a:srgbClr val="6D28D9"/>
            </a:solidFill>
            <a:prstDash val="solid"/>
            <a:headEnd type="none"/>
            <a:tailEnd type="triangle"/>
          </a:ln>
        </p:spPr>
      </p:sp>
      <p:sp>
        <p:nvSpPr>
          <p:cNvPr id="33" name="Shape 31"/>
          <p:cNvSpPr/>
          <p:nvPr/>
        </p:nvSpPr>
        <p:spPr>
          <a:xfrm>
            <a:off x="8229600" y="3611880"/>
            <a:ext cx="347472" cy="347472"/>
          </a:xfrm>
          <a:prstGeom prst="ellipse">
            <a:avLst/>
          </a:prstGeom>
          <a:solidFill>
            <a:srgbClr val="6D28D9"/>
          </a:solidFill>
          <a:ln w="12700">
            <a:solidFill>
              <a:srgbClr val="6D28D9"/>
            </a:solidFill>
            <a:prstDash val="solid"/>
          </a:ln>
        </p:spPr>
      </p:sp>
      <p:sp>
        <p:nvSpPr>
          <p:cNvPr id="34" name="Text 32"/>
          <p:cNvSpPr/>
          <p:nvPr/>
        </p:nvSpPr>
        <p:spPr>
          <a:xfrm>
            <a:off x="8229600" y="3689604"/>
            <a:ext cx="347472" cy="118872"/>
          </a:xfrm>
          <a:prstGeom prst="rect">
            <a:avLst/>
          </a:prstGeom>
          <a:noFill/>
          <a:ln/>
        </p:spPr>
        <p:txBody>
          <a:bodyPr wrap="square" lIns="0" tIns="0" rIns="0" bIns="0" rtlCol="0" anchor="ctr"/>
          <a:lstStyle/>
          <a:p>
            <a:pPr marL="0" indent="0" algn="ctr">
              <a:buNone/>
            </a:pPr>
            <a:r>
              <a:rPr lang="en-US" sz="1050" b="1" dirty="0">
                <a:solidFill>
                  <a:srgbClr val="FFFFFF"/>
                </a:solidFill>
              </a:rPr>
              <a:t>6</a:t>
            </a:r>
            <a:endParaRPr lang="en-US" sz="1050" dirty="0"/>
          </a:p>
        </p:txBody>
      </p:sp>
      <p:sp>
        <p:nvSpPr>
          <p:cNvPr id="35" name="Shape 33"/>
          <p:cNvSpPr/>
          <p:nvPr/>
        </p:nvSpPr>
        <p:spPr>
          <a:xfrm>
            <a:off x="8686800" y="3538728"/>
            <a:ext cx="3108960" cy="1417320"/>
          </a:xfrm>
          <a:prstGeom prst="roundRect">
            <a:avLst>
              <a:gd name="adj" fmla="val 5161"/>
            </a:avLst>
          </a:prstGeom>
          <a:solidFill>
            <a:srgbClr val="F0E9FF"/>
          </a:solidFill>
          <a:ln w="13970">
            <a:solidFill>
              <a:srgbClr val="6D28D9"/>
            </a:solidFill>
            <a:prstDash val="solid"/>
          </a:ln>
        </p:spPr>
      </p:sp>
      <p:sp>
        <p:nvSpPr>
          <p:cNvPr id="36" name="Text 34"/>
          <p:cNvSpPr/>
          <p:nvPr/>
        </p:nvSpPr>
        <p:spPr>
          <a:xfrm>
            <a:off x="8851392" y="3675888"/>
            <a:ext cx="2798064" cy="256032"/>
          </a:xfrm>
          <a:prstGeom prst="rect">
            <a:avLst/>
          </a:prstGeom>
          <a:noFill/>
          <a:ln/>
        </p:spPr>
        <p:txBody>
          <a:bodyPr wrap="square" lIns="0" tIns="0" rIns="0" bIns="0" rtlCol="0" anchor="ctr">
            <a:normAutofit/>
          </a:bodyPr>
          <a:lstStyle/>
          <a:p>
            <a:pPr marL="0" indent="0">
              <a:buNone/>
            </a:pPr>
            <a:r>
              <a:rPr lang="en-US" sz="1300" b="1" dirty="0">
                <a:solidFill>
                  <a:srgbClr val="2B1D16"/>
                </a:solidFill>
              </a:rPr>
              <a:t>Share securely</a:t>
            </a:r>
            <a:endParaRPr lang="en-US" sz="1300" dirty="0"/>
          </a:p>
        </p:txBody>
      </p:sp>
      <p:sp>
        <p:nvSpPr>
          <p:cNvPr id="37" name="Text 35"/>
          <p:cNvSpPr/>
          <p:nvPr/>
        </p:nvSpPr>
        <p:spPr>
          <a:xfrm>
            <a:off x="8851392" y="4032504"/>
            <a:ext cx="2779776" cy="795528"/>
          </a:xfrm>
          <a:prstGeom prst="rect">
            <a:avLst/>
          </a:prstGeom>
          <a:noFill/>
          <a:ln/>
        </p:spPr>
        <p:txBody>
          <a:bodyPr wrap="square" lIns="0" tIns="0" rIns="0" bIns="0" rtlCol="0" anchor="t">
            <a:normAutofit/>
          </a:bodyPr>
          <a:lstStyle/>
          <a:p>
            <a:pPr marL="0" indent="0">
              <a:buNone/>
            </a:pPr>
            <a:r>
              <a:rPr lang="en-US" sz="970" dirty="0">
                <a:solidFill>
                  <a:srgbClr val="252525"/>
                </a:solidFill>
              </a:rPr>
              <a:t>Owner/public/role/company access plus reports.view/create/edit/share/export permissions.</a:t>
            </a:r>
            <a:endParaRPr lang="en-US" sz="970" dirty="0"/>
          </a:p>
        </p:txBody>
      </p:sp>
      <p:sp>
        <p:nvSpPr>
          <p:cNvPr id="38" name="Shape 36"/>
          <p:cNvSpPr/>
          <p:nvPr/>
        </p:nvSpPr>
        <p:spPr>
          <a:xfrm>
            <a:off x="731520" y="5431536"/>
            <a:ext cx="10744200" cy="694944"/>
          </a:xfrm>
          <a:prstGeom prst="roundRect">
            <a:avLst>
              <a:gd name="adj" fmla="val 6579"/>
            </a:avLst>
          </a:prstGeom>
          <a:solidFill>
            <a:srgbClr val="FFF8EF"/>
          </a:solidFill>
          <a:ln w="12700">
            <a:solidFill>
              <a:srgbClr val="D89B2B"/>
            </a:solidFill>
            <a:prstDash val="solid"/>
          </a:ln>
        </p:spPr>
      </p:sp>
      <p:sp>
        <p:nvSpPr>
          <p:cNvPr id="39" name="Text 37"/>
          <p:cNvSpPr/>
          <p:nvPr/>
        </p:nvSpPr>
        <p:spPr>
          <a:xfrm>
            <a:off x="960120" y="5586984"/>
            <a:ext cx="10287000" cy="365760"/>
          </a:xfrm>
          <a:prstGeom prst="rect">
            <a:avLst/>
          </a:prstGeom>
          <a:noFill/>
          <a:ln/>
        </p:spPr>
        <p:txBody>
          <a:bodyPr wrap="square" lIns="0" tIns="0" rIns="0" bIns="0" rtlCol="0" anchor="ctr">
            <a:normAutofit/>
          </a:bodyPr>
          <a:lstStyle/>
          <a:p>
            <a:pPr marL="0" indent="0" algn="ctr">
              <a:buNone/>
            </a:pPr>
            <a:r>
              <a:rPr lang="en-US" sz="950" b="1" dirty="0">
                <a:solidFill>
                  <a:srgbClr val="2B1D16"/>
                </a:solidFill>
              </a:rPr>
              <a:t>Current allowlist: dbo.store_transactions and dbo.store_transaction_items only. DIWA datasets address schema.table on the configured database; if loyalty lives elsewhere, synchronize it into that database or expose a same-database reporting view/synonym, then allowlist it.</a:t>
            </a:r>
            <a:endParaRPr lang="en-US" sz="950" dirty="0"/>
          </a:p>
        </p:txBody>
      </p:sp>
      <p:sp>
        <p:nvSpPr>
          <p:cNvPr id="40" name="Text 38"/>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ReportAllowedTableSeeder.php L28–41; ReportDatasetController.php L19–203; ReportController.php L22–91, L269–375</a:t>
            </a:r>
            <a:endParaRPr lang="en-US" sz="750" dirty="0"/>
          </a:p>
        </p:txBody>
      </p:sp>
      <p:sp>
        <p:nvSpPr>
          <p:cNvPr id="41"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What DIWA can do with the loyalty dataset</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existing report builder already supports the visualization, aggregation and governance layer.</a:t>
            </a:r>
            <a:endParaRPr lang="en-US" sz="1250" dirty="0"/>
          </a:p>
        </p:txBody>
      </p:sp>
      <p:sp>
        <p:nvSpPr>
          <p:cNvPr id="4" name="Shape 2"/>
          <p:cNvSpPr/>
          <p:nvPr/>
        </p:nvSpPr>
        <p:spPr>
          <a:xfrm>
            <a:off x="658368" y="1417320"/>
            <a:ext cx="5257800" cy="1965960"/>
          </a:xfrm>
          <a:prstGeom prst="roundRect">
            <a:avLst>
              <a:gd name="adj" fmla="val 3721"/>
            </a:avLst>
          </a:prstGeom>
          <a:solidFill>
            <a:srgbClr val="E9F1FF"/>
          </a:solidFill>
          <a:ln w="13970">
            <a:solidFill>
              <a:srgbClr val="2563EB"/>
            </a:solidFill>
            <a:prstDash val="solid"/>
          </a:ln>
        </p:spPr>
      </p:sp>
      <p:sp>
        <p:nvSpPr>
          <p:cNvPr id="5" name="Shape 3"/>
          <p:cNvSpPr/>
          <p:nvPr/>
        </p:nvSpPr>
        <p:spPr>
          <a:xfrm>
            <a:off x="804672" y="1563624"/>
            <a:ext cx="310896" cy="310896"/>
          </a:xfrm>
          <a:prstGeom prst="ellipse">
            <a:avLst/>
          </a:prstGeom>
          <a:solidFill>
            <a:srgbClr val="2563EB"/>
          </a:solidFill>
          <a:ln w="12700">
            <a:solidFill>
              <a:srgbClr val="2563EB"/>
            </a:solidFill>
            <a:prstDash val="solid"/>
          </a:ln>
        </p:spPr>
      </p:sp>
      <p:sp>
        <p:nvSpPr>
          <p:cNvPr id="6" name="Text 4"/>
          <p:cNvSpPr/>
          <p:nvPr/>
        </p:nvSpPr>
        <p:spPr>
          <a:xfrm>
            <a:off x="804672" y="163220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207008" y="1554480"/>
            <a:ext cx="4562856"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Dataset definition</a:t>
            </a:r>
            <a:endParaRPr lang="en-US" sz="1600" dirty="0"/>
          </a:p>
        </p:txBody>
      </p:sp>
      <p:sp>
        <p:nvSpPr>
          <p:cNvPr id="8" name="Text 6"/>
          <p:cNvSpPr/>
          <p:nvPr/>
        </p:nvSpPr>
        <p:spPr>
          <a:xfrm>
            <a:off x="914400" y="1984248"/>
            <a:ext cx="4709160" cy="1143000"/>
          </a:xfrm>
          <a:prstGeom prst="rect">
            <a:avLst/>
          </a:prstGeom>
          <a:noFill/>
          <a:ln/>
        </p:spPr>
        <p:txBody>
          <a:bodyPr wrap="square" lIns="508" tIns="508" rIns="508" bIns="508" rtlCol="0" anchor="t">
            <a:normAutofit/>
          </a:bodyPr>
          <a:lstStyle/>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Allowlisted base table</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LEFT / INNER multi-hop joins</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Metadata and type compatibility</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Safe field selection + preview signature</a:t>
            </a:r>
            <a:endParaRPr lang="en-US" sz="1050" dirty="0"/>
          </a:p>
        </p:txBody>
      </p:sp>
      <p:sp>
        <p:nvSpPr>
          <p:cNvPr id="9" name="Shape 7"/>
          <p:cNvSpPr/>
          <p:nvPr/>
        </p:nvSpPr>
        <p:spPr>
          <a:xfrm>
            <a:off x="6281928" y="1417320"/>
            <a:ext cx="5257800" cy="1965960"/>
          </a:xfrm>
          <a:prstGeom prst="roundRect">
            <a:avLst>
              <a:gd name="adj" fmla="val 3721"/>
            </a:avLst>
          </a:prstGeom>
          <a:solidFill>
            <a:srgbClr val="F0E9FF"/>
          </a:solidFill>
          <a:ln w="13970">
            <a:solidFill>
              <a:srgbClr val="6D28D9"/>
            </a:solidFill>
            <a:prstDash val="solid"/>
          </a:ln>
        </p:spPr>
      </p:sp>
      <p:sp>
        <p:nvSpPr>
          <p:cNvPr id="10" name="Shape 8"/>
          <p:cNvSpPr/>
          <p:nvPr/>
        </p:nvSpPr>
        <p:spPr>
          <a:xfrm>
            <a:off x="6428232" y="1563624"/>
            <a:ext cx="310896" cy="310896"/>
          </a:xfrm>
          <a:prstGeom prst="ellipse">
            <a:avLst/>
          </a:prstGeom>
          <a:solidFill>
            <a:srgbClr val="6D28D9"/>
          </a:solidFill>
          <a:ln w="12700">
            <a:solidFill>
              <a:srgbClr val="6D28D9"/>
            </a:solidFill>
            <a:prstDash val="solid"/>
          </a:ln>
        </p:spPr>
      </p:sp>
      <p:sp>
        <p:nvSpPr>
          <p:cNvPr id="11" name="Text 9"/>
          <p:cNvSpPr/>
          <p:nvPr/>
        </p:nvSpPr>
        <p:spPr>
          <a:xfrm>
            <a:off x="6428232" y="163220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6830568" y="1554480"/>
            <a:ext cx="4562856"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Analysis</a:t>
            </a:r>
            <a:endParaRPr lang="en-US" sz="1600" dirty="0"/>
          </a:p>
        </p:txBody>
      </p:sp>
      <p:sp>
        <p:nvSpPr>
          <p:cNvPr id="13" name="Text 11"/>
          <p:cNvSpPr/>
          <p:nvPr/>
        </p:nvSpPr>
        <p:spPr>
          <a:xfrm>
            <a:off x="6537960" y="1984248"/>
            <a:ext cx="4709160" cy="1143000"/>
          </a:xfrm>
          <a:prstGeom prst="rect">
            <a:avLst/>
          </a:prstGeom>
          <a:noFill/>
          <a:ln/>
        </p:spPr>
        <p:txBody>
          <a:bodyPr wrap="square" lIns="508" tIns="508" rIns="508" bIns="508" rtlCol="0" anchor="t">
            <a:normAutofit/>
          </a:bodyPr>
          <a:lstStyle/>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Count / Sum / Avg / Min / Max</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Date granularity + filters</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Detail, pivot and grouped summaries</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Subtotals and grand totals</a:t>
            </a:r>
            <a:endParaRPr lang="en-US" sz="1050" dirty="0"/>
          </a:p>
        </p:txBody>
      </p:sp>
      <p:sp>
        <p:nvSpPr>
          <p:cNvPr id="14" name="Shape 12"/>
          <p:cNvSpPr/>
          <p:nvPr/>
        </p:nvSpPr>
        <p:spPr>
          <a:xfrm>
            <a:off x="658368" y="3749040"/>
            <a:ext cx="5257800" cy="1965960"/>
          </a:xfrm>
          <a:prstGeom prst="roundRect">
            <a:avLst>
              <a:gd name="adj" fmla="val 3721"/>
            </a:avLst>
          </a:prstGeom>
          <a:solidFill>
            <a:srgbClr val="DDF4EF"/>
          </a:solidFill>
          <a:ln w="13970">
            <a:solidFill>
              <a:srgbClr val="0F766E"/>
            </a:solidFill>
            <a:prstDash val="solid"/>
          </a:ln>
        </p:spPr>
      </p:sp>
      <p:sp>
        <p:nvSpPr>
          <p:cNvPr id="15" name="Shape 13"/>
          <p:cNvSpPr/>
          <p:nvPr/>
        </p:nvSpPr>
        <p:spPr>
          <a:xfrm>
            <a:off x="804672" y="3895344"/>
            <a:ext cx="310896" cy="310896"/>
          </a:xfrm>
          <a:prstGeom prst="ellipse">
            <a:avLst/>
          </a:prstGeom>
          <a:solidFill>
            <a:srgbClr val="0F766E"/>
          </a:solidFill>
          <a:ln w="12700">
            <a:solidFill>
              <a:srgbClr val="0F766E"/>
            </a:solidFill>
            <a:prstDash val="solid"/>
          </a:ln>
        </p:spPr>
      </p:sp>
      <p:sp>
        <p:nvSpPr>
          <p:cNvPr id="16" name="Text 14"/>
          <p:cNvSpPr/>
          <p:nvPr/>
        </p:nvSpPr>
        <p:spPr>
          <a:xfrm>
            <a:off x="804672" y="396392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1207008" y="3886200"/>
            <a:ext cx="4562856"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Visuals</a:t>
            </a:r>
            <a:endParaRPr lang="en-US" sz="1600" dirty="0"/>
          </a:p>
        </p:txBody>
      </p:sp>
      <p:sp>
        <p:nvSpPr>
          <p:cNvPr id="18" name="Text 16"/>
          <p:cNvSpPr/>
          <p:nvPr/>
        </p:nvSpPr>
        <p:spPr>
          <a:xfrm>
            <a:off x="914400" y="4315968"/>
            <a:ext cx="4709160" cy="1143000"/>
          </a:xfrm>
          <a:prstGeom prst="rect">
            <a:avLst/>
          </a:prstGeom>
          <a:noFill/>
          <a:ln/>
        </p:spPr>
        <p:txBody>
          <a:bodyPr wrap="square" lIns="508" tIns="508" rIns="508" bIns="508" rtlCol="0" anchor="t">
            <a:normAutofit/>
          </a:bodyPr>
          <a:lstStyle/>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KPI, table and pivot</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Bar / line / area</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Pie / donut / pareto</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Scatter / matrix / histogram / box / dot / multivari</a:t>
            </a:r>
            <a:endParaRPr lang="en-US" sz="1050" dirty="0"/>
          </a:p>
        </p:txBody>
      </p:sp>
      <p:sp>
        <p:nvSpPr>
          <p:cNvPr id="19" name="Shape 17"/>
          <p:cNvSpPr/>
          <p:nvPr/>
        </p:nvSpPr>
        <p:spPr>
          <a:xfrm>
            <a:off x="6281928" y="3749040"/>
            <a:ext cx="5257800" cy="1965960"/>
          </a:xfrm>
          <a:prstGeom prst="roundRect">
            <a:avLst>
              <a:gd name="adj" fmla="val 3721"/>
            </a:avLst>
          </a:prstGeom>
          <a:solidFill>
            <a:srgbClr val="FFF8EF"/>
          </a:solidFill>
          <a:ln w="13970">
            <a:solidFill>
              <a:srgbClr val="D89B2B"/>
            </a:solidFill>
            <a:prstDash val="solid"/>
          </a:ln>
        </p:spPr>
      </p:sp>
      <p:sp>
        <p:nvSpPr>
          <p:cNvPr id="20" name="Shape 18"/>
          <p:cNvSpPr/>
          <p:nvPr/>
        </p:nvSpPr>
        <p:spPr>
          <a:xfrm>
            <a:off x="6428232" y="3895344"/>
            <a:ext cx="310896" cy="310896"/>
          </a:xfrm>
          <a:prstGeom prst="ellipse">
            <a:avLst/>
          </a:prstGeom>
          <a:solidFill>
            <a:srgbClr val="D89B2B"/>
          </a:solidFill>
          <a:ln w="12700">
            <a:solidFill>
              <a:srgbClr val="D89B2B"/>
            </a:solidFill>
            <a:prstDash val="solid"/>
          </a:ln>
        </p:spPr>
      </p:sp>
      <p:sp>
        <p:nvSpPr>
          <p:cNvPr id="21" name="Text 19"/>
          <p:cNvSpPr/>
          <p:nvPr/>
        </p:nvSpPr>
        <p:spPr>
          <a:xfrm>
            <a:off x="6428232" y="3963924"/>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6830568" y="3886200"/>
            <a:ext cx="4562856"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Delivery &amp; control</a:t>
            </a:r>
            <a:endParaRPr lang="en-US" sz="1600" dirty="0"/>
          </a:p>
        </p:txBody>
      </p:sp>
      <p:sp>
        <p:nvSpPr>
          <p:cNvPr id="23" name="Text 21"/>
          <p:cNvSpPr/>
          <p:nvPr/>
        </p:nvSpPr>
        <p:spPr>
          <a:xfrm>
            <a:off x="6537960" y="4315968"/>
            <a:ext cx="4709160" cy="1143000"/>
          </a:xfrm>
          <a:prstGeom prst="rect">
            <a:avLst/>
          </a:prstGeom>
          <a:noFill/>
          <a:ln/>
        </p:spPr>
        <p:txBody>
          <a:bodyPr wrap="square" lIns="508" tIns="508" rIns="508" bIns="508" rtlCol="0" anchor="t">
            <a:normAutofit/>
          </a:bodyPr>
          <a:lstStyle/>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50,000-row preview/export ceiling</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CSV export matches view filters/sort</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Freshness indicator and polling</a:t>
            </a:r>
            <a:endParaRPr lang="en-US" sz="1050" dirty="0"/>
          </a:p>
          <a:p>
            <a:pPr marL="177800" indent="-177800">
              <a:buSzPct val="100000"/>
              <a:buChar char="•"/>
            </a:pPr>
            <a:r>
              <a:rPr lang="en-US" sz="1050" dirty="0">
                <a:solidFill>
                  <a:srgbClr val="252525"/>
                </a:solidFill>
                <a:latin typeface="Calibri" pitchFamily="34" charset="0"/>
                <a:ea typeface="Calibri" pitchFamily="34" charset="-122"/>
                <a:cs typeface="Calibri" pitchFamily="34" charset="-120"/>
              </a:rPr>
              <a:t>Private/shared/public + role/company permissions</a:t>
            </a:r>
            <a:endParaRPr lang="en-US" sz="1050" dirty="0"/>
          </a:p>
        </p:txBody>
      </p:sp>
      <p:sp>
        <p:nvSpPr>
          <p:cNvPr id="24" name="Text 22"/>
          <p:cNvSpPr/>
          <p:nvPr/>
        </p:nvSpPr>
        <p:spPr>
          <a:xfrm>
            <a:off x="822960" y="5833872"/>
            <a:ext cx="1920240" cy="182880"/>
          </a:xfrm>
          <a:prstGeom prst="rect">
            <a:avLst/>
          </a:prstGeom>
          <a:noFill/>
          <a:ln/>
        </p:spPr>
        <p:txBody>
          <a:bodyPr wrap="square" lIns="0" tIns="0" rIns="0" bIns="0" rtlCol="0" anchor="ctr"/>
          <a:lstStyle/>
          <a:p>
            <a:pPr marL="0" indent="0">
              <a:buNone/>
            </a:pPr>
            <a:r>
              <a:rPr lang="en-US" sz="1100" b="1" dirty="0">
                <a:solidFill>
                  <a:srgbClr val="B42318"/>
                </a:solidFill>
              </a:rPr>
              <a:t>Read-only query principle</a:t>
            </a:r>
            <a:endParaRPr lang="en-US" sz="1100" dirty="0"/>
          </a:p>
        </p:txBody>
      </p:sp>
      <p:sp>
        <p:nvSpPr>
          <p:cNvPr id="25" name="Text 23"/>
          <p:cNvSpPr/>
          <p:nvPr/>
        </p:nvSpPr>
        <p:spPr>
          <a:xfrm>
            <a:off x="2743200" y="5815584"/>
            <a:ext cx="8412480" cy="237744"/>
          </a:xfrm>
          <a:prstGeom prst="rect">
            <a:avLst/>
          </a:prstGeom>
          <a:noFill/>
          <a:ln/>
        </p:spPr>
        <p:txBody>
          <a:bodyPr wrap="square" lIns="0" tIns="0" rIns="0" bIns="0" rtlCol="0" anchor="ctr">
            <a:normAutofit/>
          </a:bodyPr>
          <a:lstStyle/>
          <a:p>
            <a:pPr marL="0" indent="0">
              <a:buNone/>
            </a:pPr>
            <a:r>
              <a:rPr lang="en-US" sz="1050" dirty="0">
                <a:solidFill>
                  <a:srgbClr val="252525"/>
                </a:solidFill>
              </a:rPr>
              <a:t>DIWA imported SQL accepts only a restricted SELECT table graph; destructive statements and non-allowlisted tables are rejected.</a:t>
            </a:r>
            <a:endParaRPr lang="en-US" sz="1050" dirty="0"/>
          </a:p>
        </p:txBody>
      </p:sp>
      <p:sp>
        <p:nvSpPr>
          <p:cNvPr id="26" name="Text 24"/>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ReportQueryService.php L14–56, L67–99; ReportController.php L167–188, L283–375; ReportDatasetSqlImportService.php L210–229</a:t>
            </a:r>
            <a:endParaRPr lang="en-US" sz="750" dirty="0"/>
          </a:p>
        </p:txBody>
      </p:sp>
      <p:sp>
        <p:nvSpPr>
          <p:cNvPr id="27"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Recommended loyalty report catalogue</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Green reports are possible from current loyalty fields after centralization; amber reports require richer POS or audit fields.</a:t>
            </a:r>
            <a:endParaRPr lang="en-US" sz="1250" dirty="0"/>
          </a:p>
        </p:txBody>
      </p:sp>
      <p:sp>
        <p:nvSpPr>
          <p:cNvPr id="4" name="Shape 2"/>
          <p:cNvSpPr/>
          <p:nvPr/>
        </p:nvSpPr>
        <p:spPr>
          <a:xfrm>
            <a:off x="621792" y="1353312"/>
            <a:ext cx="3566160" cy="914400"/>
          </a:xfrm>
          <a:prstGeom prst="roundRect">
            <a:avLst>
              <a:gd name="adj" fmla="val 8000"/>
            </a:avLst>
          </a:prstGeom>
          <a:solidFill>
            <a:srgbClr val="E8F7ED"/>
          </a:solidFill>
          <a:ln w="13970">
            <a:solidFill>
              <a:srgbClr val="15803D"/>
            </a:solidFill>
            <a:prstDash val="solid"/>
          </a:ln>
        </p:spPr>
      </p:sp>
      <p:sp>
        <p:nvSpPr>
          <p:cNvPr id="5" name="Shape 3"/>
          <p:cNvSpPr/>
          <p:nvPr/>
        </p:nvSpPr>
        <p:spPr>
          <a:xfrm>
            <a:off x="768096" y="1499616"/>
            <a:ext cx="310896" cy="310896"/>
          </a:xfrm>
          <a:prstGeom prst="ellipse">
            <a:avLst/>
          </a:prstGeom>
          <a:solidFill>
            <a:srgbClr val="15803D"/>
          </a:solidFill>
          <a:ln w="12700">
            <a:solidFill>
              <a:srgbClr val="15803D"/>
            </a:solidFill>
            <a:prstDash val="solid"/>
          </a:ln>
        </p:spPr>
      </p:sp>
      <p:sp>
        <p:nvSpPr>
          <p:cNvPr id="6" name="Text 4"/>
          <p:cNvSpPr/>
          <p:nvPr/>
        </p:nvSpPr>
        <p:spPr>
          <a:xfrm>
            <a:off x="768096" y="1568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7" name="Text 5"/>
          <p:cNvSpPr/>
          <p:nvPr/>
        </p:nvSpPr>
        <p:spPr>
          <a:xfrm>
            <a:off x="1170432" y="1490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Campaign performance</a:t>
            </a:r>
            <a:endParaRPr lang="en-US" sz="1200" dirty="0"/>
          </a:p>
        </p:txBody>
      </p:sp>
      <p:sp>
        <p:nvSpPr>
          <p:cNvPr id="8" name="Text 6"/>
          <p:cNvSpPr/>
          <p:nvPr/>
        </p:nvSpPr>
        <p:spPr>
          <a:xfrm>
            <a:off x="786384" y="1847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Members • stamps • completed cards • redemptions • redemption rate</a:t>
            </a:r>
            <a:endParaRPr lang="en-US" sz="890" dirty="0"/>
          </a:p>
        </p:txBody>
      </p:sp>
      <p:sp>
        <p:nvSpPr>
          <p:cNvPr id="9" name="Shape 7"/>
          <p:cNvSpPr/>
          <p:nvPr/>
        </p:nvSpPr>
        <p:spPr>
          <a:xfrm>
            <a:off x="4443984" y="1353312"/>
            <a:ext cx="3566160" cy="914400"/>
          </a:xfrm>
          <a:prstGeom prst="roundRect">
            <a:avLst>
              <a:gd name="adj" fmla="val 8000"/>
            </a:avLst>
          </a:prstGeom>
          <a:solidFill>
            <a:srgbClr val="E8F7ED"/>
          </a:solidFill>
          <a:ln w="13970">
            <a:solidFill>
              <a:srgbClr val="15803D"/>
            </a:solidFill>
            <a:prstDash val="solid"/>
          </a:ln>
        </p:spPr>
      </p:sp>
      <p:sp>
        <p:nvSpPr>
          <p:cNvPr id="10" name="Shape 8"/>
          <p:cNvSpPr/>
          <p:nvPr/>
        </p:nvSpPr>
        <p:spPr>
          <a:xfrm>
            <a:off x="4590288" y="1499616"/>
            <a:ext cx="310896" cy="310896"/>
          </a:xfrm>
          <a:prstGeom prst="ellipse">
            <a:avLst/>
          </a:prstGeom>
          <a:solidFill>
            <a:srgbClr val="15803D"/>
          </a:solidFill>
          <a:ln w="12700">
            <a:solidFill>
              <a:srgbClr val="15803D"/>
            </a:solidFill>
            <a:prstDash val="solid"/>
          </a:ln>
        </p:spPr>
      </p:sp>
      <p:sp>
        <p:nvSpPr>
          <p:cNvPr id="11" name="Text 9"/>
          <p:cNvSpPr/>
          <p:nvPr/>
        </p:nvSpPr>
        <p:spPr>
          <a:xfrm>
            <a:off x="4590288" y="1568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2" name="Text 10"/>
          <p:cNvSpPr/>
          <p:nvPr/>
        </p:nvSpPr>
        <p:spPr>
          <a:xfrm>
            <a:off x="4992624" y="1490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Stamp activity trend</a:t>
            </a:r>
            <a:endParaRPr lang="en-US" sz="1200" dirty="0"/>
          </a:p>
        </p:txBody>
      </p:sp>
      <p:sp>
        <p:nvSpPr>
          <p:cNvPr id="13" name="Text 11"/>
          <p:cNvSpPr/>
          <p:nvPr/>
        </p:nvSpPr>
        <p:spPr>
          <a:xfrm>
            <a:off x="4608576" y="1847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Earn/redeem events by day/week/month and campaign</a:t>
            </a:r>
            <a:endParaRPr lang="en-US" sz="890" dirty="0"/>
          </a:p>
        </p:txBody>
      </p:sp>
      <p:sp>
        <p:nvSpPr>
          <p:cNvPr id="14" name="Shape 12"/>
          <p:cNvSpPr/>
          <p:nvPr/>
        </p:nvSpPr>
        <p:spPr>
          <a:xfrm>
            <a:off x="8266176" y="1353312"/>
            <a:ext cx="3566160" cy="914400"/>
          </a:xfrm>
          <a:prstGeom prst="roundRect">
            <a:avLst>
              <a:gd name="adj" fmla="val 8000"/>
            </a:avLst>
          </a:prstGeom>
          <a:solidFill>
            <a:srgbClr val="E8F7ED"/>
          </a:solidFill>
          <a:ln w="13970">
            <a:solidFill>
              <a:srgbClr val="15803D"/>
            </a:solidFill>
            <a:prstDash val="solid"/>
          </a:ln>
        </p:spPr>
      </p:sp>
      <p:sp>
        <p:nvSpPr>
          <p:cNvPr id="15" name="Shape 13"/>
          <p:cNvSpPr/>
          <p:nvPr/>
        </p:nvSpPr>
        <p:spPr>
          <a:xfrm>
            <a:off x="8412480" y="1499616"/>
            <a:ext cx="310896" cy="310896"/>
          </a:xfrm>
          <a:prstGeom prst="ellipse">
            <a:avLst/>
          </a:prstGeom>
          <a:solidFill>
            <a:srgbClr val="15803D"/>
          </a:solidFill>
          <a:ln w="12700">
            <a:solidFill>
              <a:srgbClr val="15803D"/>
            </a:solidFill>
            <a:prstDash val="solid"/>
          </a:ln>
        </p:spPr>
      </p:sp>
      <p:sp>
        <p:nvSpPr>
          <p:cNvPr id="16" name="Text 14"/>
          <p:cNvSpPr/>
          <p:nvPr/>
        </p:nvSpPr>
        <p:spPr>
          <a:xfrm>
            <a:off x="8412480" y="1568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17" name="Text 15"/>
          <p:cNvSpPr/>
          <p:nvPr/>
        </p:nvSpPr>
        <p:spPr>
          <a:xfrm>
            <a:off x="8814816" y="1490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Customer engagement</a:t>
            </a:r>
            <a:endParaRPr lang="en-US" sz="1200" dirty="0"/>
          </a:p>
        </p:txBody>
      </p:sp>
      <p:sp>
        <p:nvSpPr>
          <p:cNvPr id="18" name="Text 16"/>
          <p:cNvSpPr/>
          <p:nvPr/>
        </p:nvSpPr>
        <p:spPr>
          <a:xfrm>
            <a:off x="8430768" y="1847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Active members • lifetime stamps • current balance • last activity</a:t>
            </a:r>
            <a:endParaRPr lang="en-US" sz="890" dirty="0"/>
          </a:p>
        </p:txBody>
      </p:sp>
      <p:sp>
        <p:nvSpPr>
          <p:cNvPr id="19" name="Shape 17"/>
          <p:cNvSpPr/>
          <p:nvPr/>
        </p:nvSpPr>
        <p:spPr>
          <a:xfrm>
            <a:off x="621792" y="2496312"/>
            <a:ext cx="3566160" cy="914400"/>
          </a:xfrm>
          <a:prstGeom prst="roundRect">
            <a:avLst>
              <a:gd name="adj" fmla="val 8000"/>
            </a:avLst>
          </a:prstGeom>
          <a:solidFill>
            <a:srgbClr val="E8F7ED"/>
          </a:solidFill>
          <a:ln w="13970">
            <a:solidFill>
              <a:srgbClr val="15803D"/>
            </a:solidFill>
            <a:prstDash val="solid"/>
          </a:ln>
        </p:spPr>
      </p:sp>
      <p:sp>
        <p:nvSpPr>
          <p:cNvPr id="20" name="Shape 18"/>
          <p:cNvSpPr/>
          <p:nvPr/>
        </p:nvSpPr>
        <p:spPr>
          <a:xfrm>
            <a:off x="768096" y="2642616"/>
            <a:ext cx="310896" cy="310896"/>
          </a:xfrm>
          <a:prstGeom prst="ellipse">
            <a:avLst/>
          </a:prstGeom>
          <a:solidFill>
            <a:srgbClr val="15803D"/>
          </a:solidFill>
          <a:ln w="12700">
            <a:solidFill>
              <a:srgbClr val="15803D"/>
            </a:solidFill>
            <a:prstDash val="solid"/>
          </a:ln>
        </p:spPr>
      </p:sp>
      <p:sp>
        <p:nvSpPr>
          <p:cNvPr id="21" name="Text 19"/>
          <p:cNvSpPr/>
          <p:nvPr/>
        </p:nvSpPr>
        <p:spPr>
          <a:xfrm>
            <a:off x="768096" y="2711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2" name="Text 20"/>
          <p:cNvSpPr/>
          <p:nvPr/>
        </p:nvSpPr>
        <p:spPr>
          <a:xfrm>
            <a:off x="1170432" y="2633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Reward funnel</a:t>
            </a:r>
            <a:endParaRPr lang="en-US" sz="1200" dirty="0"/>
          </a:p>
        </p:txBody>
      </p:sp>
      <p:sp>
        <p:nvSpPr>
          <p:cNvPr id="23" name="Text 21"/>
          <p:cNvSpPr/>
          <p:nvPr/>
        </p:nvSpPr>
        <p:spPr>
          <a:xfrm>
            <a:off x="786384" y="2990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Members earning → completed cards → redeemed rewards</a:t>
            </a:r>
            <a:endParaRPr lang="en-US" sz="890" dirty="0"/>
          </a:p>
        </p:txBody>
      </p:sp>
      <p:sp>
        <p:nvSpPr>
          <p:cNvPr id="24" name="Shape 22"/>
          <p:cNvSpPr/>
          <p:nvPr/>
        </p:nvSpPr>
        <p:spPr>
          <a:xfrm>
            <a:off x="4443984" y="2496312"/>
            <a:ext cx="3566160" cy="914400"/>
          </a:xfrm>
          <a:prstGeom prst="roundRect">
            <a:avLst>
              <a:gd name="adj" fmla="val 8000"/>
            </a:avLst>
          </a:prstGeom>
          <a:solidFill>
            <a:srgbClr val="E8F7ED"/>
          </a:solidFill>
          <a:ln w="13970">
            <a:solidFill>
              <a:srgbClr val="15803D"/>
            </a:solidFill>
            <a:prstDash val="solid"/>
          </a:ln>
        </p:spPr>
      </p:sp>
      <p:sp>
        <p:nvSpPr>
          <p:cNvPr id="25" name="Shape 23"/>
          <p:cNvSpPr/>
          <p:nvPr/>
        </p:nvSpPr>
        <p:spPr>
          <a:xfrm>
            <a:off x="4590288" y="2642616"/>
            <a:ext cx="310896" cy="310896"/>
          </a:xfrm>
          <a:prstGeom prst="ellipse">
            <a:avLst/>
          </a:prstGeom>
          <a:solidFill>
            <a:srgbClr val="15803D"/>
          </a:solidFill>
          <a:ln w="12700">
            <a:solidFill>
              <a:srgbClr val="15803D"/>
            </a:solidFill>
            <a:prstDash val="solid"/>
          </a:ln>
        </p:spPr>
      </p:sp>
      <p:sp>
        <p:nvSpPr>
          <p:cNvPr id="26" name="Text 24"/>
          <p:cNvSpPr/>
          <p:nvPr/>
        </p:nvSpPr>
        <p:spPr>
          <a:xfrm>
            <a:off x="4590288" y="2711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27" name="Text 25"/>
          <p:cNvSpPr/>
          <p:nvPr/>
        </p:nvSpPr>
        <p:spPr>
          <a:xfrm>
            <a:off x="4992624" y="2633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Redemption lag</a:t>
            </a:r>
            <a:endParaRPr lang="en-US" sz="1200" dirty="0"/>
          </a:p>
        </p:txBody>
      </p:sp>
      <p:sp>
        <p:nvSpPr>
          <p:cNvPr id="28" name="Text 26"/>
          <p:cNvSpPr/>
          <p:nvPr/>
        </p:nvSpPr>
        <p:spPr>
          <a:xfrm>
            <a:off x="4608576" y="2990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Average/min/max time from completed_at to redeemed_at</a:t>
            </a:r>
            <a:endParaRPr lang="en-US" sz="890" dirty="0"/>
          </a:p>
        </p:txBody>
      </p:sp>
      <p:sp>
        <p:nvSpPr>
          <p:cNvPr id="29" name="Shape 27"/>
          <p:cNvSpPr/>
          <p:nvPr/>
        </p:nvSpPr>
        <p:spPr>
          <a:xfrm>
            <a:off x="8266176" y="2496312"/>
            <a:ext cx="3566160" cy="914400"/>
          </a:xfrm>
          <a:prstGeom prst="roundRect">
            <a:avLst>
              <a:gd name="adj" fmla="val 8000"/>
            </a:avLst>
          </a:prstGeom>
          <a:solidFill>
            <a:srgbClr val="E8F7ED"/>
          </a:solidFill>
          <a:ln w="13970">
            <a:solidFill>
              <a:srgbClr val="15803D"/>
            </a:solidFill>
            <a:prstDash val="solid"/>
          </a:ln>
        </p:spPr>
      </p:sp>
      <p:sp>
        <p:nvSpPr>
          <p:cNvPr id="30" name="Shape 28"/>
          <p:cNvSpPr/>
          <p:nvPr/>
        </p:nvSpPr>
        <p:spPr>
          <a:xfrm>
            <a:off x="8412480" y="2642616"/>
            <a:ext cx="310896" cy="310896"/>
          </a:xfrm>
          <a:prstGeom prst="ellipse">
            <a:avLst/>
          </a:prstGeom>
          <a:solidFill>
            <a:srgbClr val="15803D"/>
          </a:solidFill>
          <a:ln w="12700">
            <a:solidFill>
              <a:srgbClr val="15803D"/>
            </a:solidFill>
            <a:prstDash val="solid"/>
          </a:ln>
        </p:spPr>
      </p:sp>
      <p:sp>
        <p:nvSpPr>
          <p:cNvPr id="31" name="Text 29"/>
          <p:cNvSpPr/>
          <p:nvPr/>
        </p:nvSpPr>
        <p:spPr>
          <a:xfrm>
            <a:off x="8412480" y="2711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2" name="Text 30"/>
          <p:cNvSpPr/>
          <p:nvPr/>
        </p:nvSpPr>
        <p:spPr>
          <a:xfrm>
            <a:off x="8814816" y="2633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Repeat loyalty</a:t>
            </a:r>
            <a:endParaRPr lang="en-US" sz="1200" dirty="0"/>
          </a:p>
        </p:txBody>
      </p:sp>
      <p:sp>
        <p:nvSpPr>
          <p:cNvPr id="33" name="Text 31"/>
          <p:cNvSpPr/>
          <p:nvPr/>
        </p:nvSpPr>
        <p:spPr>
          <a:xfrm>
            <a:off x="8430768" y="2990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Cycles completed per member/campaign; repeat-cycle distribution</a:t>
            </a:r>
            <a:endParaRPr lang="en-US" sz="890" dirty="0"/>
          </a:p>
        </p:txBody>
      </p:sp>
      <p:sp>
        <p:nvSpPr>
          <p:cNvPr id="34" name="Shape 32"/>
          <p:cNvSpPr/>
          <p:nvPr/>
        </p:nvSpPr>
        <p:spPr>
          <a:xfrm>
            <a:off x="621792" y="3639312"/>
            <a:ext cx="3566160" cy="914400"/>
          </a:xfrm>
          <a:prstGeom prst="roundRect">
            <a:avLst>
              <a:gd name="adj" fmla="val 8000"/>
            </a:avLst>
          </a:prstGeom>
          <a:solidFill>
            <a:srgbClr val="E8F7ED"/>
          </a:solidFill>
          <a:ln w="13970">
            <a:solidFill>
              <a:srgbClr val="15803D"/>
            </a:solidFill>
            <a:prstDash val="solid"/>
          </a:ln>
        </p:spPr>
      </p:sp>
      <p:sp>
        <p:nvSpPr>
          <p:cNvPr id="35" name="Shape 33"/>
          <p:cNvSpPr/>
          <p:nvPr/>
        </p:nvSpPr>
        <p:spPr>
          <a:xfrm>
            <a:off x="768096" y="3785616"/>
            <a:ext cx="310896" cy="310896"/>
          </a:xfrm>
          <a:prstGeom prst="ellipse">
            <a:avLst/>
          </a:prstGeom>
          <a:solidFill>
            <a:srgbClr val="15803D"/>
          </a:solidFill>
          <a:ln w="12700">
            <a:solidFill>
              <a:srgbClr val="15803D"/>
            </a:solidFill>
            <a:prstDash val="solid"/>
          </a:ln>
        </p:spPr>
      </p:sp>
      <p:sp>
        <p:nvSpPr>
          <p:cNvPr id="36" name="Text 34"/>
          <p:cNvSpPr/>
          <p:nvPr/>
        </p:nvSpPr>
        <p:spPr>
          <a:xfrm>
            <a:off x="768096" y="3854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37" name="Text 35"/>
          <p:cNvSpPr/>
          <p:nvPr/>
        </p:nvSpPr>
        <p:spPr>
          <a:xfrm>
            <a:off x="1170432" y="3776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Store performance</a:t>
            </a:r>
            <a:endParaRPr lang="en-US" sz="1200" dirty="0"/>
          </a:p>
        </p:txBody>
      </p:sp>
      <p:sp>
        <p:nvSpPr>
          <p:cNvPr id="38" name="Text 36"/>
          <p:cNvSpPr/>
          <p:nvPr/>
        </p:nvSpPr>
        <p:spPr>
          <a:xfrm>
            <a:off x="786384" y="4133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Stamps and redemptions by store_name</a:t>
            </a:r>
            <a:endParaRPr lang="en-US" sz="890" dirty="0"/>
          </a:p>
        </p:txBody>
      </p:sp>
      <p:sp>
        <p:nvSpPr>
          <p:cNvPr id="39" name="Shape 37"/>
          <p:cNvSpPr/>
          <p:nvPr/>
        </p:nvSpPr>
        <p:spPr>
          <a:xfrm>
            <a:off x="4443984" y="3639312"/>
            <a:ext cx="3566160" cy="914400"/>
          </a:xfrm>
          <a:prstGeom prst="roundRect">
            <a:avLst>
              <a:gd name="adj" fmla="val 8000"/>
            </a:avLst>
          </a:prstGeom>
          <a:solidFill>
            <a:srgbClr val="E8F7ED"/>
          </a:solidFill>
          <a:ln w="13970">
            <a:solidFill>
              <a:srgbClr val="15803D"/>
            </a:solidFill>
            <a:prstDash val="solid"/>
          </a:ln>
        </p:spPr>
      </p:sp>
      <p:sp>
        <p:nvSpPr>
          <p:cNvPr id="40" name="Shape 38"/>
          <p:cNvSpPr/>
          <p:nvPr/>
        </p:nvSpPr>
        <p:spPr>
          <a:xfrm>
            <a:off x="4590288" y="3785616"/>
            <a:ext cx="310896" cy="310896"/>
          </a:xfrm>
          <a:prstGeom prst="ellipse">
            <a:avLst/>
          </a:prstGeom>
          <a:solidFill>
            <a:srgbClr val="15803D"/>
          </a:solidFill>
          <a:ln w="12700">
            <a:solidFill>
              <a:srgbClr val="15803D"/>
            </a:solidFill>
            <a:prstDash val="solid"/>
          </a:ln>
        </p:spPr>
      </p:sp>
      <p:sp>
        <p:nvSpPr>
          <p:cNvPr id="41" name="Text 39"/>
          <p:cNvSpPr/>
          <p:nvPr/>
        </p:nvSpPr>
        <p:spPr>
          <a:xfrm>
            <a:off x="4590288" y="3854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42" name="Text 40"/>
          <p:cNvSpPr/>
          <p:nvPr/>
        </p:nvSpPr>
        <p:spPr>
          <a:xfrm>
            <a:off x="4992624" y="3776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Product participation</a:t>
            </a:r>
            <a:endParaRPr lang="en-US" sz="1200" dirty="0"/>
          </a:p>
        </p:txBody>
      </p:sp>
      <p:sp>
        <p:nvSpPr>
          <p:cNvPr id="43" name="Text 41"/>
          <p:cNvSpPr/>
          <p:nvPr/>
        </p:nvSpPr>
        <p:spPr>
          <a:xfrm>
            <a:off x="4608576" y="4133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Stamps by product / category and campaign eligibility</a:t>
            </a:r>
            <a:endParaRPr lang="en-US" sz="890" dirty="0"/>
          </a:p>
        </p:txBody>
      </p:sp>
      <p:sp>
        <p:nvSpPr>
          <p:cNvPr id="44" name="Shape 42"/>
          <p:cNvSpPr/>
          <p:nvPr/>
        </p:nvSpPr>
        <p:spPr>
          <a:xfrm>
            <a:off x="8266176" y="3639312"/>
            <a:ext cx="3566160" cy="914400"/>
          </a:xfrm>
          <a:prstGeom prst="roundRect">
            <a:avLst>
              <a:gd name="adj" fmla="val 8000"/>
            </a:avLst>
          </a:prstGeom>
          <a:solidFill>
            <a:srgbClr val="FFF8EF"/>
          </a:solidFill>
          <a:ln w="13970">
            <a:solidFill>
              <a:srgbClr val="D89B2B"/>
            </a:solidFill>
            <a:prstDash val="solid"/>
          </a:ln>
        </p:spPr>
      </p:sp>
      <p:sp>
        <p:nvSpPr>
          <p:cNvPr id="45" name="Shape 43"/>
          <p:cNvSpPr/>
          <p:nvPr/>
        </p:nvSpPr>
        <p:spPr>
          <a:xfrm>
            <a:off x="8412480" y="3785616"/>
            <a:ext cx="310896" cy="310896"/>
          </a:xfrm>
          <a:prstGeom prst="ellipse">
            <a:avLst/>
          </a:prstGeom>
          <a:solidFill>
            <a:srgbClr val="D89B2B"/>
          </a:solidFill>
          <a:ln w="12700">
            <a:solidFill>
              <a:srgbClr val="D89B2B"/>
            </a:solidFill>
            <a:prstDash val="solid"/>
          </a:ln>
        </p:spPr>
      </p:sp>
      <p:sp>
        <p:nvSpPr>
          <p:cNvPr id="46" name="Text 44"/>
          <p:cNvSpPr/>
          <p:nvPr/>
        </p:nvSpPr>
        <p:spPr>
          <a:xfrm>
            <a:off x="8412480" y="3854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47" name="Text 45"/>
          <p:cNvSpPr/>
          <p:nvPr/>
        </p:nvSpPr>
        <p:spPr>
          <a:xfrm>
            <a:off x="8814816" y="3776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POS/cashier audit</a:t>
            </a:r>
            <a:endParaRPr lang="en-US" sz="1200" dirty="0"/>
          </a:p>
        </p:txBody>
      </p:sp>
      <p:sp>
        <p:nvSpPr>
          <p:cNvPr id="48" name="Text 46"/>
          <p:cNvSpPr/>
          <p:nvPr/>
        </p:nvSpPr>
        <p:spPr>
          <a:xfrm>
            <a:off x="8430768" y="4133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Activity by terminal/cashier/receipt; rejected attempts</a:t>
            </a:r>
            <a:endParaRPr lang="en-US" sz="890" dirty="0"/>
          </a:p>
        </p:txBody>
      </p:sp>
      <p:sp>
        <p:nvSpPr>
          <p:cNvPr id="49" name="Shape 47"/>
          <p:cNvSpPr/>
          <p:nvPr/>
        </p:nvSpPr>
        <p:spPr>
          <a:xfrm>
            <a:off x="621792" y="4782312"/>
            <a:ext cx="3566160" cy="914400"/>
          </a:xfrm>
          <a:prstGeom prst="roundRect">
            <a:avLst>
              <a:gd name="adj" fmla="val 8000"/>
            </a:avLst>
          </a:prstGeom>
          <a:solidFill>
            <a:srgbClr val="FFF8EF"/>
          </a:solidFill>
          <a:ln w="13970">
            <a:solidFill>
              <a:srgbClr val="D89B2B"/>
            </a:solidFill>
            <a:prstDash val="solid"/>
          </a:ln>
        </p:spPr>
      </p:sp>
      <p:sp>
        <p:nvSpPr>
          <p:cNvPr id="50" name="Shape 48"/>
          <p:cNvSpPr/>
          <p:nvPr/>
        </p:nvSpPr>
        <p:spPr>
          <a:xfrm>
            <a:off x="768096" y="4928616"/>
            <a:ext cx="310896" cy="310896"/>
          </a:xfrm>
          <a:prstGeom prst="ellipse">
            <a:avLst/>
          </a:prstGeom>
          <a:solidFill>
            <a:srgbClr val="D89B2B"/>
          </a:solidFill>
          <a:ln w="12700">
            <a:solidFill>
              <a:srgbClr val="D89B2B"/>
            </a:solidFill>
            <a:prstDash val="solid"/>
          </a:ln>
        </p:spPr>
      </p:sp>
      <p:sp>
        <p:nvSpPr>
          <p:cNvPr id="51" name="Text 49"/>
          <p:cNvSpPr/>
          <p:nvPr/>
        </p:nvSpPr>
        <p:spPr>
          <a:xfrm>
            <a:off x="768096" y="4997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52" name="Text 50"/>
          <p:cNvSpPr/>
          <p:nvPr/>
        </p:nvSpPr>
        <p:spPr>
          <a:xfrm>
            <a:off x="1170432" y="4919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Campaign ROI</a:t>
            </a:r>
            <a:endParaRPr lang="en-US" sz="1200" dirty="0"/>
          </a:p>
        </p:txBody>
      </p:sp>
      <p:sp>
        <p:nvSpPr>
          <p:cNvPr id="53" name="Text 51"/>
          <p:cNvSpPr/>
          <p:nvPr/>
        </p:nvSpPr>
        <p:spPr>
          <a:xfrm>
            <a:off x="786384" y="5276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Sales, margin, reward cost and incremental lift</a:t>
            </a:r>
            <a:endParaRPr lang="en-US" sz="890" dirty="0"/>
          </a:p>
        </p:txBody>
      </p:sp>
      <p:sp>
        <p:nvSpPr>
          <p:cNvPr id="54" name="Shape 52"/>
          <p:cNvSpPr/>
          <p:nvPr/>
        </p:nvSpPr>
        <p:spPr>
          <a:xfrm>
            <a:off x="4443984" y="4782312"/>
            <a:ext cx="3566160" cy="914400"/>
          </a:xfrm>
          <a:prstGeom prst="roundRect">
            <a:avLst>
              <a:gd name="adj" fmla="val 8000"/>
            </a:avLst>
          </a:prstGeom>
          <a:solidFill>
            <a:srgbClr val="FFF8EF"/>
          </a:solidFill>
          <a:ln w="13970">
            <a:solidFill>
              <a:srgbClr val="D89B2B"/>
            </a:solidFill>
            <a:prstDash val="solid"/>
          </a:ln>
        </p:spPr>
      </p:sp>
      <p:sp>
        <p:nvSpPr>
          <p:cNvPr id="55" name="Shape 53"/>
          <p:cNvSpPr/>
          <p:nvPr/>
        </p:nvSpPr>
        <p:spPr>
          <a:xfrm>
            <a:off x="4590288" y="4928616"/>
            <a:ext cx="310896" cy="310896"/>
          </a:xfrm>
          <a:prstGeom prst="ellipse">
            <a:avLst/>
          </a:prstGeom>
          <a:solidFill>
            <a:srgbClr val="D89B2B"/>
          </a:solidFill>
          <a:ln w="12700">
            <a:solidFill>
              <a:srgbClr val="D89B2B"/>
            </a:solidFill>
            <a:prstDash val="solid"/>
          </a:ln>
        </p:spPr>
      </p:sp>
      <p:sp>
        <p:nvSpPr>
          <p:cNvPr id="56" name="Text 54"/>
          <p:cNvSpPr/>
          <p:nvPr/>
        </p:nvSpPr>
        <p:spPr>
          <a:xfrm>
            <a:off x="4590288" y="4997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57" name="Text 55"/>
          <p:cNvSpPr/>
          <p:nvPr/>
        </p:nvSpPr>
        <p:spPr>
          <a:xfrm>
            <a:off x="4992624" y="4919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Fraud/anomaly</a:t>
            </a:r>
            <a:endParaRPr lang="en-US" sz="1200" dirty="0"/>
          </a:p>
        </p:txBody>
      </p:sp>
      <p:sp>
        <p:nvSpPr>
          <p:cNvPr id="58" name="Text 56"/>
          <p:cNvSpPr/>
          <p:nvPr/>
        </p:nvSpPr>
        <p:spPr>
          <a:xfrm>
            <a:off x="4608576" y="5276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Duplicate attempts, impossible velocity, receipt reuse, device mismatch</a:t>
            </a:r>
            <a:endParaRPr lang="en-US" sz="890" dirty="0"/>
          </a:p>
        </p:txBody>
      </p:sp>
      <p:sp>
        <p:nvSpPr>
          <p:cNvPr id="59" name="Shape 57"/>
          <p:cNvSpPr/>
          <p:nvPr/>
        </p:nvSpPr>
        <p:spPr>
          <a:xfrm>
            <a:off x="8266176" y="4782312"/>
            <a:ext cx="3566160" cy="914400"/>
          </a:xfrm>
          <a:prstGeom prst="roundRect">
            <a:avLst>
              <a:gd name="adj" fmla="val 8000"/>
            </a:avLst>
          </a:prstGeom>
          <a:solidFill>
            <a:srgbClr val="FFF8EF"/>
          </a:solidFill>
          <a:ln w="13970">
            <a:solidFill>
              <a:srgbClr val="D89B2B"/>
            </a:solidFill>
            <a:prstDash val="solid"/>
          </a:ln>
        </p:spPr>
      </p:sp>
      <p:sp>
        <p:nvSpPr>
          <p:cNvPr id="60" name="Shape 58"/>
          <p:cNvSpPr/>
          <p:nvPr/>
        </p:nvSpPr>
        <p:spPr>
          <a:xfrm>
            <a:off x="8412480" y="4928616"/>
            <a:ext cx="310896" cy="310896"/>
          </a:xfrm>
          <a:prstGeom prst="ellipse">
            <a:avLst/>
          </a:prstGeom>
          <a:solidFill>
            <a:srgbClr val="D89B2B"/>
          </a:solidFill>
          <a:ln w="12700">
            <a:solidFill>
              <a:srgbClr val="D89B2B"/>
            </a:solidFill>
            <a:prstDash val="solid"/>
          </a:ln>
        </p:spPr>
      </p:sp>
      <p:sp>
        <p:nvSpPr>
          <p:cNvPr id="61" name="Text 59"/>
          <p:cNvSpPr/>
          <p:nvPr/>
        </p:nvSpPr>
        <p:spPr>
          <a:xfrm>
            <a:off x="8412480" y="4997196"/>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a:t>
            </a:r>
            <a:endParaRPr lang="en-US" sz="900" dirty="0"/>
          </a:p>
        </p:txBody>
      </p:sp>
      <p:sp>
        <p:nvSpPr>
          <p:cNvPr id="62" name="Text 60"/>
          <p:cNvSpPr/>
          <p:nvPr/>
        </p:nvSpPr>
        <p:spPr>
          <a:xfrm>
            <a:off x="8814816" y="4919472"/>
            <a:ext cx="2871216" cy="256032"/>
          </a:xfrm>
          <a:prstGeom prst="rect">
            <a:avLst/>
          </a:prstGeom>
          <a:noFill/>
          <a:ln/>
        </p:spPr>
        <p:txBody>
          <a:bodyPr wrap="square" lIns="0" tIns="0" rIns="0" bIns="0" rtlCol="0" anchor="ctr">
            <a:normAutofit/>
          </a:bodyPr>
          <a:lstStyle/>
          <a:p>
            <a:pPr marL="0" indent="0">
              <a:buNone/>
            </a:pPr>
            <a:r>
              <a:rPr lang="en-US" sz="1200" b="1" dirty="0">
                <a:solidFill>
                  <a:srgbClr val="2B1D16"/>
                </a:solidFill>
              </a:rPr>
              <a:t>Outstanding reward liability</a:t>
            </a:r>
            <a:endParaRPr lang="en-US" sz="1200" dirty="0"/>
          </a:p>
        </p:txBody>
      </p:sp>
      <p:sp>
        <p:nvSpPr>
          <p:cNvPr id="63" name="Text 61"/>
          <p:cNvSpPr/>
          <p:nvPr/>
        </p:nvSpPr>
        <p:spPr>
          <a:xfrm>
            <a:off x="8430768" y="5276088"/>
            <a:ext cx="3236976" cy="292608"/>
          </a:xfrm>
          <a:prstGeom prst="rect">
            <a:avLst/>
          </a:prstGeom>
          <a:noFill/>
          <a:ln/>
        </p:spPr>
        <p:txBody>
          <a:bodyPr wrap="square" lIns="0" tIns="0" rIns="0" bIns="0" rtlCol="0" anchor="t">
            <a:normAutofit/>
          </a:bodyPr>
          <a:lstStyle/>
          <a:p>
            <a:pPr marL="0" indent="0">
              <a:buNone/>
            </a:pPr>
            <a:r>
              <a:rPr lang="en-US" sz="890" dirty="0">
                <a:solidFill>
                  <a:srgbClr val="252525"/>
                </a:solidFill>
              </a:rPr>
              <a:t>Unlocked/unredeemed rewards × configured reward value</a:t>
            </a:r>
            <a:endParaRPr lang="en-US" sz="890" dirty="0"/>
          </a:p>
        </p:txBody>
      </p:sp>
      <p:sp>
        <p:nvSpPr>
          <p:cNvPr id="64" name="Shape 62"/>
          <p:cNvSpPr/>
          <p:nvPr/>
        </p:nvSpPr>
        <p:spPr>
          <a:xfrm>
            <a:off x="822960" y="6007608"/>
            <a:ext cx="2697480" cy="310896"/>
          </a:xfrm>
          <a:prstGeom prst="roundRect">
            <a:avLst>
              <a:gd name="adj" fmla="val 23529"/>
            </a:avLst>
          </a:prstGeom>
          <a:solidFill>
            <a:srgbClr val="E8F7ED"/>
          </a:solidFill>
          <a:ln w="12700">
            <a:solidFill>
              <a:srgbClr val="E8F7ED"/>
            </a:solidFill>
            <a:prstDash val="solid"/>
          </a:ln>
        </p:spPr>
      </p:sp>
      <p:sp>
        <p:nvSpPr>
          <p:cNvPr id="65" name="Text 63"/>
          <p:cNvSpPr/>
          <p:nvPr/>
        </p:nvSpPr>
        <p:spPr>
          <a:xfrm>
            <a:off x="896112" y="6071616"/>
            <a:ext cx="2551176" cy="146304"/>
          </a:xfrm>
          <a:prstGeom prst="rect">
            <a:avLst/>
          </a:prstGeom>
          <a:noFill/>
          <a:ln/>
        </p:spPr>
        <p:txBody>
          <a:bodyPr wrap="square" lIns="0" tIns="0" rIns="0" bIns="0" rtlCol="0" anchor="ctr">
            <a:normAutofit/>
          </a:bodyPr>
          <a:lstStyle/>
          <a:p>
            <a:pPr marL="0" indent="0" algn="ctr">
              <a:buNone/>
            </a:pPr>
            <a:r>
              <a:rPr lang="en-US" sz="950" b="1" dirty="0">
                <a:solidFill>
                  <a:srgbClr val="15803D"/>
                </a:solidFill>
              </a:rPr>
              <a:t>AVAILABLE AFTER CENTRALIZATION</a:t>
            </a:r>
            <a:endParaRPr lang="en-US" sz="950" dirty="0"/>
          </a:p>
        </p:txBody>
      </p:sp>
      <p:sp>
        <p:nvSpPr>
          <p:cNvPr id="66" name="Shape 64"/>
          <p:cNvSpPr/>
          <p:nvPr/>
        </p:nvSpPr>
        <p:spPr>
          <a:xfrm>
            <a:off x="3749040" y="6007608"/>
            <a:ext cx="2971800" cy="310896"/>
          </a:xfrm>
          <a:prstGeom prst="roundRect">
            <a:avLst>
              <a:gd name="adj" fmla="val 23529"/>
            </a:avLst>
          </a:prstGeom>
          <a:solidFill>
            <a:srgbClr val="FFF8EF"/>
          </a:solidFill>
          <a:ln w="12700">
            <a:solidFill>
              <a:srgbClr val="FFF8EF"/>
            </a:solidFill>
            <a:prstDash val="solid"/>
          </a:ln>
        </p:spPr>
      </p:sp>
      <p:sp>
        <p:nvSpPr>
          <p:cNvPr id="67" name="Text 65"/>
          <p:cNvSpPr/>
          <p:nvPr/>
        </p:nvSpPr>
        <p:spPr>
          <a:xfrm>
            <a:off x="3822192" y="6071616"/>
            <a:ext cx="2825496" cy="146304"/>
          </a:xfrm>
          <a:prstGeom prst="rect">
            <a:avLst/>
          </a:prstGeom>
          <a:noFill/>
          <a:ln/>
        </p:spPr>
        <p:txBody>
          <a:bodyPr wrap="square" lIns="0" tIns="0" rIns="0" bIns="0" rtlCol="0" anchor="ctr">
            <a:normAutofit/>
          </a:bodyPr>
          <a:lstStyle/>
          <a:p>
            <a:pPr marL="0" indent="0" algn="ctr">
              <a:buNone/>
            </a:pPr>
            <a:r>
              <a:rPr lang="en-US" sz="950" b="1" dirty="0">
                <a:solidFill>
                  <a:srgbClr val="D89B2B"/>
                </a:solidFill>
              </a:rPr>
              <a:t>NEEDS POS / COST / AUDIT FIELDS</a:t>
            </a:r>
            <a:endParaRPr lang="en-US" sz="950" dirty="0"/>
          </a:p>
        </p:txBody>
      </p:sp>
      <p:sp>
        <p:nvSpPr>
          <p:cNvPr id="68" name="Text 66"/>
          <p:cNvSpPr/>
          <p:nvPr/>
        </p:nvSpPr>
        <p:spPr>
          <a:xfrm>
            <a:off x="6995160" y="6062472"/>
            <a:ext cx="4251960" cy="164592"/>
          </a:xfrm>
          <a:prstGeom prst="rect">
            <a:avLst/>
          </a:prstGeom>
          <a:noFill/>
          <a:ln/>
        </p:spPr>
        <p:txBody>
          <a:bodyPr wrap="square" lIns="0" tIns="0" rIns="0" bIns="0" rtlCol="0" anchor="ctr">
            <a:normAutofit fontScale="92500"/>
          </a:bodyPr>
          <a:lstStyle/>
          <a:p>
            <a:pPr marL="0" indent="0" algn="r">
              <a:buNone/>
            </a:pPr>
            <a:r>
              <a:rPr lang="en-US" sz="880" dirty="0">
                <a:solidFill>
                  <a:srgbClr val="6B7280"/>
                </a:solidFill>
              </a:rPr>
              <a:t>All report names are proposed; no loyalty-specific DIWA report is currently configured in source.</a:t>
            </a:r>
            <a:endParaRPr lang="en-US" sz="880" dirty="0"/>
          </a:p>
        </p:txBody>
      </p:sp>
      <p:sp>
        <p:nvSpPr>
          <p:cNvPr id="69" name="Text 67"/>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Derivation: loyalty table fields + DIWA aggregation/filter/chart capabilities; current DIWA has no loyalty-specific models/routes/reports.</a:t>
            </a:r>
            <a:endParaRPr lang="en-US" sz="750" dirty="0"/>
          </a:p>
        </p:txBody>
      </p:sp>
      <p:sp>
        <p:nvSpPr>
          <p:cNvPr id="70"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Core KPI definitions for DIWA</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Use explicit formulas so campaign dashboards remain consistent across viewers and time periods.</a:t>
            </a:r>
            <a:endParaRPr lang="en-US" sz="1250" dirty="0"/>
          </a:p>
        </p:txBody>
      </p:sp>
      <p:sp>
        <p:nvSpPr>
          <p:cNvPr id="4" name="Shape 2"/>
          <p:cNvSpPr/>
          <p:nvPr/>
        </p:nvSpPr>
        <p:spPr>
          <a:xfrm>
            <a:off x="594360" y="1325880"/>
            <a:ext cx="11018520" cy="4800600"/>
          </a:xfrm>
          <a:prstGeom prst="roundRect">
            <a:avLst>
              <a:gd name="adj" fmla="val 1143"/>
            </a:avLst>
          </a:prstGeom>
          <a:solidFill>
            <a:srgbClr val="FBFBFB"/>
          </a:solidFill>
          <a:ln w="12700">
            <a:solidFill>
              <a:srgbClr val="D1D5DB"/>
            </a:solidFill>
            <a:prstDash val="solid"/>
          </a:ln>
        </p:spPr>
      </p:sp>
      <p:sp>
        <p:nvSpPr>
          <p:cNvPr id="5" name="Text 3"/>
          <p:cNvSpPr/>
          <p:nvPr/>
        </p:nvSpPr>
        <p:spPr>
          <a:xfrm>
            <a:off x="868680" y="1572768"/>
            <a:ext cx="2103120" cy="201168"/>
          </a:xfrm>
          <a:prstGeom prst="rect">
            <a:avLst/>
          </a:prstGeom>
          <a:noFill/>
          <a:ln/>
        </p:spPr>
        <p:txBody>
          <a:bodyPr wrap="square" lIns="0" tIns="0" rIns="0" bIns="0" rtlCol="0" anchor="ctr"/>
          <a:lstStyle/>
          <a:p>
            <a:pPr marL="0" indent="0">
              <a:buNone/>
            </a:pPr>
            <a:r>
              <a:rPr lang="en-US" sz="1100" b="1" dirty="0">
                <a:solidFill>
                  <a:srgbClr val="6B7280"/>
                </a:solidFill>
              </a:rPr>
              <a:t>Metric</a:t>
            </a:r>
            <a:endParaRPr lang="en-US" sz="1100" dirty="0"/>
          </a:p>
        </p:txBody>
      </p:sp>
      <p:sp>
        <p:nvSpPr>
          <p:cNvPr id="6" name="Text 4"/>
          <p:cNvSpPr/>
          <p:nvPr/>
        </p:nvSpPr>
        <p:spPr>
          <a:xfrm>
            <a:off x="3154680" y="1572768"/>
            <a:ext cx="5212080" cy="201168"/>
          </a:xfrm>
          <a:prstGeom prst="rect">
            <a:avLst/>
          </a:prstGeom>
          <a:noFill/>
          <a:ln/>
        </p:spPr>
        <p:txBody>
          <a:bodyPr wrap="square" lIns="0" tIns="0" rIns="0" bIns="0" rtlCol="0" anchor="ctr"/>
          <a:lstStyle/>
          <a:p>
            <a:pPr marL="0" indent="0">
              <a:buNone/>
            </a:pPr>
            <a:r>
              <a:rPr lang="en-US" sz="1100" b="1" dirty="0">
                <a:solidFill>
                  <a:srgbClr val="6B7280"/>
                </a:solidFill>
              </a:rPr>
              <a:t>Definition</a:t>
            </a:r>
            <a:endParaRPr lang="en-US" sz="1100" dirty="0"/>
          </a:p>
        </p:txBody>
      </p:sp>
      <p:sp>
        <p:nvSpPr>
          <p:cNvPr id="7" name="Text 5"/>
          <p:cNvSpPr/>
          <p:nvPr/>
        </p:nvSpPr>
        <p:spPr>
          <a:xfrm>
            <a:off x="8686800" y="1572768"/>
            <a:ext cx="2194560" cy="201168"/>
          </a:xfrm>
          <a:prstGeom prst="rect">
            <a:avLst/>
          </a:prstGeom>
          <a:noFill/>
          <a:ln/>
        </p:spPr>
        <p:txBody>
          <a:bodyPr wrap="square" lIns="0" tIns="0" rIns="0" bIns="0" rtlCol="0" anchor="ctr"/>
          <a:lstStyle/>
          <a:p>
            <a:pPr marL="0" indent="0">
              <a:buNone/>
            </a:pPr>
            <a:r>
              <a:rPr lang="en-US" sz="1100" b="1" dirty="0">
                <a:solidFill>
                  <a:srgbClr val="6B7280"/>
                </a:solidFill>
              </a:rPr>
              <a:t>Primary source</a:t>
            </a:r>
            <a:endParaRPr lang="en-US" sz="1100" dirty="0"/>
          </a:p>
        </p:txBody>
      </p:sp>
      <p:sp>
        <p:nvSpPr>
          <p:cNvPr id="8" name="Shape 6"/>
          <p:cNvSpPr/>
          <p:nvPr/>
        </p:nvSpPr>
        <p:spPr>
          <a:xfrm>
            <a:off x="758952" y="1837944"/>
            <a:ext cx="10698480" cy="347472"/>
          </a:xfrm>
          <a:prstGeom prst="rect">
            <a:avLst/>
          </a:prstGeom>
          <a:solidFill>
            <a:srgbClr val="FFFFFF"/>
          </a:solidFill>
          <a:ln w="12700">
            <a:solidFill>
              <a:srgbClr val="FFFFFF"/>
            </a:solidFill>
            <a:prstDash val="solid"/>
          </a:ln>
        </p:spPr>
      </p:sp>
      <p:sp>
        <p:nvSpPr>
          <p:cNvPr id="9" name="Text 7"/>
          <p:cNvSpPr/>
          <p:nvPr/>
        </p:nvSpPr>
        <p:spPr>
          <a:xfrm>
            <a:off x="886968" y="1892808"/>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Stamps earned</a:t>
            </a:r>
            <a:endParaRPr lang="en-US" sz="980" dirty="0"/>
          </a:p>
        </p:txBody>
      </p:sp>
      <p:sp>
        <p:nvSpPr>
          <p:cNvPr id="10" name="Text 8"/>
          <p:cNvSpPr/>
          <p:nvPr/>
        </p:nvSpPr>
        <p:spPr>
          <a:xfrm>
            <a:off x="3154680" y="1892808"/>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SUM(points) WHERE type = earn</a:t>
            </a:r>
            <a:endParaRPr lang="en-US" sz="930" dirty="0"/>
          </a:p>
        </p:txBody>
      </p:sp>
      <p:sp>
        <p:nvSpPr>
          <p:cNvPr id="11" name="Text 9"/>
          <p:cNvSpPr/>
          <p:nvPr/>
        </p:nvSpPr>
        <p:spPr>
          <a:xfrm>
            <a:off x="8686800" y="1892808"/>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loyalty_transactions</a:t>
            </a:r>
            <a:endParaRPr lang="en-US" sz="930" dirty="0"/>
          </a:p>
        </p:txBody>
      </p:sp>
      <p:sp>
        <p:nvSpPr>
          <p:cNvPr id="12" name="Text 10"/>
          <p:cNvSpPr/>
          <p:nvPr/>
        </p:nvSpPr>
        <p:spPr>
          <a:xfrm>
            <a:off x="886968" y="2286000"/>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Rewards redeemed</a:t>
            </a:r>
            <a:endParaRPr lang="en-US" sz="980" dirty="0"/>
          </a:p>
        </p:txBody>
      </p:sp>
      <p:sp>
        <p:nvSpPr>
          <p:cNvPr id="13" name="Text 11"/>
          <p:cNvSpPr/>
          <p:nvPr/>
        </p:nvSpPr>
        <p:spPr>
          <a:xfrm>
            <a:off x="3154680" y="2286000"/>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COUNT(*) WHERE type = redeem</a:t>
            </a:r>
            <a:endParaRPr lang="en-US" sz="930" dirty="0"/>
          </a:p>
        </p:txBody>
      </p:sp>
      <p:sp>
        <p:nvSpPr>
          <p:cNvPr id="14" name="Text 12"/>
          <p:cNvSpPr/>
          <p:nvPr/>
        </p:nvSpPr>
        <p:spPr>
          <a:xfrm>
            <a:off x="8686800" y="2286000"/>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loyalty_transactions</a:t>
            </a:r>
            <a:endParaRPr lang="en-US" sz="930" dirty="0"/>
          </a:p>
        </p:txBody>
      </p:sp>
      <p:sp>
        <p:nvSpPr>
          <p:cNvPr id="15" name="Shape 13"/>
          <p:cNvSpPr/>
          <p:nvPr/>
        </p:nvSpPr>
        <p:spPr>
          <a:xfrm>
            <a:off x="758952" y="2624328"/>
            <a:ext cx="10698480" cy="347472"/>
          </a:xfrm>
          <a:prstGeom prst="rect">
            <a:avLst/>
          </a:prstGeom>
          <a:solidFill>
            <a:srgbClr val="FFFFFF"/>
          </a:solidFill>
          <a:ln w="12700">
            <a:solidFill>
              <a:srgbClr val="FFFFFF"/>
            </a:solidFill>
            <a:prstDash val="solid"/>
          </a:ln>
        </p:spPr>
      </p:sp>
      <p:sp>
        <p:nvSpPr>
          <p:cNvPr id="16" name="Text 14"/>
          <p:cNvSpPr/>
          <p:nvPr/>
        </p:nvSpPr>
        <p:spPr>
          <a:xfrm>
            <a:off x="886968" y="2679192"/>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Completed cards</a:t>
            </a:r>
            <a:endParaRPr lang="en-US" sz="980" dirty="0"/>
          </a:p>
        </p:txBody>
      </p:sp>
      <p:sp>
        <p:nvSpPr>
          <p:cNvPr id="17" name="Text 15"/>
          <p:cNvSpPr/>
          <p:nvPr/>
        </p:nvSpPr>
        <p:spPr>
          <a:xfrm>
            <a:off x="3154680" y="2679192"/>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COUNT(stamp_cards.completed_at)</a:t>
            </a:r>
            <a:endParaRPr lang="en-US" sz="930" dirty="0"/>
          </a:p>
        </p:txBody>
      </p:sp>
      <p:sp>
        <p:nvSpPr>
          <p:cNvPr id="18" name="Text 16"/>
          <p:cNvSpPr/>
          <p:nvPr/>
        </p:nvSpPr>
        <p:spPr>
          <a:xfrm>
            <a:off x="8686800" y="2679192"/>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stamp_cards</a:t>
            </a:r>
            <a:endParaRPr lang="en-US" sz="930" dirty="0"/>
          </a:p>
        </p:txBody>
      </p:sp>
      <p:sp>
        <p:nvSpPr>
          <p:cNvPr id="19" name="Text 17"/>
          <p:cNvSpPr/>
          <p:nvPr/>
        </p:nvSpPr>
        <p:spPr>
          <a:xfrm>
            <a:off x="886968" y="3072384"/>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Redemption rate</a:t>
            </a:r>
            <a:endParaRPr lang="en-US" sz="980" dirty="0"/>
          </a:p>
        </p:txBody>
      </p:sp>
      <p:sp>
        <p:nvSpPr>
          <p:cNvPr id="20" name="Text 18"/>
          <p:cNvSpPr/>
          <p:nvPr/>
        </p:nvSpPr>
        <p:spPr>
          <a:xfrm>
            <a:off x="3154680" y="3072384"/>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redeemed cards ÷ completed cards</a:t>
            </a:r>
            <a:endParaRPr lang="en-US" sz="930" dirty="0"/>
          </a:p>
        </p:txBody>
      </p:sp>
      <p:sp>
        <p:nvSpPr>
          <p:cNvPr id="21" name="Text 19"/>
          <p:cNvSpPr/>
          <p:nvPr/>
        </p:nvSpPr>
        <p:spPr>
          <a:xfrm>
            <a:off x="8686800" y="3072384"/>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stamp_cards</a:t>
            </a:r>
            <a:endParaRPr lang="en-US" sz="930" dirty="0"/>
          </a:p>
        </p:txBody>
      </p:sp>
      <p:sp>
        <p:nvSpPr>
          <p:cNvPr id="22" name="Shape 20"/>
          <p:cNvSpPr/>
          <p:nvPr/>
        </p:nvSpPr>
        <p:spPr>
          <a:xfrm>
            <a:off x="758952" y="3410712"/>
            <a:ext cx="10698480" cy="347472"/>
          </a:xfrm>
          <a:prstGeom prst="rect">
            <a:avLst/>
          </a:prstGeom>
          <a:solidFill>
            <a:srgbClr val="FFFFFF"/>
          </a:solidFill>
          <a:ln w="12700">
            <a:solidFill>
              <a:srgbClr val="FFFFFF"/>
            </a:solidFill>
            <a:prstDash val="solid"/>
          </a:ln>
        </p:spPr>
      </p:sp>
      <p:sp>
        <p:nvSpPr>
          <p:cNvPr id="23" name="Text 21"/>
          <p:cNvSpPr/>
          <p:nvPr/>
        </p:nvSpPr>
        <p:spPr>
          <a:xfrm>
            <a:off x="886968" y="3465576"/>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Open stamp balance</a:t>
            </a:r>
            <a:endParaRPr lang="en-US" sz="980" dirty="0"/>
          </a:p>
        </p:txBody>
      </p:sp>
      <p:sp>
        <p:nvSpPr>
          <p:cNvPr id="24" name="Text 22"/>
          <p:cNvSpPr/>
          <p:nvPr/>
        </p:nvSpPr>
        <p:spPr>
          <a:xfrm>
            <a:off x="3154680" y="3465576"/>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SUM(earn points) − ABS(SUM(redeem points))</a:t>
            </a:r>
            <a:endParaRPr lang="en-US" sz="930" dirty="0"/>
          </a:p>
        </p:txBody>
      </p:sp>
      <p:sp>
        <p:nvSpPr>
          <p:cNvPr id="25" name="Text 23"/>
          <p:cNvSpPr/>
          <p:nvPr/>
        </p:nvSpPr>
        <p:spPr>
          <a:xfrm>
            <a:off x="8686800" y="3465576"/>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loyalty_transactions</a:t>
            </a:r>
            <a:endParaRPr lang="en-US" sz="930" dirty="0"/>
          </a:p>
        </p:txBody>
      </p:sp>
      <p:sp>
        <p:nvSpPr>
          <p:cNvPr id="26" name="Text 24"/>
          <p:cNvSpPr/>
          <p:nvPr/>
        </p:nvSpPr>
        <p:spPr>
          <a:xfrm>
            <a:off x="886968" y="3858768"/>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Completion rate</a:t>
            </a:r>
            <a:endParaRPr lang="en-US" sz="980" dirty="0"/>
          </a:p>
        </p:txBody>
      </p:sp>
      <p:sp>
        <p:nvSpPr>
          <p:cNvPr id="27" name="Text 25"/>
          <p:cNvSpPr/>
          <p:nvPr/>
        </p:nvSpPr>
        <p:spPr>
          <a:xfrm>
            <a:off x="3154680" y="3858768"/>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members with completed card ÷ members who earned ≥1 stamp</a:t>
            </a:r>
            <a:endParaRPr lang="en-US" sz="930" dirty="0"/>
          </a:p>
        </p:txBody>
      </p:sp>
      <p:sp>
        <p:nvSpPr>
          <p:cNvPr id="28" name="Text 26"/>
          <p:cNvSpPr/>
          <p:nvPr/>
        </p:nvSpPr>
        <p:spPr>
          <a:xfrm>
            <a:off x="8686800" y="3858768"/>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cards + transactions</a:t>
            </a:r>
            <a:endParaRPr lang="en-US" sz="930" dirty="0"/>
          </a:p>
        </p:txBody>
      </p:sp>
      <p:sp>
        <p:nvSpPr>
          <p:cNvPr id="29" name="Shape 27"/>
          <p:cNvSpPr/>
          <p:nvPr/>
        </p:nvSpPr>
        <p:spPr>
          <a:xfrm>
            <a:off x="758952" y="4197096"/>
            <a:ext cx="10698480" cy="347472"/>
          </a:xfrm>
          <a:prstGeom prst="rect">
            <a:avLst/>
          </a:prstGeom>
          <a:solidFill>
            <a:srgbClr val="FFFFFF"/>
          </a:solidFill>
          <a:ln w="12700">
            <a:solidFill>
              <a:srgbClr val="FFFFFF"/>
            </a:solidFill>
            <a:prstDash val="solid"/>
          </a:ln>
        </p:spPr>
      </p:sp>
      <p:sp>
        <p:nvSpPr>
          <p:cNvPr id="30" name="Text 28"/>
          <p:cNvSpPr/>
          <p:nvPr/>
        </p:nvSpPr>
        <p:spPr>
          <a:xfrm>
            <a:off x="886968" y="4251960"/>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Average stamps to complete</a:t>
            </a:r>
            <a:endParaRPr lang="en-US" sz="980" dirty="0"/>
          </a:p>
        </p:txBody>
      </p:sp>
      <p:sp>
        <p:nvSpPr>
          <p:cNvPr id="31" name="Text 29"/>
          <p:cNvSpPr/>
          <p:nvPr/>
        </p:nvSpPr>
        <p:spPr>
          <a:xfrm>
            <a:off x="3154680" y="4251960"/>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AVG(required_stamps) for completed cards</a:t>
            </a:r>
            <a:endParaRPr lang="en-US" sz="930" dirty="0"/>
          </a:p>
        </p:txBody>
      </p:sp>
      <p:sp>
        <p:nvSpPr>
          <p:cNvPr id="32" name="Text 30"/>
          <p:cNvSpPr/>
          <p:nvPr/>
        </p:nvSpPr>
        <p:spPr>
          <a:xfrm>
            <a:off x="8686800" y="4251960"/>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cards + campaigns</a:t>
            </a:r>
            <a:endParaRPr lang="en-US" sz="930" dirty="0"/>
          </a:p>
        </p:txBody>
      </p:sp>
      <p:sp>
        <p:nvSpPr>
          <p:cNvPr id="33" name="Text 31"/>
          <p:cNvSpPr/>
          <p:nvPr/>
        </p:nvSpPr>
        <p:spPr>
          <a:xfrm>
            <a:off x="886968" y="4645152"/>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Redemption lag</a:t>
            </a:r>
            <a:endParaRPr lang="en-US" sz="980" dirty="0"/>
          </a:p>
        </p:txBody>
      </p:sp>
      <p:sp>
        <p:nvSpPr>
          <p:cNvPr id="34" name="Text 32"/>
          <p:cNvSpPr/>
          <p:nvPr/>
        </p:nvSpPr>
        <p:spPr>
          <a:xfrm>
            <a:off x="3154680" y="4645152"/>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AVG(redeemed_at − completed_at)</a:t>
            </a:r>
            <a:endParaRPr lang="en-US" sz="930" dirty="0"/>
          </a:p>
        </p:txBody>
      </p:sp>
      <p:sp>
        <p:nvSpPr>
          <p:cNvPr id="35" name="Text 33"/>
          <p:cNvSpPr/>
          <p:nvPr/>
        </p:nvSpPr>
        <p:spPr>
          <a:xfrm>
            <a:off x="8686800" y="4645152"/>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stamp_cards</a:t>
            </a:r>
            <a:endParaRPr lang="en-US" sz="930" dirty="0"/>
          </a:p>
        </p:txBody>
      </p:sp>
      <p:sp>
        <p:nvSpPr>
          <p:cNvPr id="36" name="Shape 34"/>
          <p:cNvSpPr/>
          <p:nvPr/>
        </p:nvSpPr>
        <p:spPr>
          <a:xfrm>
            <a:off x="758952" y="4983480"/>
            <a:ext cx="10698480" cy="347472"/>
          </a:xfrm>
          <a:prstGeom prst="rect">
            <a:avLst/>
          </a:prstGeom>
          <a:solidFill>
            <a:srgbClr val="FFFFFF"/>
          </a:solidFill>
          <a:ln w="12700">
            <a:solidFill>
              <a:srgbClr val="FFFFFF"/>
            </a:solidFill>
            <a:prstDash val="solid"/>
          </a:ln>
        </p:spPr>
      </p:sp>
      <p:sp>
        <p:nvSpPr>
          <p:cNvPr id="37" name="Text 35"/>
          <p:cNvSpPr/>
          <p:nvPr/>
        </p:nvSpPr>
        <p:spPr>
          <a:xfrm>
            <a:off x="886968" y="5038344"/>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Repeat-cycle rate</a:t>
            </a:r>
            <a:endParaRPr lang="en-US" sz="980" dirty="0"/>
          </a:p>
        </p:txBody>
      </p:sp>
      <p:sp>
        <p:nvSpPr>
          <p:cNvPr id="38" name="Text 36"/>
          <p:cNvSpPr/>
          <p:nvPr/>
        </p:nvSpPr>
        <p:spPr>
          <a:xfrm>
            <a:off x="3154680" y="5038344"/>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members reaching cycle &gt; 1 ÷ members with any card</a:t>
            </a:r>
            <a:endParaRPr lang="en-US" sz="930" dirty="0"/>
          </a:p>
        </p:txBody>
      </p:sp>
      <p:sp>
        <p:nvSpPr>
          <p:cNvPr id="39" name="Text 37"/>
          <p:cNvSpPr/>
          <p:nvPr/>
        </p:nvSpPr>
        <p:spPr>
          <a:xfrm>
            <a:off x="8686800" y="5038344"/>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stamp_cards</a:t>
            </a:r>
            <a:endParaRPr lang="en-US" sz="930" dirty="0"/>
          </a:p>
        </p:txBody>
      </p:sp>
      <p:sp>
        <p:nvSpPr>
          <p:cNvPr id="40" name="Text 38"/>
          <p:cNvSpPr/>
          <p:nvPr/>
        </p:nvSpPr>
        <p:spPr>
          <a:xfrm>
            <a:off x="886968" y="5431536"/>
            <a:ext cx="2057400" cy="164592"/>
          </a:xfrm>
          <a:prstGeom prst="rect">
            <a:avLst/>
          </a:prstGeom>
          <a:noFill/>
          <a:ln/>
        </p:spPr>
        <p:txBody>
          <a:bodyPr wrap="square" lIns="0" tIns="0" rIns="0" bIns="0" rtlCol="0" anchor="ctr">
            <a:normAutofit/>
          </a:bodyPr>
          <a:lstStyle/>
          <a:p>
            <a:pPr marL="0" indent="0">
              <a:buNone/>
            </a:pPr>
            <a:r>
              <a:rPr lang="en-US" sz="980" b="1" dirty="0">
                <a:solidFill>
                  <a:srgbClr val="2B1D16"/>
                </a:solidFill>
              </a:rPr>
              <a:t>Active member</a:t>
            </a:r>
            <a:endParaRPr lang="en-US" sz="980" dirty="0"/>
          </a:p>
        </p:txBody>
      </p:sp>
      <p:sp>
        <p:nvSpPr>
          <p:cNvPr id="41" name="Text 39"/>
          <p:cNvSpPr/>
          <p:nvPr/>
        </p:nvSpPr>
        <p:spPr>
          <a:xfrm>
            <a:off x="3154680" y="5431536"/>
            <a:ext cx="5212080" cy="164592"/>
          </a:xfrm>
          <a:prstGeom prst="rect">
            <a:avLst/>
          </a:prstGeom>
          <a:noFill/>
          <a:ln/>
        </p:spPr>
        <p:txBody>
          <a:bodyPr wrap="square" lIns="0" tIns="0" rIns="0" bIns="0" rtlCol="0" anchor="ctr">
            <a:normAutofit/>
          </a:bodyPr>
          <a:lstStyle/>
          <a:p>
            <a:pPr marL="0" indent="0">
              <a:buNone/>
            </a:pPr>
            <a:r>
              <a:rPr lang="en-US" sz="930" dirty="0">
                <a:solidFill>
                  <a:srgbClr val="252525"/>
                </a:solidFill>
              </a:rPr>
              <a:t>distinct user with event inside selected date window</a:t>
            </a:r>
            <a:endParaRPr lang="en-US" sz="930" dirty="0"/>
          </a:p>
        </p:txBody>
      </p:sp>
      <p:sp>
        <p:nvSpPr>
          <p:cNvPr id="42" name="Text 40"/>
          <p:cNvSpPr/>
          <p:nvPr/>
        </p:nvSpPr>
        <p:spPr>
          <a:xfrm>
            <a:off x="8686800" y="5431536"/>
            <a:ext cx="2377440" cy="164592"/>
          </a:xfrm>
          <a:prstGeom prst="rect">
            <a:avLst/>
          </a:prstGeom>
          <a:noFill/>
          <a:ln/>
        </p:spPr>
        <p:txBody>
          <a:bodyPr wrap="square" lIns="0" tIns="0" rIns="0" bIns="0" rtlCol="0" anchor="ctr">
            <a:normAutofit/>
          </a:bodyPr>
          <a:lstStyle/>
          <a:p>
            <a:pPr marL="0" indent="0">
              <a:buNone/>
            </a:pPr>
            <a:r>
              <a:rPr lang="en-US" sz="930" dirty="0">
                <a:solidFill>
                  <a:srgbClr val="6D28D9"/>
                </a:solidFill>
              </a:rPr>
              <a:t>transactions</a:t>
            </a:r>
            <a:endParaRPr lang="en-US" sz="930" dirty="0"/>
          </a:p>
        </p:txBody>
      </p:sp>
      <p:sp>
        <p:nvSpPr>
          <p:cNvPr id="43" name="Text 41"/>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Formula recommendations based on loyalty_tables.dart and LoyaltyDao ledger semantics.</a:t>
            </a:r>
            <a:endParaRPr lang="en-US" sz="750" dirty="0"/>
          </a:p>
        </p:txBody>
      </p:sp>
      <p:sp>
        <p:nvSpPr>
          <p:cNvPr id="44"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Security, auditability and data-quality controls</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The reporting layer is only as trustworthy as the POS event and central ingestion controls.</a:t>
            </a:r>
            <a:endParaRPr lang="en-US" sz="1250" dirty="0"/>
          </a:p>
        </p:txBody>
      </p:sp>
      <p:sp>
        <p:nvSpPr>
          <p:cNvPr id="4" name="Shape 2"/>
          <p:cNvSpPr/>
          <p:nvPr/>
        </p:nvSpPr>
        <p:spPr>
          <a:xfrm>
            <a:off x="621792" y="1389888"/>
            <a:ext cx="5285232" cy="1965960"/>
          </a:xfrm>
          <a:prstGeom prst="roundRect">
            <a:avLst>
              <a:gd name="adj" fmla="val 3721"/>
            </a:avLst>
          </a:prstGeom>
          <a:solidFill>
            <a:srgbClr val="E9F1FF"/>
          </a:solidFill>
          <a:ln w="13970">
            <a:solidFill>
              <a:srgbClr val="2563EB"/>
            </a:solidFill>
            <a:prstDash val="solid"/>
          </a:ln>
        </p:spPr>
      </p:sp>
      <p:sp>
        <p:nvSpPr>
          <p:cNvPr id="5" name="Shape 3"/>
          <p:cNvSpPr/>
          <p:nvPr/>
        </p:nvSpPr>
        <p:spPr>
          <a:xfrm>
            <a:off x="768096" y="1536192"/>
            <a:ext cx="310896" cy="310896"/>
          </a:xfrm>
          <a:prstGeom prst="ellipse">
            <a:avLst/>
          </a:prstGeom>
          <a:solidFill>
            <a:srgbClr val="2563EB"/>
          </a:solidFill>
          <a:ln w="12700">
            <a:solidFill>
              <a:srgbClr val="2563EB"/>
            </a:solidFill>
            <a:prstDash val="solid"/>
          </a:ln>
        </p:spPr>
      </p:sp>
      <p:sp>
        <p:nvSpPr>
          <p:cNvPr id="6" name="Text 4"/>
          <p:cNvSpPr/>
          <p:nvPr/>
        </p:nvSpPr>
        <p:spPr>
          <a:xfrm>
            <a:off x="768096" y="1604772"/>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1170432" y="1527048"/>
            <a:ext cx="4590288"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Identity &amp; access</a:t>
            </a:r>
            <a:endParaRPr lang="en-US" sz="1600" dirty="0"/>
          </a:p>
        </p:txBody>
      </p:sp>
      <p:sp>
        <p:nvSpPr>
          <p:cNvPr id="8" name="Text 6"/>
          <p:cNvSpPr/>
          <p:nvPr/>
        </p:nvSpPr>
        <p:spPr>
          <a:xfrm>
            <a:off x="877824" y="1965960"/>
            <a:ext cx="4727448" cy="1188720"/>
          </a:xfrm>
          <a:prstGeom prst="rect">
            <a:avLst/>
          </a:prstGeom>
          <a:noFill/>
          <a:ln/>
        </p:spPr>
        <p:txBody>
          <a:bodyPr wrap="square" lIns="508" tIns="508" rIns="508" bIns="508" rtlCol="0" anchor="t">
            <a:normAutofit/>
          </a:bodyPr>
          <a:lstStyle/>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POS uses per-terminal credentials or mTLS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Customer session/token never authorizes arbitrary sale data</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DIWA uses granular reports.* and report-datasets.* permissions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Share reports by owner, role, company or public policy</a:t>
            </a:r>
            <a:endParaRPr lang="en-US" sz="1020" dirty="0"/>
          </a:p>
        </p:txBody>
      </p:sp>
      <p:sp>
        <p:nvSpPr>
          <p:cNvPr id="9" name="Shape 7"/>
          <p:cNvSpPr/>
          <p:nvPr/>
        </p:nvSpPr>
        <p:spPr>
          <a:xfrm>
            <a:off x="6272784" y="1389888"/>
            <a:ext cx="5285232" cy="1965960"/>
          </a:xfrm>
          <a:prstGeom prst="roundRect">
            <a:avLst>
              <a:gd name="adj" fmla="val 3721"/>
            </a:avLst>
          </a:prstGeom>
          <a:solidFill>
            <a:srgbClr val="F0E9FF"/>
          </a:solidFill>
          <a:ln w="13970">
            <a:solidFill>
              <a:srgbClr val="6D28D9"/>
            </a:solidFill>
            <a:prstDash val="solid"/>
          </a:ln>
        </p:spPr>
      </p:sp>
      <p:sp>
        <p:nvSpPr>
          <p:cNvPr id="10" name="Shape 8"/>
          <p:cNvSpPr/>
          <p:nvPr/>
        </p:nvSpPr>
        <p:spPr>
          <a:xfrm>
            <a:off x="6419088" y="1536192"/>
            <a:ext cx="310896" cy="310896"/>
          </a:xfrm>
          <a:prstGeom prst="ellipse">
            <a:avLst/>
          </a:prstGeom>
          <a:solidFill>
            <a:srgbClr val="6D28D9"/>
          </a:solidFill>
          <a:ln w="12700">
            <a:solidFill>
              <a:srgbClr val="6D28D9"/>
            </a:solidFill>
            <a:prstDash val="solid"/>
          </a:ln>
        </p:spPr>
      </p:sp>
      <p:sp>
        <p:nvSpPr>
          <p:cNvPr id="11" name="Text 9"/>
          <p:cNvSpPr/>
          <p:nvPr/>
        </p:nvSpPr>
        <p:spPr>
          <a:xfrm>
            <a:off x="6419088" y="1604772"/>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6821424" y="1527048"/>
            <a:ext cx="4590288"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Integrity</a:t>
            </a:r>
            <a:endParaRPr lang="en-US" sz="1600" dirty="0"/>
          </a:p>
        </p:txBody>
      </p:sp>
      <p:sp>
        <p:nvSpPr>
          <p:cNvPr id="13" name="Text 11"/>
          <p:cNvSpPr/>
          <p:nvPr/>
        </p:nvSpPr>
        <p:spPr>
          <a:xfrm>
            <a:off x="6528816" y="1965960"/>
            <a:ext cx="4727448" cy="1188720"/>
          </a:xfrm>
          <a:prstGeom prst="rect">
            <a:avLst/>
          </a:prstGeom>
          <a:noFill/>
          <a:ln/>
        </p:spPr>
        <p:txBody>
          <a:bodyPr wrap="square" lIns="508" tIns="508" rIns="508" bIns="508" rtlCol="0" anchor="t">
            <a:normAutofit/>
          </a:bodyPr>
          <a:lstStyle/>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Unique scan token + idempotency/request key</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Receipt/line uniqueness for earn actions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Atomic card + ledger commit</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Immutable event/audit table for approvals and rejections</a:t>
            </a:r>
            <a:endParaRPr lang="en-US" sz="1020" dirty="0"/>
          </a:p>
        </p:txBody>
      </p:sp>
      <p:sp>
        <p:nvSpPr>
          <p:cNvPr id="14" name="Shape 12"/>
          <p:cNvSpPr/>
          <p:nvPr/>
        </p:nvSpPr>
        <p:spPr>
          <a:xfrm>
            <a:off x="621792" y="3721608"/>
            <a:ext cx="5285232" cy="1965960"/>
          </a:xfrm>
          <a:prstGeom prst="roundRect">
            <a:avLst>
              <a:gd name="adj" fmla="val 3721"/>
            </a:avLst>
          </a:prstGeom>
          <a:solidFill>
            <a:srgbClr val="DDF4EF"/>
          </a:solidFill>
          <a:ln w="13970">
            <a:solidFill>
              <a:srgbClr val="0F766E"/>
            </a:solidFill>
            <a:prstDash val="solid"/>
          </a:ln>
        </p:spPr>
      </p:sp>
      <p:sp>
        <p:nvSpPr>
          <p:cNvPr id="15" name="Shape 13"/>
          <p:cNvSpPr/>
          <p:nvPr/>
        </p:nvSpPr>
        <p:spPr>
          <a:xfrm>
            <a:off x="768096" y="3867912"/>
            <a:ext cx="310896" cy="310896"/>
          </a:xfrm>
          <a:prstGeom prst="ellipse">
            <a:avLst/>
          </a:prstGeom>
          <a:solidFill>
            <a:srgbClr val="0F766E"/>
          </a:solidFill>
          <a:ln w="12700">
            <a:solidFill>
              <a:srgbClr val="0F766E"/>
            </a:solidFill>
            <a:prstDash val="solid"/>
          </a:ln>
        </p:spPr>
      </p:sp>
      <p:sp>
        <p:nvSpPr>
          <p:cNvPr id="16" name="Text 14"/>
          <p:cNvSpPr/>
          <p:nvPr/>
        </p:nvSpPr>
        <p:spPr>
          <a:xfrm>
            <a:off x="768096" y="3936492"/>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1170432" y="3858768"/>
            <a:ext cx="4590288"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Privacy</a:t>
            </a:r>
            <a:endParaRPr lang="en-US" sz="1600" dirty="0"/>
          </a:p>
        </p:txBody>
      </p:sp>
      <p:sp>
        <p:nvSpPr>
          <p:cNvPr id="18" name="Text 16"/>
          <p:cNvSpPr/>
          <p:nvPr/>
        </p:nvSpPr>
        <p:spPr>
          <a:xfrm>
            <a:off x="877824" y="4297680"/>
            <a:ext cx="4727448" cy="1188720"/>
          </a:xfrm>
          <a:prstGeom prst="rect">
            <a:avLst/>
          </a:prstGeom>
          <a:noFill/>
          <a:ln/>
        </p:spPr>
        <p:txBody>
          <a:bodyPr wrap="square" lIns="508" tIns="508" rIns="508" bIns="508" rtlCol="0" anchor="t">
            <a:normAutofit/>
          </a:bodyPr>
          <a:lstStyle/>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Allowlist tables and exclude sensitive columns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Use member surrogate IDs in analytics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Restrict PII dataset fields and exports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Retention and deletion policy for QR/token/audit data</a:t>
            </a:r>
            <a:endParaRPr lang="en-US" sz="1020" dirty="0"/>
          </a:p>
        </p:txBody>
      </p:sp>
      <p:sp>
        <p:nvSpPr>
          <p:cNvPr id="19" name="Shape 17"/>
          <p:cNvSpPr/>
          <p:nvPr/>
        </p:nvSpPr>
        <p:spPr>
          <a:xfrm>
            <a:off x="6272784" y="3721608"/>
            <a:ext cx="5285232" cy="1965960"/>
          </a:xfrm>
          <a:prstGeom prst="roundRect">
            <a:avLst>
              <a:gd name="adj" fmla="val 3721"/>
            </a:avLst>
          </a:prstGeom>
          <a:solidFill>
            <a:srgbClr val="FFF8EF"/>
          </a:solidFill>
          <a:ln w="13970">
            <a:solidFill>
              <a:srgbClr val="D89B2B"/>
            </a:solidFill>
            <a:prstDash val="solid"/>
          </a:ln>
        </p:spPr>
      </p:sp>
      <p:sp>
        <p:nvSpPr>
          <p:cNvPr id="20" name="Shape 18"/>
          <p:cNvSpPr/>
          <p:nvPr/>
        </p:nvSpPr>
        <p:spPr>
          <a:xfrm>
            <a:off x="6419088" y="3867912"/>
            <a:ext cx="310896" cy="310896"/>
          </a:xfrm>
          <a:prstGeom prst="ellipse">
            <a:avLst/>
          </a:prstGeom>
          <a:solidFill>
            <a:srgbClr val="D89B2B"/>
          </a:solidFill>
          <a:ln w="12700">
            <a:solidFill>
              <a:srgbClr val="D89B2B"/>
            </a:solidFill>
            <a:prstDash val="solid"/>
          </a:ln>
        </p:spPr>
      </p:sp>
      <p:sp>
        <p:nvSpPr>
          <p:cNvPr id="21" name="Text 19"/>
          <p:cNvSpPr/>
          <p:nvPr/>
        </p:nvSpPr>
        <p:spPr>
          <a:xfrm>
            <a:off x="6419088" y="3936492"/>
            <a:ext cx="310896" cy="109728"/>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6821424" y="3858768"/>
            <a:ext cx="4590288" cy="256032"/>
          </a:xfrm>
          <a:prstGeom prst="rect">
            <a:avLst/>
          </a:prstGeom>
          <a:noFill/>
          <a:ln/>
        </p:spPr>
        <p:txBody>
          <a:bodyPr wrap="square" lIns="0" tIns="0" rIns="0" bIns="0" rtlCol="0" anchor="ctr">
            <a:normAutofit/>
          </a:bodyPr>
          <a:lstStyle/>
          <a:p>
            <a:pPr marL="0" indent="0">
              <a:buNone/>
            </a:pPr>
            <a:r>
              <a:rPr lang="en-US" sz="1600" b="1" dirty="0">
                <a:solidFill>
                  <a:srgbClr val="2B1D16"/>
                </a:solidFill>
              </a:rPr>
              <a:t>Quality &amp; operations</a:t>
            </a:r>
            <a:endParaRPr lang="en-US" sz="1600" dirty="0"/>
          </a:p>
        </p:txBody>
      </p:sp>
      <p:sp>
        <p:nvSpPr>
          <p:cNvPr id="23" name="Text 21"/>
          <p:cNvSpPr/>
          <p:nvPr/>
        </p:nvSpPr>
        <p:spPr>
          <a:xfrm>
            <a:off x="6528816" y="4297680"/>
            <a:ext cx="4727448" cy="1188720"/>
          </a:xfrm>
          <a:prstGeom prst="rect">
            <a:avLst/>
          </a:prstGeom>
          <a:noFill/>
          <a:ln/>
        </p:spPr>
        <p:txBody>
          <a:bodyPr wrap="square" lIns="508" tIns="508" rIns="508" bIns="508" rtlCol="0" anchor="t">
            <a:normAutofit/>
          </a:bodyPr>
          <a:lstStyle/>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UTC occurred_at + server_received_at + business_date</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Stable store/product/campaign keys—not display names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Freshness status with warn/alert thresholds</a:t>
            </a:r>
            <a:endParaRPr lang="en-US" sz="1020" dirty="0"/>
          </a:p>
          <a:p>
            <a:pPr marL="177800" indent="-177800">
              <a:buSzPct val="100000"/>
              <a:buChar char="•"/>
            </a:pPr>
            <a:r>
              <a:rPr lang="en-US" sz="1020" dirty="0">
                <a:solidFill>
                  <a:srgbClr val="252525"/>
                </a:solidFill>
                <a:latin typeface="Calibri" pitchFamily="34" charset="0"/>
                <a:ea typeface="Calibri" pitchFamily="34" charset="-122"/>
                <a:cs typeface="Calibri" pitchFamily="34" charset="-120"/>
              </a:rPr>
              <a:t>Reconciliation counts: device pending vs server accepted/rejected</a:t>
            </a:r>
            <a:endParaRPr lang="en-US" sz="1020" dirty="0"/>
          </a:p>
        </p:txBody>
      </p:sp>
      <p:sp>
        <p:nvSpPr>
          <p:cNvPr id="24" name="Shape 22"/>
          <p:cNvSpPr/>
          <p:nvPr/>
        </p:nvSpPr>
        <p:spPr>
          <a:xfrm>
            <a:off x="1143000" y="5833872"/>
            <a:ext cx="9875520" cy="347472"/>
          </a:xfrm>
          <a:prstGeom prst="roundRect">
            <a:avLst>
              <a:gd name="adj" fmla="val 10526"/>
            </a:avLst>
          </a:prstGeom>
          <a:solidFill>
            <a:srgbClr val="FDE8E7"/>
          </a:solidFill>
          <a:ln w="12700">
            <a:solidFill>
              <a:srgbClr val="B42318"/>
            </a:solidFill>
            <a:prstDash val="solid"/>
          </a:ln>
        </p:spPr>
      </p:sp>
      <p:sp>
        <p:nvSpPr>
          <p:cNvPr id="25" name="Text 23"/>
          <p:cNvSpPr/>
          <p:nvPr/>
        </p:nvSpPr>
        <p:spPr>
          <a:xfrm>
            <a:off x="1417320" y="5934456"/>
            <a:ext cx="9326880" cy="128016"/>
          </a:xfrm>
          <a:prstGeom prst="rect">
            <a:avLst/>
          </a:prstGeom>
          <a:noFill/>
          <a:ln/>
        </p:spPr>
        <p:txBody>
          <a:bodyPr wrap="square" lIns="0" tIns="0" rIns="0" bIns="0" rtlCol="0" anchor="ctr"/>
          <a:lstStyle/>
          <a:p>
            <a:pPr marL="0" indent="0" algn="ctr">
              <a:buNone/>
            </a:pPr>
            <a:r>
              <a:rPr lang="en-US" sz="950" b="1" dirty="0">
                <a:solidFill>
                  <a:srgbClr val="B42318"/>
                </a:solidFill>
              </a:rPr>
              <a:t>Do not expose mobile SQLite files, password hashes, raw session tokens or QR secrets to DIWA datasets.</a:t>
            </a:r>
            <a:endParaRPr lang="en-US" sz="950" dirty="0"/>
          </a:p>
        </p:txBody>
      </p:sp>
      <p:sp>
        <p:nvSpPr>
          <p:cNvPr id="26" name="Text 24"/>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Sources: CLAUDE.md L100–107; ReportController access checks; SqlMetadataService sensitive/safe-field filtering.</a:t>
            </a:r>
            <a:endParaRPr lang="en-US" sz="750" dirty="0"/>
          </a:p>
        </p:txBody>
      </p:sp>
      <p:sp>
        <p:nvSpPr>
          <p:cNvPr id="27"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475488"/>
            <a:ext cx="11109960" cy="475488"/>
          </a:xfrm>
          <a:prstGeom prst="rect">
            <a:avLst/>
          </a:prstGeom>
          <a:noFill/>
          <a:ln/>
        </p:spPr>
        <p:txBody>
          <a:bodyPr wrap="square" lIns="0" tIns="0" rIns="0" bIns="0" rtlCol="0" anchor="ctr">
            <a:normAutofit/>
          </a:bodyPr>
          <a:lstStyle/>
          <a:p>
            <a:pPr marL="0" indent="0">
              <a:buNone/>
            </a:pPr>
            <a:r>
              <a:rPr lang="en-US" sz="2800" b="1" dirty="0">
                <a:solidFill>
                  <a:srgbClr val="2B1D16"/>
                </a:solidFill>
                <a:latin typeface="Cambria" pitchFamily="34" charset="0"/>
                <a:ea typeface="Cambria" pitchFamily="34" charset="-122"/>
                <a:cs typeface="Cambria" pitchFamily="34" charset="-120"/>
              </a:rPr>
              <a:t>Recommended implementation roadmap</a:t>
            </a:r>
            <a:endParaRPr lang="en-US" sz="2800" dirty="0"/>
          </a:p>
        </p:txBody>
      </p:sp>
      <p:sp>
        <p:nvSpPr>
          <p:cNvPr id="3" name="Text 1"/>
          <p:cNvSpPr/>
          <p:nvPr/>
        </p:nvSpPr>
        <p:spPr>
          <a:xfrm>
            <a:off x="521208" y="960120"/>
            <a:ext cx="11018520" cy="310896"/>
          </a:xfrm>
          <a:prstGeom prst="rect">
            <a:avLst/>
          </a:prstGeom>
          <a:noFill/>
          <a:ln/>
        </p:spPr>
        <p:txBody>
          <a:bodyPr wrap="square" lIns="0" tIns="0" rIns="0" bIns="0" rtlCol="0" anchor="ctr">
            <a:normAutofit/>
          </a:bodyPr>
          <a:lstStyle/>
          <a:p>
            <a:pPr marL="0" indent="0">
              <a:buNone/>
            </a:pPr>
            <a:r>
              <a:rPr lang="en-US" sz="1250" dirty="0">
                <a:solidFill>
                  <a:srgbClr val="6B7280"/>
                </a:solidFill>
                <a:latin typeface="Calibri" pitchFamily="34" charset="0"/>
                <a:ea typeface="Calibri" pitchFamily="34" charset="-122"/>
                <a:cs typeface="Calibri" pitchFamily="34" charset="-120"/>
              </a:rPr>
              <a:t>Deliver the smallest trustworthy central flow first, then expand reporting and economics.</a:t>
            </a:r>
            <a:endParaRPr lang="en-US" sz="1250" dirty="0"/>
          </a:p>
        </p:txBody>
      </p:sp>
      <p:sp>
        <p:nvSpPr>
          <p:cNvPr id="4" name="Shape 2"/>
          <p:cNvSpPr/>
          <p:nvPr/>
        </p:nvSpPr>
        <p:spPr>
          <a:xfrm>
            <a:off x="658368" y="1389888"/>
            <a:ext cx="1234440" cy="310896"/>
          </a:xfrm>
          <a:prstGeom prst="roundRect">
            <a:avLst>
              <a:gd name="adj" fmla="val 23529"/>
            </a:avLst>
          </a:prstGeom>
          <a:solidFill>
            <a:srgbClr val="E9F1FF"/>
          </a:solidFill>
          <a:ln w="12700">
            <a:solidFill>
              <a:srgbClr val="E9F1FF"/>
            </a:solidFill>
            <a:prstDash val="solid"/>
          </a:ln>
        </p:spPr>
      </p:sp>
      <p:sp>
        <p:nvSpPr>
          <p:cNvPr id="5" name="Text 3"/>
          <p:cNvSpPr/>
          <p:nvPr/>
        </p:nvSpPr>
        <p:spPr>
          <a:xfrm>
            <a:off x="731520" y="1453896"/>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2563EB"/>
                </a:solidFill>
              </a:rPr>
              <a:t>PHASE 1</a:t>
            </a:r>
            <a:endParaRPr lang="en-US" sz="950" dirty="0"/>
          </a:p>
        </p:txBody>
      </p:sp>
      <p:sp>
        <p:nvSpPr>
          <p:cNvPr id="6" name="Shape 4"/>
          <p:cNvSpPr/>
          <p:nvPr/>
        </p:nvSpPr>
        <p:spPr>
          <a:xfrm>
            <a:off x="658368" y="1847088"/>
            <a:ext cx="2029968" cy="3291840"/>
          </a:xfrm>
          <a:prstGeom prst="roundRect">
            <a:avLst>
              <a:gd name="adj" fmla="val 3604"/>
            </a:avLst>
          </a:prstGeom>
          <a:solidFill>
            <a:srgbClr val="E9F1FF"/>
          </a:solidFill>
          <a:ln w="13970">
            <a:solidFill>
              <a:srgbClr val="2563EB"/>
            </a:solidFill>
            <a:prstDash val="solid"/>
          </a:ln>
        </p:spPr>
      </p:sp>
      <p:sp>
        <p:nvSpPr>
          <p:cNvPr id="7" name="Text 5"/>
          <p:cNvSpPr/>
          <p:nvPr/>
        </p:nvSpPr>
        <p:spPr>
          <a:xfrm>
            <a:off x="822960" y="1984248"/>
            <a:ext cx="1719072"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Central contract</a:t>
            </a:r>
            <a:endParaRPr lang="en-US" sz="1500" dirty="0"/>
          </a:p>
        </p:txBody>
      </p:sp>
      <p:sp>
        <p:nvSpPr>
          <p:cNvPr id="8" name="Text 6"/>
          <p:cNvSpPr/>
          <p:nvPr/>
        </p:nvSpPr>
        <p:spPr>
          <a:xfrm>
            <a:off x="841248" y="2487168"/>
            <a:ext cx="1664208" cy="1874520"/>
          </a:xfrm>
          <a:prstGeom prst="rect">
            <a:avLst/>
          </a:prstGeom>
          <a:noFill/>
          <a:ln/>
        </p:spPr>
        <p:txBody>
          <a:bodyPr wrap="square" lIns="508" tIns="508" rIns="508" bIns="508" rtlCol="0" anchor="t">
            <a:normAutofit/>
          </a:bodyPr>
          <a:lstStyle/>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Define loyalty API payload and idempotency</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Create normalized central tables/views</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Add POS context IDs</a:t>
            </a:r>
            <a:endParaRPr lang="en-US" sz="970" dirty="0"/>
          </a:p>
        </p:txBody>
      </p:sp>
      <p:sp>
        <p:nvSpPr>
          <p:cNvPr id="9" name="Shape 7"/>
          <p:cNvSpPr/>
          <p:nvPr/>
        </p:nvSpPr>
        <p:spPr>
          <a:xfrm>
            <a:off x="2688336" y="3502152"/>
            <a:ext cx="237744" cy="0"/>
          </a:xfrm>
          <a:prstGeom prst="line">
            <a:avLst/>
          </a:prstGeom>
          <a:noFill/>
          <a:ln w="22860">
            <a:solidFill>
              <a:srgbClr val="2563EB"/>
            </a:solidFill>
            <a:prstDash val="solid"/>
            <a:headEnd type="none"/>
            <a:tailEnd type="triangle"/>
          </a:ln>
        </p:spPr>
      </p:sp>
      <p:sp>
        <p:nvSpPr>
          <p:cNvPr id="10" name="Shape 8"/>
          <p:cNvSpPr/>
          <p:nvPr/>
        </p:nvSpPr>
        <p:spPr>
          <a:xfrm>
            <a:off x="2944368" y="1389888"/>
            <a:ext cx="1234440" cy="310896"/>
          </a:xfrm>
          <a:prstGeom prst="roundRect">
            <a:avLst>
              <a:gd name="adj" fmla="val 23529"/>
            </a:avLst>
          </a:prstGeom>
          <a:solidFill>
            <a:srgbClr val="DDF4EF"/>
          </a:solidFill>
          <a:ln w="12700">
            <a:solidFill>
              <a:srgbClr val="DDF4EF"/>
            </a:solidFill>
            <a:prstDash val="solid"/>
          </a:ln>
        </p:spPr>
      </p:sp>
      <p:sp>
        <p:nvSpPr>
          <p:cNvPr id="11" name="Text 9"/>
          <p:cNvSpPr/>
          <p:nvPr/>
        </p:nvSpPr>
        <p:spPr>
          <a:xfrm>
            <a:off x="3017520" y="1453896"/>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0F766E"/>
                </a:solidFill>
              </a:rPr>
              <a:t>PHASE 2</a:t>
            </a:r>
            <a:endParaRPr lang="en-US" sz="950" dirty="0"/>
          </a:p>
        </p:txBody>
      </p:sp>
      <p:sp>
        <p:nvSpPr>
          <p:cNvPr id="12" name="Shape 10"/>
          <p:cNvSpPr/>
          <p:nvPr/>
        </p:nvSpPr>
        <p:spPr>
          <a:xfrm>
            <a:off x="2944368" y="1847088"/>
            <a:ext cx="2029968" cy="3291840"/>
          </a:xfrm>
          <a:prstGeom prst="roundRect">
            <a:avLst>
              <a:gd name="adj" fmla="val 3604"/>
            </a:avLst>
          </a:prstGeom>
          <a:solidFill>
            <a:srgbClr val="DDF4EF"/>
          </a:solidFill>
          <a:ln w="13970">
            <a:solidFill>
              <a:srgbClr val="0F766E"/>
            </a:solidFill>
            <a:prstDash val="solid"/>
          </a:ln>
        </p:spPr>
      </p:sp>
      <p:sp>
        <p:nvSpPr>
          <p:cNvPr id="13" name="Text 11"/>
          <p:cNvSpPr/>
          <p:nvPr/>
        </p:nvSpPr>
        <p:spPr>
          <a:xfrm>
            <a:off x="3108960" y="1984248"/>
            <a:ext cx="1719072"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Physical POS</a:t>
            </a:r>
            <a:endParaRPr lang="en-US" sz="1500" dirty="0"/>
          </a:p>
        </p:txBody>
      </p:sp>
      <p:sp>
        <p:nvSpPr>
          <p:cNvPr id="14" name="Text 12"/>
          <p:cNvSpPr/>
          <p:nvPr/>
        </p:nvSpPr>
        <p:spPr>
          <a:xfrm>
            <a:off x="3127248" y="2487168"/>
            <a:ext cx="1664208" cy="1874520"/>
          </a:xfrm>
          <a:prstGeom prst="rect">
            <a:avLst/>
          </a:prstGeom>
          <a:noFill/>
          <a:ln/>
        </p:spPr>
        <p:txBody>
          <a:bodyPr wrap="square" lIns="508" tIns="508" rIns="508" bIns="508" rtlCol="0" anchor="t">
            <a:normAutofit/>
          </a:bodyPr>
          <a:lstStyle/>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Scan 30-second member QR</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Validate real receipt and eligible item</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Return authoritative stamp result</a:t>
            </a:r>
            <a:endParaRPr lang="en-US" sz="970" dirty="0"/>
          </a:p>
        </p:txBody>
      </p:sp>
      <p:sp>
        <p:nvSpPr>
          <p:cNvPr id="15" name="Shape 13"/>
          <p:cNvSpPr/>
          <p:nvPr/>
        </p:nvSpPr>
        <p:spPr>
          <a:xfrm>
            <a:off x="4974336" y="3502152"/>
            <a:ext cx="237744" cy="0"/>
          </a:xfrm>
          <a:prstGeom prst="line">
            <a:avLst/>
          </a:prstGeom>
          <a:noFill/>
          <a:ln w="22860">
            <a:solidFill>
              <a:srgbClr val="0F766E"/>
            </a:solidFill>
            <a:prstDash val="solid"/>
            <a:headEnd type="none"/>
            <a:tailEnd type="triangle"/>
          </a:ln>
        </p:spPr>
      </p:sp>
      <p:sp>
        <p:nvSpPr>
          <p:cNvPr id="16" name="Shape 14"/>
          <p:cNvSpPr/>
          <p:nvPr/>
        </p:nvSpPr>
        <p:spPr>
          <a:xfrm>
            <a:off x="5230368" y="1389888"/>
            <a:ext cx="1234440" cy="310896"/>
          </a:xfrm>
          <a:prstGeom prst="roundRect">
            <a:avLst>
              <a:gd name="adj" fmla="val 23529"/>
            </a:avLst>
          </a:prstGeom>
          <a:solidFill>
            <a:srgbClr val="F0E9FF"/>
          </a:solidFill>
          <a:ln w="12700">
            <a:solidFill>
              <a:srgbClr val="F0E9FF"/>
            </a:solidFill>
            <a:prstDash val="solid"/>
          </a:ln>
        </p:spPr>
      </p:sp>
      <p:sp>
        <p:nvSpPr>
          <p:cNvPr id="17" name="Text 15"/>
          <p:cNvSpPr/>
          <p:nvPr/>
        </p:nvSpPr>
        <p:spPr>
          <a:xfrm>
            <a:off x="5303520" y="1453896"/>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6D28D9"/>
                </a:solidFill>
              </a:rPr>
              <a:t>PHASE 3</a:t>
            </a:r>
            <a:endParaRPr lang="en-US" sz="950" dirty="0"/>
          </a:p>
        </p:txBody>
      </p:sp>
      <p:sp>
        <p:nvSpPr>
          <p:cNvPr id="18" name="Shape 16"/>
          <p:cNvSpPr/>
          <p:nvPr/>
        </p:nvSpPr>
        <p:spPr>
          <a:xfrm>
            <a:off x="5230368" y="1847088"/>
            <a:ext cx="2029968" cy="3291840"/>
          </a:xfrm>
          <a:prstGeom prst="roundRect">
            <a:avLst>
              <a:gd name="adj" fmla="val 3604"/>
            </a:avLst>
          </a:prstGeom>
          <a:solidFill>
            <a:srgbClr val="F0E9FF"/>
          </a:solidFill>
          <a:ln w="13970">
            <a:solidFill>
              <a:srgbClr val="6D28D9"/>
            </a:solidFill>
            <a:prstDash val="solid"/>
          </a:ln>
        </p:spPr>
      </p:sp>
      <p:sp>
        <p:nvSpPr>
          <p:cNvPr id="19" name="Text 17"/>
          <p:cNvSpPr/>
          <p:nvPr/>
        </p:nvSpPr>
        <p:spPr>
          <a:xfrm>
            <a:off x="5394960" y="1984248"/>
            <a:ext cx="1719072" cy="256032"/>
          </a:xfrm>
          <a:prstGeom prst="rect">
            <a:avLst/>
          </a:prstGeom>
          <a:noFill/>
          <a:ln/>
        </p:spPr>
        <p:txBody>
          <a:bodyPr wrap="square" lIns="0" tIns="0" rIns="0" bIns="0" rtlCol="0" anchor="ctr">
            <a:normAutofit fontScale="85000" lnSpcReduction="10000"/>
          </a:bodyPr>
          <a:lstStyle/>
          <a:p>
            <a:pPr marL="0" indent="0">
              <a:buNone/>
            </a:pPr>
            <a:r>
              <a:rPr lang="en-US" sz="1500" b="1" dirty="0">
                <a:solidFill>
                  <a:srgbClr val="2B1D16"/>
                </a:solidFill>
              </a:rPr>
              <a:t>Mobile synchronization</a:t>
            </a:r>
            <a:endParaRPr lang="en-US" sz="1500" dirty="0"/>
          </a:p>
        </p:txBody>
      </p:sp>
      <p:sp>
        <p:nvSpPr>
          <p:cNvPr id="20" name="Text 18"/>
          <p:cNvSpPr/>
          <p:nvPr/>
        </p:nvSpPr>
        <p:spPr>
          <a:xfrm>
            <a:off x="5413248" y="2487168"/>
            <a:ext cx="1664208" cy="1874520"/>
          </a:xfrm>
          <a:prstGeom prst="rect">
            <a:avLst/>
          </a:prstGeom>
          <a:noFill/>
          <a:ln/>
        </p:spPr>
        <p:txBody>
          <a:bodyPr wrap="square" lIns="508" tIns="508" rIns="508" bIns="508" rtlCol="0" anchor="t">
            <a:normAutofit/>
          </a:bodyPr>
          <a:lstStyle/>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Implement pending → syncing → synced/failed</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Pull authoritative campaigns/cards/history</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Reconcile duplicates and rejected events</a:t>
            </a:r>
            <a:endParaRPr lang="en-US" sz="970" dirty="0"/>
          </a:p>
        </p:txBody>
      </p:sp>
      <p:sp>
        <p:nvSpPr>
          <p:cNvPr id="21" name="Shape 19"/>
          <p:cNvSpPr/>
          <p:nvPr/>
        </p:nvSpPr>
        <p:spPr>
          <a:xfrm>
            <a:off x="7260336" y="3502152"/>
            <a:ext cx="237744" cy="0"/>
          </a:xfrm>
          <a:prstGeom prst="line">
            <a:avLst/>
          </a:prstGeom>
          <a:noFill/>
          <a:ln w="22860">
            <a:solidFill>
              <a:srgbClr val="6D28D9"/>
            </a:solidFill>
            <a:prstDash val="solid"/>
            <a:headEnd type="none"/>
            <a:tailEnd type="triangle"/>
          </a:ln>
        </p:spPr>
      </p:sp>
      <p:sp>
        <p:nvSpPr>
          <p:cNvPr id="22" name="Shape 20"/>
          <p:cNvSpPr/>
          <p:nvPr/>
        </p:nvSpPr>
        <p:spPr>
          <a:xfrm>
            <a:off x="7516368" y="1389888"/>
            <a:ext cx="1234440" cy="310896"/>
          </a:xfrm>
          <a:prstGeom prst="roundRect">
            <a:avLst>
              <a:gd name="adj" fmla="val 23529"/>
            </a:avLst>
          </a:prstGeom>
          <a:solidFill>
            <a:srgbClr val="FFF8EF"/>
          </a:solidFill>
          <a:ln w="12700">
            <a:solidFill>
              <a:srgbClr val="FFF8EF"/>
            </a:solidFill>
            <a:prstDash val="solid"/>
          </a:ln>
        </p:spPr>
      </p:sp>
      <p:sp>
        <p:nvSpPr>
          <p:cNvPr id="23" name="Text 21"/>
          <p:cNvSpPr/>
          <p:nvPr/>
        </p:nvSpPr>
        <p:spPr>
          <a:xfrm>
            <a:off x="7589520" y="1453896"/>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D89B2B"/>
                </a:solidFill>
              </a:rPr>
              <a:t>PHASE 4</a:t>
            </a:r>
            <a:endParaRPr lang="en-US" sz="950" dirty="0"/>
          </a:p>
        </p:txBody>
      </p:sp>
      <p:sp>
        <p:nvSpPr>
          <p:cNvPr id="24" name="Shape 22"/>
          <p:cNvSpPr/>
          <p:nvPr/>
        </p:nvSpPr>
        <p:spPr>
          <a:xfrm>
            <a:off x="7516368" y="1847088"/>
            <a:ext cx="2029968" cy="3291840"/>
          </a:xfrm>
          <a:prstGeom prst="roundRect">
            <a:avLst>
              <a:gd name="adj" fmla="val 3604"/>
            </a:avLst>
          </a:prstGeom>
          <a:solidFill>
            <a:srgbClr val="FFF8EF"/>
          </a:solidFill>
          <a:ln w="13970">
            <a:solidFill>
              <a:srgbClr val="D89B2B"/>
            </a:solidFill>
            <a:prstDash val="solid"/>
          </a:ln>
        </p:spPr>
      </p:sp>
      <p:sp>
        <p:nvSpPr>
          <p:cNvPr id="25" name="Text 23"/>
          <p:cNvSpPr/>
          <p:nvPr/>
        </p:nvSpPr>
        <p:spPr>
          <a:xfrm>
            <a:off x="7680960" y="1984248"/>
            <a:ext cx="1719072"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DIWA reporting</a:t>
            </a:r>
            <a:endParaRPr lang="en-US" sz="1500" dirty="0"/>
          </a:p>
        </p:txBody>
      </p:sp>
      <p:sp>
        <p:nvSpPr>
          <p:cNvPr id="26" name="Text 24"/>
          <p:cNvSpPr/>
          <p:nvPr/>
        </p:nvSpPr>
        <p:spPr>
          <a:xfrm>
            <a:off x="7699248" y="2487168"/>
            <a:ext cx="1664208" cy="1874520"/>
          </a:xfrm>
          <a:prstGeom prst="rect">
            <a:avLst/>
          </a:prstGeom>
          <a:noFill/>
          <a:ln/>
        </p:spPr>
        <p:txBody>
          <a:bodyPr wrap="square" lIns="508" tIns="508" rIns="508" bIns="508" rtlCol="0" anchor="t">
            <a:normAutofit/>
          </a:bodyPr>
          <a:lstStyle/>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Allowlist loyalty views/tables</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Create governed loyalty dataset</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Build campaign, funnel, store and member reports</a:t>
            </a:r>
            <a:endParaRPr lang="en-US" sz="970" dirty="0"/>
          </a:p>
        </p:txBody>
      </p:sp>
      <p:sp>
        <p:nvSpPr>
          <p:cNvPr id="27" name="Shape 25"/>
          <p:cNvSpPr/>
          <p:nvPr/>
        </p:nvSpPr>
        <p:spPr>
          <a:xfrm>
            <a:off x="9546336" y="3502152"/>
            <a:ext cx="237744" cy="0"/>
          </a:xfrm>
          <a:prstGeom prst="line">
            <a:avLst/>
          </a:prstGeom>
          <a:noFill/>
          <a:ln w="22860">
            <a:solidFill>
              <a:srgbClr val="D89B2B"/>
            </a:solidFill>
            <a:prstDash val="solid"/>
            <a:headEnd type="none"/>
            <a:tailEnd type="triangle"/>
          </a:ln>
        </p:spPr>
      </p:sp>
      <p:sp>
        <p:nvSpPr>
          <p:cNvPr id="28" name="Shape 26"/>
          <p:cNvSpPr/>
          <p:nvPr/>
        </p:nvSpPr>
        <p:spPr>
          <a:xfrm>
            <a:off x="9802368" y="1389888"/>
            <a:ext cx="1234440" cy="310896"/>
          </a:xfrm>
          <a:prstGeom prst="roundRect">
            <a:avLst>
              <a:gd name="adj" fmla="val 23529"/>
            </a:avLst>
          </a:prstGeom>
          <a:solidFill>
            <a:srgbClr val="FDE8E7"/>
          </a:solidFill>
          <a:ln w="12700">
            <a:solidFill>
              <a:srgbClr val="FDE8E7"/>
            </a:solidFill>
            <a:prstDash val="solid"/>
          </a:ln>
        </p:spPr>
      </p:sp>
      <p:sp>
        <p:nvSpPr>
          <p:cNvPr id="29" name="Text 27"/>
          <p:cNvSpPr/>
          <p:nvPr/>
        </p:nvSpPr>
        <p:spPr>
          <a:xfrm>
            <a:off x="9875520" y="1453896"/>
            <a:ext cx="1088136" cy="146304"/>
          </a:xfrm>
          <a:prstGeom prst="rect">
            <a:avLst/>
          </a:prstGeom>
          <a:noFill/>
          <a:ln/>
        </p:spPr>
        <p:txBody>
          <a:bodyPr wrap="square" lIns="0" tIns="0" rIns="0" bIns="0" rtlCol="0" anchor="ctr">
            <a:normAutofit/>
          </a:bodyPr>
          <a:lstStyle/>
          <a:p>
            <a:pPr marL="0" indent="0" algn="ctr">
              <a:buNone/>
            </a:pPr>
            <a:r>
              <a:rPr lang="en-US" sz="950" b="1" dirty="0">
                <a:solidFill>
                  <a:srgbClr val="B42318"/>
                </a:solidFill>
              </a:rPr>
              <a:t>PHASE 5</a:t>
            </a:r>
            <a:endParaRPr lang="en-US" sz="950" dirty="0"/>
          </a:p>
        </p:txBody>
      </p:sp>
      <p:sp>
        <p:nvSpPr>
          <p:cNvPr id="30" name="Shape 28"/>
          <p:cNvSpPr/>
          <p:nvPr/>
        </p:nvSpPr>
        <p:spPr>
          <a:xfrm>
            <a:off x="9802368" y="1847088"/>
            <a:ext cx="2029968" cy="3291840"/>
          </a:xfrm>
          <a:prstGeom prst="roundRect">
            <a:avLst>
              <a:gd name="adj" fmla="val 3604"/>
            </a:avLst>
          </a:prstGeom>
          <a:solidFill>
            <a:srgbClr val="FDE8E7"/>
          </a:solidFill>
          <a:ln w="13970">
            <a:solidFill>
              <a:srgbClr val="B42318"/>
            </a:solidFill>
            <a:prstDash val="solid"/>
          </a:ln>
        </p:spPr>
      </p:sp>
      <p:sp>
        <p:nvSpPr>
          <p:cNvPr id="31" name="Text 29"/>
          <p:cNvSpPr/>
          <p:nvPr/>
        </p:nvSpPr>
        <p:spPr>
          <a:xfrm>
            <a:off x="9966960" y="1984248"/>
            <a:ext cx="1719072" cy="256032"/>
          </a:xfrm>
          <a:prstGeom prst="rect">
            <a:avLst/>
          </a:prstGeom>
          <a:noFill/>
          <a:ln/>
        </p:spPr>
        <p:txBody>
          <a:bodyPr wrap="square" lIns="0" tIns="0" rIns="0" bIns="0" rtlCol="0" anchor="ctr">
            <a:normAutofit/>
          </a:bodyPr>
          <a:lstStyle/>
          <a:p>
            <a:pPr marL="0" indent="0">
              <a:buNone/>
            </a:pPr>
            <a:r>
              <a:rPr lang="en-US" sz="1500" b="1" dirty="0">
                <a:solidFill>
                  <a:srgbClr val="2B1D16"/>
                </a:solidFill>
              </a:rPr>
              <a:t>Optimization</a:t>
            </a:r>
            <a:endParaRPr lang="en-US" sz="1500" dirty="0"/>
          </a:p>
        </p:txBody>
      </p:sp>
      <p:sp>
        <p:nvSpPr>
          <p:cNvPr id="32" name="Text 30"/>
          <p:cNvSpPr/>
          <p:nvPr/>
        </p:nvSpPr>
        <p:spPr>
          <a:xfrm>
            <a:off x="9985248" y="2487168"/>
            <a:ext cx="1664208" cy="1874520"/>
          </a:xfrm>
          <a:prstGeom prst="rect">
            <a:avLst/>
          </a:prstGeom>
          <a:noFill/>
          <a:ln/>
        </p:spPr>
        <p:txBody>
          <a:bodyPr wrap="square" lIns="508" tIns="508" rIns="508" bIns="508" rtlCol="0" anchor="t">
            <a:normAutofit/>
          </a:bodyPr>
          <a:lstStyle/>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Add reward cost and campaign attribution</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Fraud/velocity/rejection monitoring</a:t>
            </a:r>
            <a:endParaRPr lang="en-US" sz="970" dirty="0"/>
          </a:p>
          <a:p>
            <a:pPr marL="177800" indent="-177800">
              <a:buSzPct val="100000"/>
              <a:buChar char="•"/>
            </a:pPr>
            <a:r>
              <a:rPr lang="en-US" sz="970" dirty="0">
                <a:solidFill>
                  <a:srgbClr val="252525"/>
                </a:solidFill>
                <a:latin typeface="Calibri" pitchFamily="34" charset="0"/>
                <a:ea typeface="Calibri" pitchFamily="34" charset="-122"/>
                <a:cs typeface="Calibri" pitchFamily="34" charset="-120"/>
              </a:rPr>
              <a:t>Retention, ROI and incremental lift analysis</a:t>
            </a:r>
            <a:endParaRPr lang="en-US" sz="970" dirty="0"/>
          </a:p>
        </p:txBody>
      </p:sp>
      <p:sp>
        <p:nvSpPr>
          <p:cNvPr id="33" name="Shape 31"/>
          <p:cNvSpPr/>
          <p:nvPr/>
        </p:nvSpPr>
        <p:spPr>
          <a:xfrm>
            <a:off x="868680" y="5596128"/>
            <a:ext cx="10469880" cy="621792"/>
          </a:xfrm>
          <a:prstGeom prst="roundRect">
            <a:avLst>
              <a:gd name="adj" fmla="val 8824"/>
            </a:avLst>
          </a:prstGeom>
          <a:solidFill>
            <a:srgbClr val="2B1D16"/>
          </a:solidFill>
          <a:ln w="12700">
            <a:solidFill>
              <a:srgbClr val="2B1D16"/>
            </a:solidFill>
            <a:prstDash val="solid"/>
          </a:ln>
          <a:effectLst>
            <a:outerShdw blurRad="25400" dist="50800" dir="2700000" algn="bl" rotWithShape="0">
              <a:srgbClr val="000000">
                <a:alpha val="12000"/>
              </a:srgbClr>
            </a:outerShdw>
          </a:effectLst>
        </p:spPr>
      </p:sp>
      <p:sp>
        <p:nvSpPr>
          <p:cNvPr id="34" name="Text 32"/>
          <p:cNvSpPr/>
          <p:nvPr/>
        </p:nvSpPr>
        <p:spPr>
          <a:xfrm>
            <a:off x="1188720" y="5788152"/>
            <a:ext cx="9829800" cy="21945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rPr>
              <a:t>Definition of done: the same approved POS event produces one central ledger fact, one correct member balance, and one reproducible DIWA result.</a:t>
            </a:r>
            <a:endParaRPr lang="en-US" sz="1200" dirty="0"/>
          </a:p>
        </p:txBody>
      </p:sp>
      <p:sp>
        <p:nvSpPr>
          <p:cNvPr id="35" name="Text 33"/>
          <p:cNvSpPr/>
          <p:nvPr/>
        </p:nvSpPr>
        <p:spPr>
          <a:xfrm>
            <a:off x="530352" y="6455664"/>
            <a:ext cx="6629400" cy="182880"/>
          </a:xfrm>
          <a:prstGeom prst="rect">
            <a:avLst/>
          </a:prstGeom>
          <a:noFill/>
          <a:ln/>
        </p:spPr>
        <p:txBody>
          <a:bodyPr wrap="square" lIns="0" tIns="0" rIns="0" bIns="0" rtlCol="0" anchor="ctr">
            <a:normAutofit/>
          </a:bodyPr>
          <a:lstStyle/>
          <a:p>
            <a:pPr marL="0" indent="0">
              <a:buNone/>
            </a:pPr>
            <a:r>
              <a:rPr lang="en-US" sz="750" dirty="0">
                <a:solidFill>
                  <a:srgbClr val="8A8A8A"/>
                </a:solidFill>
                <a:latin typeface="Calibri" pitchFamily="34" charset="0"/>
                <a:ea typeface="Calibri" pitchFamily="34" charset="-122"/>
                <a:cs typeface="Calibri" pitchFamily="34" charset="-120"/>
              </a:rPr>
              <a:t>Roadmap synthesized from current implementation gaps and DIWA capabilities documented in the inspected source code.</a:t>
            </a:r>
            <a:endParaRPr lang="en-US" sz="750" dirty="0"/>
          </a:p>
        </p:txBody>
      </p:sp>
      <p:sp>
        <p:nvSpPr>
          <p:cNvPr id="36" name="Slide Number Placeholder 0"/>
          <p:cNvSpPr>
            <a:spLocks noGrp="1"/>
          </p:cNvSpPr>
          <p:nvPr>
            <p:ph type="sldNum" sz="quarter" idx="4294967295"/>
          </p:nvPr>
        </p:nvSpPr>
        <p:spPr>
          <a:xfrm>
            <a:off x="11658600" y="6492240"/>
            <a:ext cx="228600"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8A8A8A"/>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3686</Words>
  <Application>Microsoft Office PowerPoint</Application>
  <PresentationFormat>Widescreen</PresentationFormat>
  <Paragraphs>509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Loyalty Campaign Process &amp; DIWA Reporting Architecture</dc:title>
  <dc:subject>Loyalty campaign application process, POS integration, storage, and DIWA reporting</dc:subject>
  <dc:creator>Hermes Agent</dc:creator>
  <cp:lastModifiedBy>Gen Magbanua</cp:lastModifiedBy>
  <cp:revision>4</cp:revision>
  <dcterms:created xsi:type="dcterms:W3CDTF">2026-08-20T08:20:53Z</dcterms:created>
  <dcterms:modified xsi:type="dcterms:W3CDTF">2026-08-20T08:52:36Z</dcterms:modified>
</cp:coreProperties>
</file>